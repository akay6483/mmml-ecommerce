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6" r:id="rId1"/>
  </p:sldMasterIdLst>
  <p:sldIdLst>
    <p:sldId id="256" r:id="rId2"/>
    <p:sldId id="268" r:id="rId3"/>
    <p:sldId id="258" r:id="rId4"/>
    <p:sldId id="259" r:id="rId5"/>
    <p:sldId id="260" r:id="rId6"/>
    <p:sldId id="280" r:id="rId7"/>
    <p:sldId id="270" r:id="rId8"/>
    <p:sldId id="273" r:id="rId9"/>
    <p:sldId id="284" r:id="rId10"/>
    <p:sldId id="285" r:id="rId11"/>
    <p:sldId id="271" r:id="rId12"/>
    <p:sldId id="274" r:id="rId13"/>
    <p:sldId id="283" r:id="rId14"/>
    <p:sldId id="282" r:id="rId15"/>
    <p:sldId id="272" r:id="rId16"/>
    <p:sldId id="275" r:id="rId17"/>
    <p:sldId id="277" r:id="rId18"/>
    <p:sldId id="279" r:id="rId19"/>
    <p:sldId id="262"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0878" autoAdjust="0"/>
    <p:restoredTop sz="94660"/>
  </p:normalViewPr>
  <p:slideViewPr>
    <p:cSldViewPr snapToGrid="0">
      <p:cViewPr>
        <p:scale>
          <a:sx n="66" d="100"/>
          <a:sy n="66" d="100"/>
        </p:scale>
        <p:origin x="600" y="37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28-11-2025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36009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28-11-2025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3887304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2EF3F80-4C52-46D4-9D36-C6F3EED98E5F}" type="datetimeFigureOut">
              <a:rPr lang="en-IN" smtClean="0"/>
              <a:t>28-11-2025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834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2EF3F80-4C52-46D4-9D36-C6F3EED98E5F}" type="datetimeFigureOut">
              <a:rPr lang="en-IN" smtClean="0"/>
              <a:t>28-11-2025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167281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2EF3F80-4C52-46D4-9D36-C6F3EED98E5F}" type="datetimeFigureOut">
              <a:rPr lang="en-IN" smtClean="0"/>
              <a:t>28-11-2025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4576994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2EF3F80-4C52-46D4-9D36-C6F3EED98E5F}" type="datetimeFigureOut">
              <a:rPr lang="en-IN" smtClean="0"/>
              <a:t>28-11-2025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0591103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C2EF3F80-4C52-46D4-9D36-C6F3EED98E5F}" type="datetimeFigureOut">
              <a:rPr lang="en-IN" smtClean="0"/>
              <a:t>28-11-2025</a:t>
            </a:fld>
            <a:endParaRPr lang="en-IN"/>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760197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C2EF3F80-4C52-46D4-9D36-C6F3EED98E5F}" type="datetimeFigureOut">
              <a:rPr lang="en-IN" smtClean="0"/>
              <a:t>28-11-2025</a:t>
            </a:fld>
            <a:endParaRPr lang="en-IN"/>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IN"/>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C073E4A-4E84-4D73-A121-FB603FCC7256}" type="slidenum">
              <a:rPr lang="en-IN" smtClean="0"/>
              <a:t>‹#›</a:t>
            </a:fld>
            <a:endParaRPr lang="en-IN"/>
          </a:p>
        </p:txBody>
      </p:sp>
    </p:spTree>
    <p:extLst>
      <p:ext uri="{BB962C8B-B14F-4D97-AF65-F5344CB8AC3E}">
        <p14:creationId xmlns:p14="http://schemas.microsoft.com/office/powerpoint/2010/main" val="19697727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2EF3F80-4C52-46D4-9D36-C6F3EED98E5F}" type="datetimeFigureOut">
              <a:rPr lang="en-IN" smtClean="0"/>
              <a:t>28-11-2025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09936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28-11-2025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67221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28-11-2025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40671493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Footer Placeholder 4">
            <a:extLst>
              <a:ext uri="{FF2B5EF4-FFF2-40B4-BE49-F238E27FC236}">
                <a16:creationId xmlns:a16="http://schemas.microsoft.com/office/drawing/2014/main" id="{0641F247-70E4-39E9-5AFE-A6730F3DA771}"/>
              </a:ext>
            </a:extLst>
          </p:cNvPr>
          <p:cNvSpPr txBox="1">
            <a:spLocks noGrp="1"/>
          </p:cNvSpPr>
          <p:nvPr>
            <p:ph type="ftr" sz="quarter" idx="9"/>
          </p:nvPr>
        </p:nvSpPr>
        <p:spPr/>
        <p:txBody>
          <a:bodyPr/>
          <a:lstStyle>
            <a:lvl1pPr>
              <a:defRPr/>
            </a:lvl1pPr>
          </a:lstStyle>
          <a:p>
            <a:pPr lvl="0"/>
            <a:endParaRPr lang="en-IN"/>
          </a:p>
        </p:txBody>
      </p:sp>
      <p:sp>
        <p:nvSpPr>
          <p:cNvPr id="3" name="Slide Number Placeholder 5">
            <a:extLst>
              <a:ext uri="{FF2B5EF4-FFF2-40B4-BE49-F238E27FC236}">
                <a16:creationId xmlns:a16="http://schemas.microsoft.com/office/drawing/2014/main" id="{CC1D4D45-49DC-6DB8-5CFF-39F73929E7F8}"/>
              </a:ext>
            </a:extLst>
          </p:cNvPr>
          <p:cNvSpPr txBox="1">
            <a:spLocks noGrp="1"/>
          </p:cNvSpPr>
          <p:nvPr>
            <p:ph type="sldNum" sz="quarter" idx="8"/>
          </p:nvPr>
        </p:nvSpPr>
        <p:spPr/>
        <p:txBody>
          <a:bodyPr/>
          <a:lstStyle>
            <a:lvl1pPr>
              <a:defRPr/>
            </a:lvl1pPr>
          </a:lstStyle>
          <a:p>
            <a:pPr lvl="0"/>
            <a:fld id="{4C7D95CC-B920-43AE-9066-D72F11861247}" type="slidenum">
              <a:t>‹#›</a:t>
            </a:fld>
            <a:endParaRPr lang="en-IN"/>
          </a:p>
        </p:txBody>
      </p:sp>
    </p:spTree>
    <p:extLst>
      <p:ext uri="{BB962C8B-B14F-4D97-AF65-F5344CB8AC3E}">
        <p14:creationId xmlns:p14="http://schemas.microsoft.com/office/powerpoint/2010/main" val="1577180418"/>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alphaModFix amt="16000"/>
            <a:lum/>
          </a:blip>
          <a:srcRect/>
          <a:stretch>
            <a:fillRect t="-4000" b="-4000"/>
          </a:stretch>
        </a:blipFill>
        <a:effectLst/>
      </p:bgPr>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C2EF3F80-4C52-46D4-9D36-C6F3EED98E5F}" type="datetimeFigureOut">
              <a:rPr lang="en-IN" smtClean="0"/>
              <a:t>28-11-2025</a:t>
            </a:fld>
            <a:endParaRPr lang="en-IN"/>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IN"/>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C073E4A-4E84-4D73-A121-FB603FCC7256}" type="slidenum">
              <a:rPr lang="en-IN" smtClean="0"/>
              <a:t>‹#›</a:t>
            </a:fld>
            <a:endParaRPr lang="en-IN"/>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7484424"/>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 id="2147483738" r:id="rId12"/>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2.xml"/><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66E56-5274-4F29-AF29-EFE0710BD547}"/>
              </a:ext>
            </a:extLst>
          </p:cNvPr>
          <p:cNvSpPr>
            <a:spLocks noGrp="1"/>
          </p:cNvSpPr>
          <p:nvPr>
            <p:ph type="ctrTitle"/>
          </p:nvPr>
        </p:nvSpPr>
        <p:spPr>
          <a:xfrm>
            <a:off x="1097280" y="2169367"/>
            <a:ext cx="10058400" cy="1259633"/>
          </a:xfrm>
        </p:spPr>
        <p:txBody>
          <a:bodyPr>
            <a:normAutofit fontScale="90000"/>
          </a:bodyPr>
          <a:lstStyle/>
          <a:p>
            <a:pPr algn="ctr"/>
            <a:r>
              <a:rPr lang="en-US" sz="4900" b="1" dirty="0"/>
              <a:t>E-commerce and retail analytics using machine learning techniques</a:t>
            </a:r>
            <a:br>
              <a:rPr lang="en-IN" b="1" dirty="0"/>
            </a:br>
            <a:br>
              <a:rPr lang="en-IN" sz="5400" dirty="0">
                <a:solidFill>
                  <a:srgbClr val="C00000"/>
                </a:solidFill>
                <a:latin typeface="Bahnschrift" panose="020B0502040204020203" pitchFamily="34" charset="0"/>
              </a:rPr>
            </a:br>
            <a:r>
              <a:rPr lang="en-IN" sz="5400" dirty="0">
                <a:solidFill>
                  <a:srgbClr val="C00000"/>
                </a:solidFill>
                <a:latin typeface="Bahnschrift" panose="020B0502040204020203" pitchFamily="34" charset="0"/>
              </a:rPr>
              <a:t>A8</a:t>
            </a:r>
          </a:p>
        </p:txBody>
      </p:sp>
      <p:sp>
        <p:nvSpPr>
          <p:cNvPr id="3" name="Subtitle 2">
            <a:extLst>
              <a:ext uri="{FF2B5EF4-FFF2-40B4-BE49-F238E27FC236}">
                <a16:creationId xmlns:a16="http://schemas.microsoft.com/office/drawing/2014/main" id="{F97E151A-6B9D-4D6D-86D9-0B3E9529BC66}"/>
              </a:ext>
            </a:extLst>
          </p:cNvPr>
          <p:cNvSpPr>
            <a:spLocks noGrp="1"/>
          </p:cNvSpPr>
          <p:nvPr>
            <p:ph type="subTitle" idx="1"/>
          </p:nvPr>
        </p:nvSpPr>
        <p:spPr>
          <a:xfrm>
            <a:off x="1100051" y="4455620"/>
            <a:ext cx="10582612" cy="1776738"/>
          </a:xfrm>
        </p:spPr>
        <p:txBody>
          <a:bodyPr>
            <a:normAutofit fontScale="92500" lnSpcReduction="10000"/>
          </a:bodyPr>
          <a:lstStyle/>
          <a:p>
            <a:pPr algn="r"/>
            <a:r>
              <a:rPr lang="en-IN" b="1" dirty="0"/>
              <a:t> Akshay s - AM.SC.U4CSE23009</a:t>
            </a:r>
          </a:p>
          <a:p>
            <a:pPr algn="r"/>
            <a:r>
              <a:rPr lang="en-IN" b="1" dirty="0"/>
              <a:t> Goutham Krishna - Am.sc.u4cse23031</a:t>
            </a:r>
          </a:p>
          <a:p>
            <a:pPr algn="r"/>
            <a:r>
              <a:rPr lang="en-IN" b="1" dirty="0"/>
              <a:t>Pranav s - Am.sc.u4cse23067</a:t>
            </a:r>
          </a:p>
          <a:p>
            <a:pPr algn="r"/>
            <a:r>
              <a:rPr lang="en-IN" b="1" dirty="0"/>
              <a:t> Rahul </a:t>
            </a:r>
            <a:r>
              <a:rPr lang="en-IN" b="1" dirty="0" err="1"/>
              <a:t>rajan</a:t>
            </a:r>
            <a:r>
              <a:rPr lang="en-IN" b="1" dirty="0"/>
              <a:t> Sebastian - Am.sc.u4cse23069</a:t>
            </a:r>
          </a:p>
          <a:p>
            <a:pPr algn="r"/>
            <a:endParaRPr lang="en-IN" b="1" dirty="0"/>
          </a:p>
        </p:txBody>
      </p:sp>
    </p:spTree>
    <p:extLst>
      <p:ext uri="{BB962C8B-B14F-4D97-AF65-F5344CB8AC3E}">
        <p14:creationId xmlns:p14="http://schemas.microsoft.com/office/powerpoint/2010/main" val="7101573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387327"/>
            <a:ext cx="7384983" cy="748454"/>
          </a:xfrm>
        </p:spPr>
        <p:txBody>
          <a:bodyPr>
            <a:normAutofit/>
          </a:bodyPr>
          <a:lstStyle/>
          <a:p>
            <a:r>
              <a:rPr dirty="0"/>
              <a:t>1. Introduction</a:t>
            </a:r>
          </a:p>
        </p:txBody>
      </p:sp>
      <p:sp>
        <p:nvSpPr>
          <p:cNvPr id="3" name="Content Placeholder 2"/>
          <p:cNvSpPr>
            <a:spLocks noGrp="1"/>
          </p:cNvSpPr>
          <p:nvPr>
            <p:ph idx="1"/>
          </p:nvPr>
        </p:nvSpPr>
        <p:spPr>
          <a:xfrm>
            <a:off x="1097279" y="1840832"/>
            <a:ext cx="10200374" cy="4283242"/>
          </a:xfrm>
        </p:spPr>
        <p:txBody>
          <a:bodyPr>
            <a:normAutofit fontScale="92500" lnSpcReduction="10000"/>
          </a:bodyPr>
          <a:lstStyle/>
          <a:p>
            <a:pPr>
              <a:buFont typeface="Wingdings" panose="05000000000000000000" pitchFamily="2" charset="2"/>
              <a:buChar char="Ø"/>
            </a:pPr>
            <a:r>
              <a:rPr lang="en-US" dirty="0"/>
              <a:t>Problem Statement: Businesses struggle to utilize complex e-commerce data for decision-making; this project solves this by evaluating machine learning techniques. The challenge is to predict customer behavior (like churn and spending), segment customers effectively, and identify key drivers of engagement using diverse datasets.</a:t>
            </a:r>
          </a:p>
          <a:p>
            <a:pPr>
              <a:buFont typeface="Wingdings" panose="05000000000000000000" pitchFamily="2" charset="2"/>
              <a:buChar char="Ø"/>
            </a:pPr>
            <a:endParaRPr lang="en-US" dirty="0"/>
          </a:p>
          <a:p>
            <a:pPr>
              <a:buFont typeface="Wingdings" panose="05000000000000000000" pitchFamily="2" charset="2"/>
              <a:buChar char="Ø"/>
            </a:pPr>
            <a:r>
              <a:rPr lang="en-US" dirty="0"/>
              <a:t>Motivation : In the competitive retail landscape, gaining a deep understanding of customer patterns through advanced analytics is crucial for enabling businesses to improve retention strategies and drive sustainable revenue growth.</a:t>
            </a:r>
          </a:p>
          <a:p>
            <a:pPr>
              <a:buFont typeface="Wingdings" panose="05000000000000000000" pitchFamily="2" charset="2"/>
              <a:buChar char="Ø"/>
            </a:pPr>
            <a:endParaRPr lang="en-US" dirty="0"/>
          </a:p>
          <a:p>
            <a:pPr>
              <a:buFont typeface="Wingdings" panose="05000000000000000000" pitchFamily="2" charset="2"/>
              <a:buChar char="Ø"/>
            </a:pPr>
            <a:r>
              <a:rPr lang="en-US" dirty="0"/>
              <a:t>Objective : Our core objective is to implement and rigorously evaluate a range of machine learning algorithms across four different e-commerce datasets, to compare and contrast results.</a:t>
            </a:r>
          </a:p>
          <a:p>
            <a:pPr>
              <a:buFont typeface="Wingdings" panose="05000000000000000000" pitchFamily="2" charset="2"/>
              <a:buChar char="Ø"/>
            </a:pPr>
            <a:endParaRPr lang="en-US" dirty="0"/>
          </a:p>
          <a:p>
            <a:pPr>
              <a:buFont typeface="Wingdings" panose="05000000000000000000" pitchFamily="2" charset="2"/>
              <a:buChar char="Ø"/>
            </a:pPr>
            <a:r>
              <a:rPr dirty="0"/>
              <a:t>Type of ML task </a:t>
            </a:r>
            <a:r>
              <a:rPr lang="en-US" dirty="0"/>
              <a:t>: Covers Classification, Regression, Clustering, and Dimensionality reduction.</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2. Dataset 1 – </a:t>
            </a:r>
            <a:r>
              <a:rPr lang="en-IN" dirty="0"/>
              <a:t>Description</a:t>
            </a:r>
            <a:endParaRPr dirty="0"/>
          </a:p>
        </p:txBody>
      </p:sp>
      <p:sp>
        <p:nvSpPr>
          <p:cNvPr id="3" name="Content Placeholder 2"/>
          <p:cNvSpPr>
            <a:spLocks noGrp="1"/>
          </p:cNvSpPr>
          <p:nvPr>
            <p:ph idx="1"/>
          </p:nvPr>
        </p:nvSpPr>
        <p:spPr/>
        <p:txBody>
          <a:bodyPr/>
          <a:lstStyle/>
          <a:p>
            <a:r>
              <a:rPr dirty="0"/>
              <a:t>Source </a:t>
            </a:r>
            <a:r>
              <a:rPr lang="en-US" dirty="0"/>
              <a:t>: Kaggle (https://www.kaggle.com/datasets/uom190346a/e-commerce-customer-behavior-dataset)</a:t>
            </a:r>
            <a:endParaRPr dirty="0"/>
          </a:p>
          <a:p>
            <a:r>
              <a:rPr lang="en-US" dirty="0"/>
              <a:t>Number of (samples : </a:t>
            </a:r>
            <a:r>
              <a:rPr lang="en-IN" dirty="0"/>
              <a:t>3941, features : 11 )</a:t>
            </a:r>
            <a:endParaRPr dirty="0"/>
          </a:p>
          <a:p>
            <a:r>
              <a:rPr dirty="0"/>
              <a:t>Feature descriptions</a:t>
            </a:r>
            <a:r>
              <a:rPr lang="en-US" dirty="0"/>
              <a:t> : An individual customer profile, detailing their account history, satisfaction metrics, and whether they have discontinued the service.</a:t>
            </a:r>
            <a:endParaRPr dirty="0"/>
          </a:p>
          <a:p>
            <a:r>
              <a:rPr dirty="0"/>
              <a:t>Preprocessing steps </a:t>
            </a:r>
            <a:r>
              <a:rPr lang="en-US" dirty="0"/>
              <a:t>: numerical {imputation-median, standard scaler}; categorical {imputation-most frequent, one hot encoding}</a:t>
            </a:r>
            <a:endParaRPr dirty="0"/>
          </a:p>
          <a:p>
            <a:r>
              <a:rPr dirty="0"/>
              <a:t>Train–test split details</a:t>
            </a:r>
            <a:r>
              <a:rPr lang="en-US" dirty="0"/>
              <a:t> : 80:20 train test split, random state 42</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3. Models Used for Dataset 1</a:t>
            </a:r>
          </a:p>
        </p:txBody>
      </p:sp>
      <p:sp>
        <p:nvSpPr>
          <p:cNvPr id="3" name="Content Placeholder 2"/>
          <p:cNvSpPr>
            <a:spLocks noGrp="1"/>
          </p:cNvSpPr>
          <p:nvPr>
            <p:ph idx="1"/>
          </p:nvPr>
        </p:nvSpPr>
        <p:spPr>
          <a:xfrm>
            <a:off x="5404585" y="1985211"/>
            <a:ext cx="6145731" cy="2062871"/>
          </a:xfrm>
        </p:spPr>
        <p:txBody>
          <a:bodyPr>
            <a:normAutofit fontScale="92500" lnSpcReduction="10000"/>
          </a:bodyPr>
          <a:lstStyle/>
          <a:p>
            <a:r>
              <a:rPr lang="en-US" b="1" dirty="0"/>
              <a:t>Reason for Choosing Each Model</a:t>
            </a:r>
          </a:p>
          <a:p>
            <a:r>
              <a:rPr lang="en-US" dirty="0"/>
              <a:t>KNN: Selected as a simple, non-parametric baseline model.</a:t>
            </a:r>
          </a:p>
          <a:p>
            <a:r>
              <a:rPr lang="en-US" dirty="0"/>
              <a:t>Logistic Regression: Chosen as a robust linear baseline that offers interpretable coefficients.</a:t>
            </a:r>
          </a:p>
          <a:p>
            <a:r>
              <a:rPr lang="en-US" dirty="0"/>
              <a:t>Naive Bayes: Used as a probabilistic baseline effectively assuming feature independence.</a:t>
            </a:r>
            <a:endParaRPr dirty="0"/>
          </a:p>
        </p:txBody>
      </p:sp>
      <p:sp>
        <p:nvSpPr>
          <p:cNvPr id="5" name="TextBox 4">
            <a:extLst>
              <a:ext uri="{FF2B5EF4-FFF2-40B4-BE49-F238E27FC236}">
                <a16:creationId xmlns:a16="http://schemas.microsoft.com/office/drawing/2014/main" id="{3ABF4C2E-3741-E985-138F-1EA9434312E3}"/>
              </a:ext>
            </a:extLst>
          </p:cNvPr>
          <p:cNvSpPr txBox="1"/>
          <p:nvPr/>
        </p:nvSpPr>
        <p:spPr>
          <a:xfrm>
            <a:off x="940067" y="1985211"/>
            <a:ext cx="4365859" cy="1200329"/>
          </a:xfrm>
          <a:prstGeom prst="rect">
            <a:avLst/>
          </a:prstGeom>
          <a:noFill/>
        </p:spPr>
        <p:txBody>
          <a:bodyPr wrap="square">
            <a:spAutoFit/>
          </a:bodyPr>
          <a:lstStyle/>
          <a:p>
            <a:r>
              <a:rPr lang="en-IN" b="1" dirty="0"/>
              <a:t>List of Models Applied</a:t>
            </a:r>
          </a:p>
          <a:p>
            <a:r>
              <a:rPr lang="en-IN" dirty="0"/>
              <a:t>K-Nearest </a:t>
            </a:r>
            <a:r>
              <a:rPr lang="en-IN" dirty="0" err="1"/>
              <a:t>Neighbors</a:t>
            </a:r>
            <a:r>
              <a:rPr lang="en-IN" dirty="0"/>
              <a:t> (KNN)</a:t>
            </a:r>
          </a:p>
          <a:p>
            <a:r>
              <a:rPr lang="en-IN" dirty="0"/>
              <a:t>Logistic Regression</a:t>
            </a:r>
          </a:p>
          <a:p>
            <a:r>
              <a:rPr lang="en-IN" dirty="0"/>
              <a:t>Naive Bayes (</a:t>
            </a:r>
            <a:r>
              <a:rPr lang="en-IN" dirty="0" err="1"/>
              <a:t>GaussianNB</a:t>
            </a:r>
            <a:r>
              <a:rPr lang="en-IN" dirty="0"/>
              <a:t>)</a:t>
            </a:r>
          </a:p>
        </p:txBody>
      </p:sp>
      <p:sp>
        <p:nvSpPr>
          <p:cNvPr id="7" name="TextBox 6">
            <a:extLst>
              <a:ext uri="{FF2B5EF4-FFF2-40B4-BE49-F238E27FC236}">
                <a16:creationId xmlns:a16="http://schemas.microsoft.com/office/drawing/2014/main" id="{888EB6FC-3D64-6CCF-B93B-DDDCA0F876BA}"/>
              </a:ext>
            </a:extLst>
          </p:cNvPr>
          <p:cNvSpPr txBox="1"/>
          <p:nvPr/>
        </p:nvSpPr>
        <p:spPr>
          <a:xfrm>
            <a:off x="940067" y="4469051"/>
            <a:ext cx="4464518" cy="1477328"/>
          </a:xfrm>
          <a:prstGeom prst="rect">
            <a:avLst/>
          </a:prstGeom>
          <a:noFill/>
        </p:spPr>
        <p:txBody>
          <a:bodyPr wrap="square">
            <a:spAutoFit/>
          </a:bodyPr>
          <a:lstStyle/>
          <a:p>
            <a:r>
              <a:rPr lang="en-IN" b="1" dirty="0"/>
              <a:t>Hyperparameters</a:t>
            </a:r>
          </a:p>
          <a:p>
            <a:r>
              <a:rPr lang="en-IN" dirty="0"/>
              <a:t>KNN: </a:t>
            </a:r>
            <a:r>
              <a:rPr lang="en-IN" dirty="0" err="1"/>
              <a:t>n_neighbors</a:t>
            </a:r>
            <a:r>
              <a:rPr lang="en-IN" dirty="0"/>
              <a:t>=5 (Default).</a:t>
            </a:r>
          </a:p>
          <a:p>
            <a:r>
              <a:rPr lang="en-IN" dirty="0"/>
              <a:t>Logistic Regression: </a:t>
            </a:r>
            <a:r>
              <a:rPr lang="en-IN" dirty="0" err="1"/>
              <a:t>max_iter</a:t>
            </a:r>
            <a:r>
              <a:rPr lang="en-IN" dirty="0"/>
              <a:t>=1000 (to ensure convergence), </a:t>
            </a:r>
            <a:r>
              <a:rPr lang="en-IN" dirty="0" err="1"/>
              <a:t>random_state</a:t>
            </a:r>
            <a:r>
              <a:rPr lang="en-IN" dirty="0"/>
              <a:t>=42.</a:t>
            </a:r>
          </a:p>
          <a:p>
            <a:r>
              <a:rPr lang="en-IN" dirty="0"/>
              <a:t>Naive Bayes: Default parameters.</a:t>
            </a:r>
          </a:p>
        </p:txBody>
      </p:sp>
      <p:sp>
        <p:nvSpPr>
          <p:cNvPr id="9" name="TextBox 8">
            <a:extLst>
              <a:ext uri="{FF2B5EF4-FFF2-40B4-BE49-F238E27FC236}">
                <a16:creationId xmlns:a16="http://schemas.microsoft.com/office/drawing/2014/main" id="{D4E55613-B6C5-F4C0-097D-6321155E6810}"/>
              </a:ext>
            </a:extLst>
          </p:cNvPr>
          <p:cNvSpPr txBox="1"/>
          <p:nvPr/>
        </p:nvSpPr>
        <p:spPr>
          <a:xfrm>
            <a:off x="5404585" y="4469051"/>
            <a:ext cx="6093994" cy="646331"/>
          </a:xfrm>
          <a:prstGeom prst="rect">
            <a:avLst/>
          </a:prstGeom>
          <a:noFill/>
        </p:spPr>
        <p:txBody>
          <a:bodyPr wrap="square">
            <a:spAutoFit/>
          </a:bodyPr>
          <a:lstStyle/>
          <a:p>
            <a:pPr>
              <a:buNone/>
            </a:pPr>
            <a:r>
              <a:rPr lang="en-IN" b="1" dirty="0"/>
              <a:t>Frameworks Used</a:t>
            </a:r>
          </a:p>
          <a:p>
            <a:r>
              <a:rPr lang="en-IN" dirty="0"/>
              <a:t>Python, scikit-learn, pandas, </a:t>
            </a:r>
            <a:r>
              <a:rPr lang="en-IN" dirty="0" err="1"/>
              <a:t>numpy</a:t>
            </a:r>
            <a:r>
              <a:rPr lang="en-IN" dirty="0"/>
              <a:t>, matplotlib, seaborn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9FF210F-B23D-6264-90F7-5CD5C59F5085}"/>
              </a:ext>
            </a:extLst>
          </p:cNvPr>
          <p:cNvPicPr>
            <a:picLocks noChangeAspect="1"/>
          </p:cNvPicPr>
          <p:nvPr/>
        </p:nvPicPr>
        <p:blipFill>
          <a:blip r:embed="rId2"/>
          <a:stretch>
            <a:fillRect/>
          </a:stretch>
        </p:blipFill>
        <p:spPr>
          <a:xfrm>
            <a:off x="252036" y="1945239"/>
            <a:ext cx="3878645" cy="3305188"/>
          </a:xfrm>
          <a:prstGeom prst="rect">
            <a:avLst/>
          </a:prstGeom>
        </p:spPr>
      </p:pic>
      <p:pic>
        <p:nvPicPr>
          <p:cNvPr id="10" name="Picture 9">
            <a:extLst>
              <a:ext uri="{FF2B5EF4-FFF2-40B4-BE49-F238E27FC236}">
                <a16:creationId xmlns:a16="http://schemas.microsoft.com/office/drawing/2014/main" id="{79F1BF3B-F0BE-9384-386B-D497FAEC04A2}"/>
              </a:ext>
            </a:extLst>
          </p:cNvPr>
          <p:cNvPicPr>
            <a:picLocks noChangeAspect="1"/>
          </p:cNvPicPr>
          <p:nvPr/>
        </p:nvPicPr>
        <p:blipFill>
          <a:blip r:embed="rId3"/>
          <a:stretch>
            <a:fillRect/>
          </a:stretch>
        </p:blipFill>
        <p:spPr>
          <a:xfrm>
            <a:off x="4256534" y="1945238"/>
            <a:ext cx="3832395" cy="3305187"/>
          </a:xfrm>
          <a:prstGeom prst="rect">
            <a:avLst/>
          </a:prstGeom>
        </p:spPr>
      </p:pic>
      <p:pic>
        <p:nvPicPr>
          <p:cNvPr id="12" name="Picture 11">
            <a:extLst>
              <a:ext uri="{FF2B5EF4-FFF2-40B4-BE49-F238E27FC236}">
                <a16:creationId xmlns:a16="http://schemas.microsoft.com/office/drawing/2014/main" id="{18C7B5B8-2830-B12B-F7D4-14A5BF3D3F7D}"/>
              </a:ext>
            </a:extLst>
          </p:cNvPr>
          <p:cNvPicPr>
            <a:picLocks noChangeAspect="1"/>
          </p:cNvPicPr>
          <p:nvPr/>
        </p:nvPicPr>
        <p:blipFill>
          <a:blip r:embed="rId4"/>
          <a:stretch>
            <a:fillRect/>
          </a:stretch>
        </p:blipFill>
        <p:spPr>
          <a:xfrm>
            <a:off x="8214783" y="1984649"/>
            <a:ext cx="3725181" cy="3265776"/>
          </a:xfrm>
          <a:prstGeom prst="rect">
            <a:avLst/>
          </a:prstGeom>
        </p:spPr>
      </p:pic>
      <p:sp>
        <p:nvSpPr>
          <p:cNvPr id="5" name="Title 1">
            <a:extLst>
              <a:ext uri="{FF2B5EF4-FFF2-40B4-BE49-F238E27FC236}">
                <a16:creationId xmlns:a16="http://schemas.microsoft.com/office/drawing/2014/main" id="{44E186A4-1A76-40FB-77B7-F3259E1C97FC}"/>
              </a:ext>
            </a:extLst>
          </p:cNvPr>
          <p:cNvSpPr>
            <a:spLocks noGrp="1"/>
          </p:cNvSpPr>
          <p:nvPr>
            <p:ph type="title"/>
          </p:nvPr>
        </p:nvSpPr>
        <p:spPr>
          <a:xfrm>
            <a:off x="1097280" y="286603"/>
            <a:ext cx="10058400" cy="1450757"/>
          </a:xfrm>
        </p:spPr>
        <p:txBody>
          <a:bodyPr>
            <a:normAutofit/>
          </a:bodyPr>
          <a:lstStyle/>
          <a:p>
            <a:r>
              <a:rPr lang="en-US" dirty="0"/>
              <a:t>8</a:t>
            </a:r>
            <a:r>
              <a:rPr dirty="0"/>
              <a:t>. Result Analysis – Dataset </a:t>
            </a:r>
            <a:r>
              <a:rPr lang="en-US" dirty="0"/>
              <a:t>1</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2786F-D956-A97F-F95A-FA8C2FC328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47A603-6584-981E-A1AF-70ECF90CB907}"/>
              </a:ext>
            </a:extLst>
          </p:cNvPr>
          <p:cNvSpPr>
            <a:spLocks noGrp="1"/>
          </p:cNvSpPr>
          <p:nvPr>
            <p:ph type="title"/>
          </p:nvPr>
        </p:nvSpPr>
        <p:spPr/>
        <p:txBody>
          <a:bodyPr/>
          <a:lstStyle/>
          <a:p>
            <a:r>
              <a:rPr lang="en-IN" dirty="0"/>
              <a:t>5. Interpretation of Results</a:t>
            </a:r>
          </a:p>
        </p:txBody>
      </p:sp>
      <p:pic>
        <p:nvPicPr>
          <p:cNvPr id="11" name="Content Placeholder 10">
            <a:extLst>
              <a:ext uri="{FF2B5EF4-FFF2-40B4-BE49-F238E27FC236}">
                <a16:creationId xmlns:a16="http://schemas.microsoft.com/office/drawing/2014/main" id="{27185E15-D60A-899E-8168-135AEF64F375}"/>
              </a:ext>
            </a:extLst>
          </p:cNvPr>
          <p:cNvPicPr>
            <a:picLocks noGrp="1" noChangeAspect="1"/>
          </p:cNvPicPr>
          <p:nvPr>
            <p:ph idx="1"/>
          </p:nvPr>
        </p:nvPicPr>
        <p:blipFill>
          <a:blip r:embed="rId2"/>
          <a:stretch>
            <a:fillRect/>
          </a:stretch>
        </p:blipFill>
        <p:spPr>
          <a:xfrm>
            <a:off x="1190652" y="1816691"/>
            <a:ext cx="6721422" cy="1013548"/>
          </a:xfrm>
          <a:prstGeom prst="rect">
            <a:avLst/>
          </a:prstGeom>
        </p:spPr>
      </p:pic>
      <p:pic>
        <p:nvPicPr>
          <p:cNvPr id="9" name="Picture 8">
            <a:extLst>
              <a:ext uri="{FF2B5EF4-FFF2-40B4-BE49-F238E27FC236}">
                <a16:creationId xmlns:a16="http://schemas.microsoft.com/office/drawing/2014/main" id="{C8C3DCE2-49A7-5C9E-3C94-12389756BA7A}"/>
              </a:ext>
            </a:extLst>
          </p:cNvPr>
          <p:cNvPicPr>
            <a:picLocks noChangeAspect="1"/>
          </p:cNvPicPr>
          <p:nvPr/>
        </p:nvPicPr>
        <p:blipFill>
          <a:blip r:embed="rId3"/>
          <a:stretch>
            <a:fillRect/>
          </a:stretch>
        </p:blipFill>
        <p:spPr>
          <a:xfrm>
            <a:off x="1190652" y="2830239"/>
            <a:ext cx="5918071" cy="3297902"/>
          </a:xfrm>
          <a:prstGeom prst="rect">
            <a:avLst/>
          </a:prstGeom>
        </p:spPr>
      </p:pic>
    </p:spTree>
    <p:extLst>
      <p:ext uri="{BB962C8B-B14F-4D97-AF65-F5344CB8AC3E}">
        <p14:creationId xmlns:p14="http://schemas.microsoft.com/office/powerpoint/2010/main" val="38867593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5A8E2-48F5-A0A6-5263-9E89EFE30B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33B87E-016C-2C1D-157D-29AB96663EC7}"/>
              </a:ext>
            </a:extLst>
          </p:cNvPr>
          <p:cNvSpPr>
            <a:spLocks noGrp="1"/>
          </p:cNvSpPr>
          <p:nvPr>
            <p:ph type="title"/>
          </p:nvPr>
        </p:nvSpPr>
        <p:spPr/>
        <p:txBody>
          <a:bodyPr/>
          <a:lstStyle/>
          <a:p>
            <a:r>
              <a:rPr lang="en-US" dirty="0"/>
              <a:t>6</a:t>
            </a:r>
            <a:r>
              <a:rPr dirty="0"/>
              <a:t>. Dataset </a:t>
            </a:r>
            <a:r>
              <a:rPr lang="en-US" dirty="0"/>
              <a:t>2</a:t>
            </a:r>
            <a:r>
              <a:rPr dirty="0"/>
              <a:t> – </a:t>
            </a:r>
            <a:r>
              <a:rPr lang="en-IN" dirty="0"/>
              <a:t>Description</a:t>
            </a:r>
            <a:endParaRPr dirty="0"/>
          </a:p>
        </p:txBody>
      </p:sp>
      <p:sp>
        <p:nvSpPr>
          <p:cNvPr id="3" name="Content Placeholder 2">
            <a:extLst>
              <a:ext uri="{FF2B5EF4-FFF2-40B4-BE49-F238E27FC236}">
                <a16:creationId xmlns:a16="http://schemas.microsoft.com/office/drawing/2014/main" id="{C2BAAE58-99A5-EFB4-041C-FA84FD150A3D}"/>
              </a:ext>
            </a:extLst>
          </p:cNvPr>
          <p:cNvSpPr>
            <a:spLocks noGrp="1"/>
          </p:cNvSpPr>
          <p:nvPr>
            <p:ph idx="1"/>
          </p:nvPr>
        </p:nvSpPr>
        <p:spPr/>
        <p:txBody>
          <a:bodyPr/>
          <a:lstStyle/>
          <a:p>
            <a:r>
              <a:rPr lang="en-IN" dirty="0"/>
              <a:t>Source </a:t>
            </a:r>
            <a:r>
              <a:rPr lang="en-US" dirty="0"/>
              <a:t>: Kaggle (https://www.kaggle.com/datasets/uom190346a/e-commerce-customer-behavior-dataset)</a:t>
            </a:r>
            <a:endParaRPr dirty="0"/>
          </a:p>
          <a:p>
            <a:r>
              <a:rPr dirty="0"/>
              <a:t>Number of samples </a:t>
            </a:r>
            <a:r>
              <a:rPr lang="en-US" dirty="0"/>
              <a:t>(350) ;</a:t>
            </a:r>
            <a:r>
              <a:rPr dirty="0"/>
              <a:t> features</a:t>
            </a:r>
            <a:r>
              <a:rPr lang="en-US" dirty="0"/>
              <a:t> (11)</a:t>
            </a:r>
            <a:endParaRPr dirty="0"/>
          </a:p>
          <a:p>
            <a:r>
              <a:rPr dirty="0"/>
              <a:t>Feature descriptions</a:t>
            </a:r>
            <a:r>
              <a:rPr lang="en-US" dirty="0"/>
              <a:t> : A specific consumer, capturing their demographic details, membership status, and overall spending habits.</a:t>
            </a:r>
            <a:endParaRPr dirty="0"/>
          </a:p>
          <a:p>
            <a:r>
              <a:rPr lang="en-IN" dirty="0"/>
              <a:t>Preprocessing steps : encoding (binary, ordinal), imputation (median), standard scaler</a:t>
            </a:r>
          </a:p>
          <a:p>
            <a:r>
              <a:rPr lang="en-IN" dirty="0"/>
              <a:t>Train–test split details : 80:20 train test split, random state 42</a:t>
            </a:r>
          </a:p>
        </p:txBody>
      </p:sp>
    </p:spTree>
    <p:extLst>
      <p:ext uri="{BB962C8B-B14F-4D97-AF65-F5344CB8AC3E}">
        <p14:creationId xmlns:p14="http://schemas.microsoft.com/office/powerpoint/2010/main" val="4335712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58990-CA7F-078C-5B46-20ECF55482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0C7862-BE0A-ECDE-F0FC-929204B52E0D}"/>
              </a:ext>
            </a:extLst>
          </p:cNvPr>
          <p:cNvSpPr>
            <a:spLocks noGrp="1"/>
          </p:cNvSpPr>
          <p:nvPr>
            <p:ph type="title"/>
          </p:nvPr>
        </p:nvSpPr>
        <p:spPr/>
        <p:txBody>
          <a:bodyPr/>
          <a:lstStyle/>
          <a:p>
            <a:r>
              <a:rPr lang="en-US" dirty="0"/>
              <a:t>7</a:t>
            </a:r>
            <a:r>
              <a:rPr dirty="0"/>
              <a:t>. Models Used for Dataset </a:t>
            </a:r>
            <a:r>
              <a:rPr lang="en-US" dirty="0"/>
              <a:t>2</a:t>
            </a:r>
            <a:endParaRPr dirty="0"/>
          </a:p>
        </p:txBody>
      </p:sp>
      <p:sp>
        <p:nvSpPr>
          <p:cNvPr id="3" name="Content Placeholder 2">
            <a:extLst>
              <a:ext uri="{FF2B5EF4-FFF2-40B4-BE49-F238E27FC236}">
                <a16:creationId xmlns:a16="http://schemas.microsoft.com/office/drawing/2014/main" id="{E0FBD043-2A49-558D-7ECE-F4AFA460DD1A}"/>
              </a:ext>
            </a:extLst>
          </p:cNvPr>
          <p:cNvSpPr>
            <a:spLocks noGrp="1"/>
          </p:cNvSpPr>
          <p:nvPr>
            <p:ph idx="1"/>
          </p:nvPr>
        </p:nvSpPr>
        <p:spPr>
          <a:xfrm>
            <a:off x="5900888" y="4824663"/>
            <a:ext cx="3378467" cy="1081762"/>
          </a:xfrm>
        </p:spPr>
        <p:txBody>
          <a:bodyPr>
            <a:normAutofit fontScale="92500"/>
          </a:bodyPr>
          <a:lstStyle/>
          <a:p>
            <a:r>
              <a:rPr lang="en-IN" b="1" dirty="0"/>
              <a:t>Frameworks used</a:t>
            </a:r>
          </a:p>
          <a:p>
            <a:r>
              <a:rPr lang="en-IN" dirty="0"/>
              <a:t>Python, scikit-learn, pandas, </a:t>
            </a:r>
            <a:r>
              <a:rPr lang="en-IN" dirty="0" err="1"/>
              <a:t>numpy</a:t>
            </a:r>
            <a:r>
              <a:rPr lang="en-IN" dirty="0"/>
              <a:t>, matplotlib, seaborn, </a:t>
            </a:r>
            <a:r>
              <a:rPr lang="en-IN" dirty="0" err="1"/>
              <a:t>scipy</a:t>
            </a:r>
            <a:endParaRPr lang="en-IN" dirty="0">
              <a:effectLst/>
            </a:endParaRPr>
          </a:p>
        </p:txBody>
      </p:sp>
      <p:sp>
        <p:nvSpPr>
          <p:cNvPr id="5" name="TextBox 4">
            <a:extLst>
              <a:ext uri="{FF2B5EF4-FFF2-40B4-BE49-F238E27FC236}">
                <a16:creationId xmlns:a16="http://schemas.microsoft.com/office/drawing/2014/main" id="{25BE7B5A-F475-1E53-611F-F7A3750E3F8D}"/>
              </a:ext>
            </a:extLst>
          </p:cNvPr>
          <p:cNvSpPr txBox="1"/>
          <p:nvPr/>
        </p:nvSpPr>
        <p:spPr>
          <a:xfrm>
            <a:off x="532397" y="2212630"/>
            <a:ext cx="4833687" cy="1477328"/>
          </a:xfrm>
          <a:prstGeom prst="rect">
            <a:avLst/>
          </a:prstGeom>
          <a:noFill/>
        </p:spPr>
        <p:txBody>
          <a:bodyPr wrap="square">
            <a:spAutoFit/>
          </a:bodyPr>
          <a:lstStyle/>
          <a:p>
            <a:r>
              <a:rPr lang="en-IN" b="1" dirty="0"/>
              <a:t>List of models applied</a:t>
            </a:r>
            <a:r>
              <a:rPr lang="en-IN" dirty="0"/>
              <a:t> </a:t>
            </a:r>
          </a:p>
          <a:p>
            <a:r>
              <a:rPr lang="en-IN" dirty="0"/>
              <a:t>Linear Regression</a:t>
            </a:r>
          </a:p>
          <a:p>
            <a:r>
              <a:rPr lang="en-IN" dirty="0"/>
              <a:t>Ridge Regression</a:t>
            </a:r>
          </a:p>
          <a:p>
            <a:r>
              <a:rPr lang="en-IN" dirty="0"/>
              <a:t>Lasso Regression</a:t>
            </a:r>
          </a:p>
          <a:p>
            <a:r>
              <a:rPr lang="en-IN" dirty="0"/>
              <a:t>Decision Tree Regressor</a:t>
            </a:r>
          </a:p>
        </p:txBody>
      </p:sp>
      <p:sp>
        <p:nvSpPr>
          <p:cNvPr id="7" name="TextBox 6">
            <a:extLst>
              <a:ext uri="{FF2B5EF4-FFF2-40B4-BE49-F238E27FC236}">
                <a16:creationId xmlns:a16="http://schemas.microsoft.com/office/drawing/2014/main" id="{4D482AE3-CDB3-11CB-78B3-2B915403A0FB}"/>
              </a:ext>
            </a:extLst>
          </p:cNvPr>
          <p:cNvSpPr txBox="1"/>
          <p:nvPr/>
        </p:nvSpPr>
        <p:spPr>
          <a:xfrm>
            <a:off x="5900888" y="2212630"/>
            <a:ext cx="5254792" cy="1477328"/>
          </a:xfrm>
          <a:prstGeom prst="rect">
            <a:avLst/>
          </a:prstGeom>
          <a:noFill/>
        </p:spPr>
        <p:txBody>
          <a:bodyPr wrap="square">
            <a:spAutoFit/>
          </a:bodyPr>
          <a:lstStyle/>
          <a:p>
            <a:r>
              <a:rPr lang="en-IN" b="1" dirty="0"/>
              <a:t>Reason for choosing each model</a:t>
            </a:r>
          </a:p>
          <a:p>
            <a:r>
              <a:rPr lang="en-IN" dirty="0"/>
              <a:t> Linear Regression as a baseline, Ridge to handle multicollinearity and overfitting, Lasso for feature selection, Decision Tree to capture non-linear relationships</a:t>
            </a:r>
          </a:p>
        </p:txBody>
      </p:sp>
      <p:sp>
        <p:nvSpPr>
          <p:cNvPr id="9" name="TextBox 8">
            <a:extLst>
              <a:ext uri="{FF2B5EF4-FFF2-40B4-BE49-F238E27FC236}">
                <a16:creationId xmlns:a16="http://schemas.microsoft.com/office/drawing/2014/main" id="{432E4878-6EE3-3BFF-8B51-5017B3786352}"/>
              </a:ext>
            </a:extLst>
          </p:cNvPr>
          <p:cNvSpPr txBox="1"/>
          <p:nvPr/>
        </p:nvSpPr>
        <p:spPr>
          <a:xfrm>
            <a:off x="532396" y="4706096"/>
            <a:ext cx="4833687" cy="1200329"/>
          </a:xfrm>
          <a:prstGeom prst="rect">
            <a:avLst/>
          </a:prstGeom>
          <a:noFill/>
        </p:spPr>
        <p:txBody>
          <a:bodyPr wrap="square">
            <a:spAutoFit/>
          </a:bodyPr>
          <a:lstStyle/>
          <a:p>
            <a:r>
              <a:rPr lang="en-IN" b="1" dirty="0"/>
              <a:t>Hyperparameters</a:t>
            </a:r>
          </a:p>
          <a:p>
            <a:r>
              <a:rPr lang="en-IN" dirty="0"/>
              <a:t> Ridge (alpha=1.0), Lasso (alpha=0.1), Decision Tree (</a:t>
            </a:r>
            <a:r>
              <a:rPr lang="en-IN" dirty="0" err="1"/>
              <a:t>max_depth</a:t>
            </a:r>
            <a:r>
              <a:rPr lang="en-IN" dirty="0"/>
              <a:t>=5, </a:t>
            </a:r>
            <a:r>
              <a:rPr lang="en-IN" dirty="0" err="1"/>
              <a:t>random_state</a:t>
            </a:r>
            <a:r>
              <a:rPr lang="en-IN" dirty="0"/>
              <a:t>=42), Train-Test Split (</a:t>
            </a:r>
            <a:r>
              <a:rPr lang="en-IN" dirty="0" err="1"/>
              <a:t>test_size</a:t>
            </a:r>
            <a:r>
              <a:rPr lang="en-IN" dirty="0"/>
              <a:t>=0.2, </a:t>
            </a:r>
            <a:r>
              <a:rPr lang="en-IN" dirty="0" err="1"/>
              <a:t>random_state</a:t>
            </a:r>
            <a:r>
              <a:rPr lang="en-IN" dirty="0"/>
              <a:t>=42)</a:t>
            </a:r>
          </a:p>
        </p:txBody>
      </p:sp>
    </p:spTree>
    <p:extLst>
      <p:ext uri="{BB962C8B-B14F-4D97-AF65-F5344CB8AC3E}">
        <p14:creationId xmlns:p14="http://schemas.microsoft.com/office/powerpoint/2010/main" val="2589533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47D01-B057-32CC-B8EE-EDCFA22EC9F5}"/>
              </a:ext>
            </a:extLst>
          </p:cNvPr>
          <p:cNvSpPr txBox="1">
            <a:spLocks noGrp="1"/>
          </p:cNvSpPr>
          <p:nvPr>
            <p:ph type="title"/>
          </p:nvPr>
        </p:nvSpPr>
        <p:spPr>
          <a:xfrm>
            <a:off x="1097280" y="286600"/>
            <a:ext cx="10058400" cy="1450759"/>
          </a:xfrm>
          <a:prstGeom prst="rect">
            <a:avLst/>
          </a:prstGeom>
          <a:noFill/>
          <a:ln>
            <a:noFill/>
          </a:ln>
        </p:spPr>
        <p:txBody>
          <a:bodyPr vert="horz" wrap="square" lIns="91440" tIns="45720" rIns="91440" bIns="45720" anchor="b" anchorCtr="0" compatLnSpc="1">
            <a:normAutofit/>
          </a:bodyPr>
          <a:lstStyle/>
          <a:p>
            <a:pPr lvl="0"/>
            <a:r>
              <a:rPr lang="en-US"/>
              <a:t>8. Result Analysis – Dataset 2</a:t>
            </a:r>
          </a:p>
        </p:txBody>
      </p:sp>
      <p:pic>
        <p:nvPicPr>
          <p:cNvPr id="3" name="Content Placeholder 3" descr="A graph with red dots&#10;&#10;AI-generated content may be incorrect.">
            <a:extLst>
              <a:ext uri="{FF2B5EF4-FFF2-40B4-BE49-F238E27FC236}">
                <a16:creationId xmlns:a16="http://schemas.microsoft.com/office/drawing/2014/main" id="{3BC5C4F1-26D8-67C4-8F42-502505C249B8}"/>
              </a:ext>
            </a:extLst>
          </p:cNvPr>
          <p:cNvPicPr>
            <a:picLocks noGrp="1" noChangeAspect="1"/>
          </p:cNvPicPr>
          <p:nvPr>
            <p:ph idx="1"/>
          </p:nvPr>
        </p:nvPicPr>
        <p:blipFill>
          <a:blip r:embed="rId2"/>
          <a:stretch>
            <a:fillRect/>
          </a:stretch>
        </p:blipFill>
        <p:spPr>
          <a:xfrm>
            <a:off x="832597" y="1737451"/>
            <a:ext cx="3437476" cy="2789002"/>
          </a:xfrm>
          <a:prstGeom prst="rect">
            <a:avLst/>
          </a:prstGeom>
          <a:noFill/>
          <a:ln>
            <a:noFill/>
          </a:ln>
        </p:spPr>
      </p:pic>
      <p:pic>
        <p:nvPicPr>
          <p:cNvPr id="4" name="Picture 4" descr="A graph with red dots&#10;&#10;AI-generated content may be incorrect.">
            <a:extLst>
              <a:ext uri="{FF2B5EF4-FFF2-40B4-BE49-F238E27FC236}">
                <a16:creationId xmlns:a16="http://schemas.microsoft.com/office/drawing/2014/main" id="{3EE3AB21-2676-90F2-E1A1-F9B766E51372}"/>
              </a:ext>
            </a:extLst>
          </p:cNvPr>
          <p:cNvPicPr>
            <a:picLocks noChangeAspect="1"/>
          </p:cNvPicPr>
          <p:nvPr/>
        </p:nvPicPr>
        <p:blipFill>
          <a:blip r:embed="rId3"/>
          <a:stretch>
            <a:fillRect/>
          </a:stretch>
        </p:blipFill>
        <p:spPr>
          <a:xfrm>
            <a:off x="4271509" y="1741767"/>
            <a:ext cx="3419343" cy="2800350"/>
          </a:xfrm>
          <a:prstGeom prst="rect">
            <a:avLst/>
          </a:prstGeom>
          <a:noFill/>
          <a:ln cap="flat">
            <a:noFill/>
          </a:ln>
        </p:spPr>
      </p:pic>
      <p:pic>
        <p:nvPicPr>
          <p:cNvPr id="5" name="Picture 5" descr="A graph with red dots&#10;&#10;AI-generated content may be incorrect.">
            <a:extLst>
              <a:ext uri="{FF2B5EF4-FFF2-40B4-BE49-F238E27FC236}">
                <a16:creationId xmlns:a16="http://schemas.microsoft.com/office/drawing/2014/main" id="{7672E85F-7586-2271-2001-A9810286E370}"/>
              </a:ext>
            </a:extLst>
          </p:cNvPr>
          <p:cNvPicPr>
            <a:picLocks noChangeAspect="1"/>
          </p:cNvPicPr>
          <p:nvPr/>
        </p:nvPicPr>
        <p:blipFill>
          <a:blip r:embed="rId4"/>
          <a:stretch>
            <a:fillRect/>
          </a:stretch>
        </p:blipFill>
        <p:spPr>
          <a:xfrm>
            <a:off x="7700052" y="1740853"/>
            <a:ext cx="3462009" cy="2802178"/>
          </a:xfrm>
          <a:prstGeom prst="rect">
            <a:avLst/>
          </a:prstGeom>
          <a:noFill/>
          <a:ln cap="flat">
            <a:noFill/>
          </a:ln>
        </p:spPr>
      </p:pic>
      <p:pic>
        <p:nvPicPr>
          <p:cNvPr id="6" name="Picture 6" descr="A screenshot of a graph&#10;&#10;AI-generated content may be incorrect.">
            <a:extLst>
              <a:ext uri="{FF2B5EF4-FFF2-40B4-BE49-F238E27FC236}">
                <a16:creationId xmlns:a16="http://schemas.microsoft.com/office/drawing/2014/main" id="{47091AC4-AFC8-8072-3B3D-F2745E0716B1}"/>
              </a:ext>
            </a:extLst>
          </p:cNvPr>
          <p:cNvPicPr>
            <a:picLocks noChangeAspect="1"/>
          </p:cNvPicPr>
          <p:nvPr/>
        </p:nvPicPr>
        <p:blipFill>
          <a:blip r:embed="rId5"/>
          <a:stretch>
            <a:fillRect/>
          </a:stretch>
        </p:blipFill>
        <p:spPr>
          <a:xfrm>
            <a:off x="4117543" y="4548253"/>
            <a:ext cx="4019546" cy="1790696"/>
          </a:xfrm>
          <a:prstGeom prst="rect">
            <a:avLst/>
          </a:prstGeom>
          <a:noFill/>
          <a:ln cap="flat">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D36D6E-A869-2179-A11E-3D3E1FF362BF}"/>
              </a:ext>
            </a:extLst>
          </p:cNvPr>
          <p:cNvSpPr txBox="1">
            <a:spLocks noGrp="1"/>
          </p:cNvSpPr>
          <p:nvPr>
            <p:ph type="title"/>
          </p:nvPr>
        </p:nvSpPr>
        <p:spPr>
          <a:xfrm>
            <a:off x="1097280" y="286600"/>
            <a:ext cx="10058400" cy="1450759"/>
          </a:xfrm>
          <a:prstGeom prst="rect">
            <a:avLst/>
          </a:prstGeom>
          <a:noFill/>
          <a:ln>
            <a:noFill/>
          </a:ln>
        </p:spPr>
        <p:txBody>
          <a:bodyPr vert="horz" wrap="square" lIns="91440" tIns="45720" rIns="91440" bIns="45720" anchor="b" anchorCtr="0" compatLnSpc="1">
            <a:normAutofit/>
          </a:bodyPr>
          <a:lstStyle/>
          <a:p>
            <a:pPr lvl="0"/>
            <a:r>
              <a:rPr lang="en-IN"/>
              <a:t>9. Interpretation of Results</a:t>
            </a:r>
          </a:p>
        </p:txBody>
      </p:sp>
      <p:pic>
        <p:nvPicPr>
          <p:cNvPr id="3" name="Content Placeholder 3" descr="A graph of different colored squares&#10;&#10;AI-generated content may be incorrect.">
            <a:extLst>
              <a:ext uri="{FF2B5EF4-FFF2-40B4-BE49-F238E27FC236}">
                <a16:creationId xmlns:a16="http://schemas.microsoft.com/office/drawing/2014/main" id="{47A17764-A37B-658F-24C5-EEA0CB1941A1}"/>
              </a:ext>
            </a:extLst>
          </p:cNvPr>
          <p:cNvPicPr>
            <a:picLocks noGrp="1" noChangeAspect="1"/>
          </p:cNvPicPr>
          <p:nvPr>
            <p:ph idx="1"/>
          </p:nvPr>
        </p:nvPicPr>
        <p:blipFill>
          <a:blip r:embed="rId2"/>
          <a:stretch>
            <a:fillRect/>
          </a:stretch>
        </p:blipFill>
        <p:spPr>
          <a:xfrm>
            <a:off x="3090781" y="1845734"/>
            <a:ext cx="6071396" cy="402336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C163D-1619-9D79-CA17-9B31F3C29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98917B-125D-0DF6-7B18-9A2FD91FACBD}"/>
              </a:ext>
            </a:extLst>
          </p:cNvPr>
          <p:cNvSpPr>
            <a:spLocks noGrp="1"/>
          </p:cNvSpPr>
          <p:nvPr>
            <p:ph type="title"/>
          </p:nvPr>
        </p:nvSpPr>
        <p:spPr/>
        <p:txBody>
          <a:bodyPr/>
          <a:lstStyle/>
          <a:p>
            <a:r>
              <a:rPr lang="en-US" dirty="0"/>
              <a:t>10</a:t>
            </a:r>
            <a:r>
              <a:rPr dirty="0"/>
              <a:t>. Dataset </a:t>
            </a:r>
            <a:r>
              <a:rPr lang="en-US" dirty="0"/>
              <a:t>3</a:t>
            </a:r>
            <a:r>
              <a:rPr dirty="0"/>
              <a:t> – Description</a:t>
            </a:r>
          </a:p>
        </p:txBody>
      </p:sp>
      <p:sp>
        <p:nvSpPr>
          <p:cNvPr id="3" name="Content Placeholder 2">
            <a:extLst>
              <a:ext uri="{FF2B5EF4-FFF2-40B4-BE49-F238E27FC236}">
                <a16:creationId xmlns:a16="http://schemas.microsoft.com/office/drawing/2014/main" id="{8131DC0B-143B-F55F-F153-79F8E7B5550B}"/>
              </a:ext>
            </a:extLst>
          </p:cNvPr>
          <p:cNvSpPr>
            <a:spLocks noGrp="1"/>
          </p:cNvSpPr>
          <p:nvPr>
            <p:ph idx="1"/>
          </p:nvPr>
        </p:nvSpPr>
        <p:spPr/>
        <p:txBody>
          <a:bodyPr/>
          <a:lstStyle/>
          <a:p>
            <a:r>
              <a:rPr lang="en-IN" dirty="0"/>
              <a:t>Source </a:t>
            </a:r>
            <a:r>
              <a:rPr lang="en-US" dirty="0"/>
              <a:t>: UCI (https://archive.ics.uci.edu/dataset/292/wholesale+customers)</a:t>
            </a:r>
            <a:endParaRPr dirty="0"/>
          </a:p>
          <a:p>
            <a:r>
              <a:rPr dirty="0"/>
              <a:t>Number of samples and features</a:t>
            </a:r>
            <a:r>
              <a:rPr lang="en-US" dirty="0"/>
              <a:t> </a:t>
            </a:r>
            <a:endParaRPr dirty="0"/>
          </a:p>
          <a:p>
            <a:endParaRPr lang="en-US" dirty="0"/>
          </a:p>
          <a:p>
            <a:r>
              <a:rPr dirty="0"/>
              <a:t>Feature descriptions</a:t>
            </a:r>
            <a:r>
              <a:rPr lang="en-US" dirty="0"/>
              <a:t> : A business client (such as a restaurant or retailer), characterized by their annual spending across different product categories like fresh food, milk, and grocery.</a:t>
            </a:r>
          </a:p>
          <a:p>
            <a:r>
              <a:rPr dirty="0"/>
              <a:t>Preprocessing steps </a:t>
            </a:r>
            <a:r>
              <a:rPr lang="en-US" dirty="0"/>
              <a:t>: scaling (standard scaler)</a:t>
            </a:r>
            <a:endParaRPr dirty="0"/>
          </a:p>
          <a:p>
            <a:r>
              <a:rPr dirty="0"/>
              <a:t>Train–test split details</a:t>
            </a:r>
            <a:r>
              <a:rPr lang="en-US" dirty="0"/>
              <a:t> : None (not applicable)</a:t>
            </a:r>
            <a:endParaRPr dirty="0"/>
          </a:p>
        </p:txBody>
      </p:sp>
      <p:pic>
        <p:nvPicPr>
          <p:cNvPr id="5" name="Picture 4">
            <a:extLst>
              <a:ext uri="{FF2B5EF4-FFF2-40B4-BE49-F238E27FC236}">
                <a16:creationId xmlns:a16="http://schemas.microsoft.com/office/drawing/2014/main" id="{D7FBAF42-D7E2-5850-D066-E399F4085BA1}"/>
              </a:ext>
            </a:extLst>
          </p:cNvPr>
          <p:cNvPicPr>
            <a:picLocks noChangeAspect="1"/>
          </p:cNvPicPr>
          <p:nvPr/>
        </p:nvPicPr>
        <p:blipFill>
          <a:blip r:embed="rId2"/>
          <a:stretch>
            <a:fillRect/>
          </a:stretch>
        </p:blipFill>
        <p:spPr>
          <a:xfrm>
            <a:off x="4575037" y="2204762"/>
            <a:ext cx="3932261" cy="571550"/>
          </a:xfrm>
          <a:prstGeom prst="rect">
            <a:avLst/>
          </a:prstGeom>
        </p:spPr>
      </p:pic>
    </p:spTree>
    <p:extLst>
      <p:ext uri="{BB962C8B-B14F-4D97-AF65-F5344CB8AC3E}">
        <p14:creationId xmlns:p14="http://schemas.microsoft.com/office/powerpoint/2010/main" val="2298664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1C4D9-D64F-031D-0E50-AB97B8C596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49A61-DABE-49BF-D6FD-FEBB1B423ACB}"/>
              </a:ext>
            </a:extLst>
          </p:cNvPr>
          <p:cNvSpPr>
            <a:spLocks noGrp="1"/>
          </p:cNvSpPr>
          <p:nvPr>
            <p:ph type="title"/>
          </p:nvPr>
        </p:nvSpPr>
        <p:spPr/>
        <p:txBody>
          <a:bodyPr/>
          <a:lstStyle/>
          <a:p>
            <a:r>
              <a:rPr lang="en-US" dirty="0"/>
              <a:t>11</a:t>
            </a:r>
            <a:r>
              <a:rPr dirty="0"/>
              <a:t>. Models Used for Dataset </a:t>
            </a:r>
            <a:r>
              <a:rPr lang="en-US" dirty="0"/>
              <a:t>3</a:t>
            </a:r>
            <a:endParaRPr dirty="0"/>
          </a:p>
        </p:txBody>
      </p:sp>
      <p:sp>
        <p:nvSpPr>
          <p:cNvPr id="3" name="Content Placeholder 2">
            <a:extLst>
              <a:ext uri="{FF2B5EF4-FFF2-40B4-BE49-F238E27FC236}">
                <a16:creationId xmlns:a16="http://schemas.microsoft.com/office/drawing/2014/main" id="{901A7287-AA3D-A15C-5110-05AA3AFDF2CA}"/>
              </a:ext>
            </a:extLst>
          </p:cNvPr>
          <p:cNvSpPr>
            <a:spLocks noGrp="1"/>
          </p:cNvSpPr>
          <p:nvPr>
            <p:ph idx="1"/>
          </p:nvPr>
        </p:nvSpPr>
        <p:spPr>
          <a:xfrm>
            <a:off x="5895325" y="4259179"/>
            <a:ext cx="4006666" cy="1613108"/>
          </a:xfrm>
        </p:spPr>
        <p:txBody>
          <a:bodyPr>
            <a:normAutofit/>
          </a:bodyPr>
          <a:lstStyle/>
          <a:p>
            <a:pPr marL="0" indent="0">
              <a:buNone/>
            </a:pPr>
            <a:r>
              <a:rPr b="1" dirty="0"/>
              <a:t>Frameworks used</a:t>
            </a:r>
            <a:endParaRPr lang="en-US" b="1" dirty="0"/>
          </a:p>
          <a:p>
            <a:pPr marL="0" indent="0">
              <a:buNone/>
            </a:pPr>
            <a:r>
              <a:rPr lang="en-IN" dirty="0"/>
              <a:t>Python, scikit-learn, pandas, </a:t>
            </a:r>
            <a:r>
              <a:rPr lang="en-IN" dirty="0" err="1"/>
              <a:t>numpy</a:t>
            </a:r>
            <a:r>
              <a:rPr lang="en-IN" dirty="0"/>
              <a:t>, matplotlib, seaborn, </a:t>
            </a:r>
            <a:r>
              <a:rPr lang="en-IN" dirty="0" err="1"/>
              <a:t>scipy</a:t>
            </a:r>
            <a:endParaRPr dirty="0"/>
          </a:p>
        </p:txBody>
      </p:sp>
      <p:sp>
        <p:nvSpPr>
          <p:cNvPr id="5" name="TextBox 4">
            <a:extLst>
              <a:ext uri="{FF2B5EF4-FFF2-40B4-BE49-F238E27FC236}">
                <a16:creationId xmlns:a16="http://schemas.microsoft.com/office/drawing/2014/main" id="{4631BC1B-D7C7-3763-114F-EE26F958D42F}"/>
              </a:ext>
            </a:extLst>
          </p:cNvPr>
          <p:cNvSpPr txBox="1"/>
          <p:nvPr/>
        </p:nvSpPr>
        <p:spPr>
          <a:xfrm>
            <a:off x="5790197" y="1951672"/>
            <a:ext cx="6093994" cy="1477328"/>
          </a:xfrm>
          <a:prstGeom prst="rect">
            <a:avLst/>
          </a:prstGeom>
          <a:noFill/>
        </p:spPr>
        <p:txBody>
          <a:bodyPr wrap="square">
            <a:spAutoFit/>
          </a:bodyPr>
          <a:lstStyle/>
          <a:p>
            <a:r>
              <a:rPr lang="en-US" b="1" dirty="0"/>
              <a:t>Reason for choosing each model</a:t>
            </a:r>
          </a:p>
          <a:p>
            <a:r>
              <a:rPr lang="en-US" dirty="0"/>
              <a:t>K-Means: Good for creating spherical, distinct clusters.</a:t>
            </a:r>
          </a:p>
          <a:p>
            <a:r>
              <a:rPr lang="en-US" dirty="0"/>
              <a:t>Hierarchical: For visualizing relationships, helps determine optimal cluster count.</a:t>
            </a:r>
          </a:p>
          <a:p>
            <a:r>
              <a:rPr lang="en-US" dirty="0"/>
              <a:t>DBSCAN: Good for arbitrary shapes and outlier detection.</a:t>
            </a:r>
          </a:p>
        </p:txBody>
      </p:sp>
      <p:sp>
        <p:nvSpPr>
          <p:cNvPr id="7" name="TextBox 6">
            <a:extLst>
              <a:ext uri="{FF2B5EF4-FFF2-40B4-BE49-F238E27FC236}">
                <a16:creationId xmlns:a16="http://schemas.microsoft.com/office/drawing/2014/main" id="{2F7AEDA4-B089-A8CE-9F7B-4DA4A4436308}"/>
              </a:ext>
            </a:extLst>
          </p:cNvPr>
          <p:cNvSpPr txBox="1"/>
          <p:nvPr/>
        </p:nvSpPr>
        <p:spPr>
          <a:xfrm>
            <a:off x="396742" y="2069265"/>
            <a:ext cx="5149816" cy="1200329"/>
          </a:xfrm>
          <a:prstGeom prst="rect">
            <a:avLst/>
          </a:prstGeom>
          <a:noFill/>
        </p:spPr>
        <p:txBody>
          <a:bodyPr wrap="square">
            <a:spAutoFit/>
          </a:bodyPr>
          <a:lstStyle/>
          <a:p>
            <a:r>
              <a:rPr lang="en-US" b="1" dirty="0"/>
              <a:t>List of models applied</a:t>
            </a:r>
          </a:p>
          <a:p>
            <a:r>
              <a:rPr lang="en-US" dirty="0"/>
              <a:t>K-Means</a:t>
            </a:r>
          </a:p>
          <a:p>
            <a:r>
              <a:rPr lang="en-US" dirty="0"/>
              <a:t>Agglomerate</a:t>
            </a:r>
          </a:p>
          <a:p>
            <a:r>
              <a:rPr lang="en-US" dirty="0"/>
              <a:t>DBSCAN </a:t>
            </a:r>
            <a:endParaRPr lang="en-IN" dirty="0"/>
          </a:p>
        </p:txBody>
      </p:sp>
      <p:sp>
        <p:nvSpPr>
          <p:cNvPr id="9" name="TextBox 8">
            <a:extLst>
              <a:ext uri="{FF2B5EF4-FFF2-40B4-BE49-F238E27FC236}">
                <a16:creationId xmlns:a16="http://schemas.microsoft.com/office/drawing/2014/main" id="{00F5AA22-4FA7-8340-64CA-F8A9D2C6659B}"/>
              </a:ext>
            </a:extLst>
          </p:cNvPr>
          <p:cNvSpPr txBox="1"/>
          <p:nvPr/>
        </p:nvSpPr>
        <p:spPr>
          <a:xfrm>
            <a:off x="396742" y="4188570"/>
            <a:ext cx="5393455" cy="1754326"/>
          </a:xfrm>
          <a:prstGeom prst="rect">
            <a:avLst/>
          </a:prstGeom>
          <a:noFill/>
        </p:spPr>
        <p:txBody>
          <a:bodyPr wrap="square">
            <a:spAutoFit/>
          </a:bodyPr>
          <a:lstStyle/>
          <a:p>
            <a:r>
              <a:rPr lang="en-US" b="1" dirty="0"/>
              <a:t>Hyperparameters</a:t>
            </a:r>
          </a:p>
          <a:p>
            <a:r>
              <a:rPr lang="en-US" dirty="0"/>
              <a:t>K-Means: </a:t>
            </a:r>
            <a:r>
              <a:rPr lang="en-US" dirty="0" err="1"/>
              <a:t>n_clusters</a:t>
            </a:r>
            <a:r>
              <a:rPr lang="en-US" dirty="0"/>
              <a:t>=3, </a:t>
            </a:r>
            <a:r>
              <a:rPr lang="en-US" dirty="0" err="1"/>
              <a:t>init</a:t>
            </a:r>
            <a:r>
              <a:rPr lang="en-US" dirty="0"/>
              <a:t>='k-means++', </a:t>
            </a:r>
            <a:r>
              <a:rPr lang="en-US" dirty="0" err="1"/>
              <a:t>n_init</a:t>
            </a:r>
            <a:r>
              <a:rPr lang="en-US" dirty="0"/>
              <a:t>=10, </a:t>
            </a:r>
            <a:r>
              <a:rPr lang="en-US" dirty="0" err="1"/>
              <a:t>random_state</a:t>
            </a:r>
            <a:r>
              <a:rPr lang="en-US" dirty="0"/>
              <a:t>=42</a:t>
            </a:r>
          </a:p>
          <a:p>
            <a:r>
              <a:rPr lang="en-US" dirty="0"/>
              <a:t>Hierarchical: Default</a:t>
            </a:r>
          </a:p>
          <a:p>
            <a:r>
              <a:rPr lang="en-US" dirty="0"/>
              <a:t>DBSCAN: Default</a:t>
            </a:r>
          </a:p>
          <a:p>
            <a:endParaRPr lang="en-US" dirty="0"/>
          </a:p>
        </p:txBody>
      </p:sp>
    </p:spTree>
    <p:extLst>
      <p:ext uri="{BB962C8B-B14F-4D97-AF65-F5344CB8AC3E}">
        <p14:creationId xmlns:p14="http://schemas.microsoft.com/office/powerpoint/2010/main" val="5587915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PlaceHolder 1"/>
          <p:cNvSpPr>
            <a:spLocks noGrp="1"/>
          </p:cNvSpPr>
          <p:nvPr>
            <p:ph type="title"/>
          </p:nvPr>
        </p:nvSpPr>
        <p:spPr>
          <a:xfrm>
            <a:off x="1097280" y="286560"/>
            <a:ext cx="10058040" cy="1450440"/>
          </a:xfrm>
          <a:prstGeom prst="rect">
            <a:avLst/>
          </a:prstGeom>
          <a:noFill/>
          <a:ln w="0">
            <a:noFill/>
          </a:ln>
        </p:spPr>
        <p:txBody>
          <a:bodyPr anchor="b">
            <a:normAutofit/>
          </a:bodyPr>
          <a:lstStyle/>
          <a:p>
            <a:pPr>
              <a:lnSpc>
                <a:spcPct val="85000"/>
              </a:lnSpc>
              <a:buNone/>
            </a:pPr>
            <a:r>
              <a:rPr lang="en-US" sz="4800" b="0" strike="noStrike" spc="-52" dirty="0">
                <a:solidFill>
                  <a:srgbClr val="404040"/>
                </a:solidFill>
                <a:latin typeface="Bahnschrift"/>
              </a:rPr>
              <a:t>12. Result Analysis – Dataset 3</a:t>
            </a:r>
            <a:r>
              <a:rPr lang="en-IN" sz="4800" b="0" strike="noStrike" spc="-52" dirty="0">
                <a:solidFill>
                  <a:srgbClr val="404040"/>
                </a:solidFill>
                <a:latin typeface="Bahnschrift"/>
              </a:rPr>
              <a:t> (if classification)</a:t>
            </a:r>
            <a:endParaRPr lang="en-US" sz="4800" b="0" strike="noStrike" spc="-1" dirty="0">
              <a:solidFill>
                <a:srgbClr val="000000"/>
              </a:solidFill>
              <a:latin typeface="Bahnschrift Light SemiCondensed"/>
            </a:endParaRPr>
          </a:p>
        </p:txBody>
      </p:sp>
      <p:sp>
        <p:nvSpPr>
          <p:cNvPr id="126" name="PlaceHolder 2"/>
          <p:cNvSpPr>
            <a:spLocks noGrp="1"/>
          </p:cNvSpPr>
          <p:nvPr>
            <p:ph/>
          </p:nvPr>
        </p:nvSpPr>
        <p:spPr>
          <a:xfrm>
            <a:off x="1097280" y="1809720"/>
            <a:ext cx="6642720" cy="4023000"/>
          </a:xfrm>
          <a:prstGeom prst="rect">
            <a:avLst/>
          </a:prstGeom>
          <a:noFill/>
          <a:ln w="0">
            <a:noFill/>
          </a:ln>
        </p:spPr>
        <p:txBody>
          <a:bodyPr lIns="0" rIns="0" anchor="t">
            <a:noAutofit/>
          </a:bodyPr>
          <a:lstStyle/>
          <a:p>
            <a:pPr>
              <a:lnSpc>
                <a:spcPct val="90000"/>
              </a:lnSpc>
              <a:spcBef>
                <a:spcPts val="1417"/>
              </a:spcBef>
              <a:buNone/>
            </a:pPr>
            <a:endParaRPr lang="en-US" sz="2000" b="0" strike="noStrike" spc="-1">
              <a:solidFill>
                <a:srgbClr val="404040"/>
              </a:solidFill>
              <a:latin typeface="Bahnschrift Light SemiCondensed"/>
            </a:endParaRPr>
          </a:p>
        </p:txBody>
      </p:sp>
      <p:pic>
        <p:nvPicPr>
          <p:cNvPr id="127" name="Picture 126"/>
          <p:cNvPicPr/>
          <p:nvPr/>
        </p:nvPicPr>
        <p:blipFill>
          <a:blip r:embed="rId2"/>
          <a:stretch/>
        </p:blipFill>
        <p:spPr>
          <a:xfrm>
            <a:off x="540000" y="1737000"/>
            <a:ext cx="7200000" cy="4500000"/>
          </a:xfrm>
          <a:prstGeom prst="rect">
            <a:avLst/>
          </a:prstGeom>
          <a:ln w="0">
            <a:noFill/>
          </a:ln>
        </p:spPr>
      </p:pic>
      <p:sp>
        <p:nvSpPr>
          <p:cNvPr id="128" name="TextBox 127"/>
          <p:cNvSpPr txBox="1"/>
          <p:nvPr/>
        </p:nvSpPr>
        <p:spPr>
          <a:xfrm>
            <a:off x="7760880" y="1816200"/>
            <a:ext cx="4801680" cy="2138040"/>
          </a:xfrm>
          <a:prstGeom prst="rect">
            <a:avLst/>
          </a:prstGeom>
          <a:noFill/>
          <a:ln w="0">
            <a:noFill/>
          </a:ln>
        </p:spPr>
        <p:txBody>
          <a:bodyPr lIns="90000" tIns="45000" rIns="90000" bIns="45000" anchor="t">
            <a:noAutofit/>
          </a:bodyPr>
          <a:lstStyle/>
          <a:p>
            <a:r>
              <a:rPr lang="en-IN" sz="1800" b="0" strike="noStrike" spc="-1" dirty="0">
                <a:latin typeface="Arial"/>
              </a:rPr>
              <a:t>Internal clustering metric</a:t>
            </a:r>
            <a:br>
              <a:rPr sz="1800" dirty="0"/>
            </a:br>
            <a:endParaRPr lang="en-IN" sz="1800" b="0" strike="noStrike" spc="-1" dirty="0">
              <a:latin typeface="Arial"/>
            </a:endParaRPr>
          </a:p>
          <a:p>
            <a:endParaRPr lang="en-IN" sz="1800" b="0" strike="noStrike" spc="-1" dirty="0">
              <a:latin typeface="Arial"/>
            </a:endParaRPr>
          </a:p>
          <a:p>
            <a:r>
              <a:rPr lang="en-IN" sz="1800" b="0" strike="noStrike" spc="-1" dirty="0">
                <a:latin typeface="Arial"/>
              </a:rPr>
              <a:t>Silhouette Score (range −1 to 1): higher is better.</a:t>
            </a:r>
          </a:p>
          <a:p>
            <a:r>
              <a:rPr lang="en-IN" sz="1800" b="0" strike="noStrike" spc="-1" dirty="0">
                <a:latin typeface="Arial"/>
              </a:rPr>
              <a:t>– K-Means (3 clusters): 0.548</a:t>
            </a:r>
          </a:p>
          <a:p>
            <a:r>
              <a:rPr lang="en-IN" sz="1800" b="0" strike="noStrike" spc="-1" dirty="0">
                <a:latin typeface="Arial"/>
              </a:rPr>
              <a:t>– Hierarchical (3 clusters): 0.265</a:t>
            </a:r>
          </a:p>
          <a:p>
            <a:r>
              <a:rPr lang="en-IN" sz="1800" b="0" strike="noStrike" spc="-1" dirty="0">
                <a:latin typeface="Arial"/>
              </a:rPr>
              <a:t>– DBSCAN: 0.196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PlaceHolder 1"/>
          <p:cNvSpPr>
            <a:spLocks noGrp="1"/>
          </p:cNvSpPr>
          <p:nvPr>
            <p:ph type="title"/>
          </p:nvPr>
        </p:nvSpPr>
        <p:spPr>
          <a:xfrm>
            <a:off x="0" y="0"/>
            <a:ext cx="8988120" cy="868500"/>
          </a:xfrm>
          <a:prstGeom prst="rect">
            <a:avLst/>
          </a:prstGeom>
          <a:noFill/>
          <a:ln w="0">
            <a:noFill/>
          </a:ln>
        </p:spPr>
        <p:txBody>
          <a:bodyPr anchor="b">
            <a:noAutofit/>
          </a:bodyPr>
          <a:lstStyle/>
          <a:p>
            <a:pPr>
              <a:lnSpc>
                <a:spcPct val="85000"/>
              </a:lnSpc>
              <a:buNone/>
            </a:pPr>
            <a:r>
              <a:rPr lang="en-IN" sz="4800" b="0" strike="noStrike" spc="-52" dirty="0">
                <a:solidFill>
                  <a:srgbClr val="404040"/>
                </a:solidFill>
                <a:latin typeface="Bahnschrift"/>
              </a:rPr>
              <a:t>13. Interpretation of Results</a:t>
            </a:r>
            <a:endParaRPr lang="en-US" sz="4800" b="0" strike="noStrike" spc="-1" dirty="0">
              <a:solidFill>
                <a:srgbClr val="000000"/>
              </a:solidFill>
              <a:latin typeface="Bahnschrift Light SemiCondensed"/>
            </a:endParaRPr>
          </a:p>
        </p:txBody>
      </p:sp>
      <p:pic>
        <p:nvPicPr>
          <p:cNvPr id="130" name="Picture 129"/>
          <p:cNvPicPr/>
          <p:nvPr/>
        </p:nvPicPr>
        <p:blipFill>
          <a:blip r:embed="rId2"/>
          <a:stretch/>
        </p:blipFill>
        <p:spPr>
          <a:xfrm>
            <a:off x="180000" y="1737000"/>
            <a:ext cx="5966280" cy="4581000"/>
          </a:xfrm>
          <a:prstGeom prst="rect">
            <a:avLst/>
          </a:prstGeom>
          <a:ln w="0">
            <a:noFill/>
          </a:ln>
        </p:spPr>
      </p:pic>
      <p:sp>
        <p:nvSpPr>
          <p:cNvPr id="131" name="TextBox 130"/>
          <p:cNvSpPr txBox="1"/>
          <p:nvPr/>
        </p:nvSpPr>
        <p:spPr>
          <a:xfrm>
            <a:off x="7051909" y="704250"/>
            <a:ext cx="5140091" cy="5449500"/>
          </a:xfrm>
          <a:prstGeom prst="rect">
            <a:avLst/>
          </a:prstGeom>
          <a:noFill/>
          <a:ln w="0">
            <a:noFill/>
          </a:ln>
        </p:spPr>
        <p:txBody>
          <a:bodyPr lIns="90000" tIns="45000" rIns="90000" bIns="45000" anchor="t">
            <a:noAutofit/>
          </a:bodyPr>
          <a:lstStyle/>
          <a:p>
            <a:pPr>
              <a:lnSpc>
                <a:spcPct val="150000"/>
              </a:lnSpc>
              <a:buNone/>
            </a:pPr>
            <a:r>
              <a:rPr lang="en-IN" sz="1600" b="0" strike="noStrike" spc="-1" dirty="0">
                <a:latin typeface="Arial"/>
              </a:rPr>
              <a:t>Each small line at the bottom is one customer.</a:t>
            </a:r>
            <a:endParaRPr lang="en-IN" sz="1600" b="0" strike="noStrike" spc="-1" dirty="0">
              <a:latin typeface="Arial"/>
              <a:ea typeface="Noto Sans CJK SC"/>
            </a:endParaRPr>
          </a:p>
          <a:p>
            <a:endParaRPr lang="en-IN" sz="1600" b="0" strike="noStrike" spc="-1" dirty="0">
              <a:latin typeface="Arial"/>
            </a:endParaRPr>
          </a:p>
          <a:p>
            <a:r>
              <a:rPr lang="en-IN" sz="1600" b="0" strike="noStrike" spc="-1" dirty="0">
                <a:latin typeface="Arial"/>
              </a:rPr>
              <a:t>As we go upwards, similar customers join together to form bigger clusters.</a:t>
            </a:r>
          </a:p>
          <a:p>
            <a:endParaRPr lang="en-IN" sz="1600" b="0" strike="noStrike" spc="-1" dirty="0">
              <a:latin typeface="Arial"/>
            </a:endParaRPr>
          </a:p>
          <a:p>
            <a:r>
              <a:rPr lang="en-IN" sz="1600" b="0" strike="noStrike" spc="-1" dirty="0">
                <a:latin typeface="Arial"/>
              </a:rPr>
              <a:t>The height of the vertical line shows how different the two groups are</a:t>
            </a:r>
          </a:p>
          <a:p>
            <a:r>
              <a:rPr lang="en-IN" sz="1600" b="0" strike="noStrike" spc="-1" dirty="0">
                <a:latin typeface="Arial"/>
              </a:rPr>
              <a:t>(higher line = more dissimilar groups).</a:t>
            </a:r>
          </a:p>
          <a:p>
            <a:endParaRPr lang="en-IN" sz="1600" b="0" strike="noStrike" spc="-1" dirty="0">
              <a:latin typeface="Arial"/>
            </a:endParaRPr>
          </a:p>
          <a:p>
            <a:r>
              <a:rPr lang="en-IN" sz="1600" b="0" strike="noStrike" spc="-1" dirty="0">
                <a:latin typeface="Arial"/>
              </a:rPr>
              <a:t>I draw a red dashed horizontal line at height ≈ 20.</a:t>
            </a:r>
          </a:p>
          <a:p>
            <a:endParaRPr lang="en-IN" sz="1600" b="0" strike="noStrike" spc="-1" dirty="0">
              <a:latin typeface="Arial"/>
            </a:endParaRPr>
          </a:p>
          <a:p>
            <a:r>
              <a:rPr lang="en-IN" sz="1600" b="0" strike="noStrike" spc="-1" dirty="0">
                <a:latin typeface="Arial"/>
              </a:rPr>
              <a:t>When we cut the tree at this level, the dendrogram splits into 3 big branches.</a:t>
            </a:r>
          </a:p>
          <a:p>
            <a:endParaRPr lang="en-IN" sz="1600" b="0" strike="noStrike" spc="-1" dirty="0">
              <a:latin typeface="Arial"/>
            </a:endParaRPr>
          </a:p>
          <a:p>
            <a:r>
              <a:rPr lang="en-IN" sz="1600" b="0" strike="noStrike" spc="-1" dirty="0">
                <a:latin typeface="Arial"/>
              </a:rPr>
              <a:t>So, the dendrogram suggests that 3 natural clusters exist in this dataset.</a:t>
            </a:r>
          </a:p>
          <a:p>
            <a:endParaRPr lang="en-IN" sz="1600" b="0" strike="noStrike" spc="-1" dirty="0">
              <a:latin typeface="Arial"/>
            </a:endParaRPr>
          </a:p>
          <a:p>
            <a:r>
              <a:rPr lang="en-IN" sz="1600" b="0" strike="noStrike" spc="-1" dirty="0">
                <a:latin typeface="Arial"/>
              </a:rPr>
              <a:t>This matches my K-Means result with 3 clusters,</a:t>
            </a:r>
          </a:p>
          <a:p>
            <a:r>
              <a:rPr lang="en-IN" sz="1600" b="0" strike="noStrike" spc="-1" dirty="0">
                <a:latin typeface="Arial"/>
              </a:rPr>
              <a:t>which also had the best Silhouette Score (~0.55).</a:t>
            </a:r>
          </a:p>
          <a:p>
            <a:endParaRPr lang="en-IN" sz="1600" b="0" strike="noStrike" spc="-1" dirty="0">
              <a:latin typeface="Arial"/>
            </a:endParaRPr>
          </a:p>
          <a:p>
            <a:r>
              <a:rPr lang="en-IN" sz="1600" b="0" strike="noStrike" spc="-1" dirty="0">
                <a:latin typeface="Arial"/>
              </a:rPr>
              <a:t>Therefore, 3 clusters is a good choice, and the groups are meaningful customer segments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A6D9C-F213-FFD7-2F54-2199D4BE5D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F5A117-168B-8BF9-2C40-A815A7B55E17}"/>
              </a:ext>
            </a:extLst>
          </p:cNvPr>
          <p:cNvSpPr>
            <a:spLocks noGrp="1"/>
          </p:cNvSpPr>
          <p:nvPr>
            <p:ph type="title"/>
          </p:nvPr>
        </p:nvSpPr>
        <p:spPr/>
        <p:txBody>
          <a:bodyPr/>
          <a:lstStyle/>
          <a:p>
            <a:r>
              <a:rPr lang="en-US" dirty="0"/>
              <a:t>14</a:t>
            </a:r>
            <a:r>
              <a:rPr dirty="0"/>
              <a:t>. Dataset </a:t>
            </a:r>
            <a:r>
              <a:rPr lang="en-US" dirty="0"/>
              <a:t>4</a:t>
            </a:r>
            <a:r>
              <a:rPr dirty="0"/>
              <a:t> – Description</a:t>
            </a:r>
          </a:p>
        </p:txBody>
      </p:sp>
      <p:sp>
        <p:nvSpPr>
          <p:cNvPr id="3" name="Content Placeholder 2">
            <a:extLst>
              <a:ext uri="{FF2B5EF4-FFF2-40B4-BE49-F238E27FC236}">
                <a16:creationId xmlns:a16="http://schemas.microsoft.com/office/drawing/2014/main" id="{282DB29D-657C-C059-A831-CE5C11239349}"/>
              </a:ext>
            </a:extLst>
          </p:cNvPr>
          <p:cNvSpPr>
            <a:spLocks noGrp="1"/>
          </p:cNvSpPr>
          <p:nvPr>
            <p:ph idx="1"/>
          </p:nvPr>
        </p:nvSpPr>
        <p:spPr/>
        <p:txBody>
          <a:bodyPr>
            <a:normAutofit/>
          </a:bodyPr>
          <a:lstStyle/>
          <a:p>
            <a:r>
              <a:rPr dirty="0"/>
              <a:t>Source </a:t>
            </a:r>
            <a:r>
              <a:rPr lang="en-US" dirty="0"/>
              <a:t>: UCI (https://archive.ics.uci.edu/dataset/468/online+shoppers+purchasing+intention+dataset)</a:t>
            </a:r>
            <a:endParaRPr dirty="0"/>
          </a:p>
          <a:p>
            <a:r>
              <a:rPr dirty="0"/>
              <a:t>Number of samples and features</a:t>
            </a:r>
            <a:r>
              <a:rPr lang="en-US" dirty="0"/>
              <a:t> ; </a:t>
            </a:r>
            <a:r>
              <a:rPr dirty="0"/>
              <a:t>Feature descriptions</a:t>
            </a:r>
            <a:r>
              <a:rPr lang="en-US" dirty="0"/>
              <a:t> </a:t>
            </a:r>
          </a:p>
          <a:p>
            <a:endParaRPr lang="en-US" dirty="0"/>
          </a:p>
          <a:p>
            <a:endParaRPr lang="en-US" dirty="0"/>
          </a:p>
          <a:p>
            <a:r>
              <a:rPr lang="en-IN" dirty="0"/>
              <a:t>Feature descriptions : </a:t>
            </a:r>
            <a:r>
              <a:rPr lang="en-US" dirty="0"/>
              <a:t>A single user session on the website, tracking navigation patterns, page views, and whether the visit resulted in a transaction.</a:t>
            </a:r>
          </a:p>
          <a:p>
            <a:r>
              <a:rPr lang="en-US" dirty="0"/>
              <a:t>Preprocessing steps : data cleaning{removed duplicates}, encoding {label encoder}, normalization {standard scaler}</a:t>
            </a:r>
          </a:p>
          <a:p>
            <a:r>
              <a:rPr dirty="0"/>
              <a:t>Train–test split details</a:t>
            </a:r>
            <a:r>
              <a:rPr lang="en-US" dirty="0"/>
              <a:t> : </a:t>
            </a:r>
            <a:r>
              <a:rPr lang="en-IN" dirty="0"/>
              <a:t>70:30 train test split, random state 42</a:t>
            </a:r>
            <a:endParaRPr dirty="0"/>
          </a:p>
        </p:txBody>
      </p:sp>
      <p:pic>
        <p:nvPicPr>
          <p:cNvPr id="5" name="Picture 4">
            <a:extLst>
              <a:ext uri="{FF2B5EF4-FFF2-40B4-BE49-F238E27FC236}">
                <a16:creationId xmlns:a16="http://schemas.microsoft.com/office/drawing/2014/main" id="{DF04CF0D-029B-2813-C21A-49AC68CEA6F2}"/>
              </a:ext>
            </a:extLst>
          </p:cNvPr>
          <p:cNvPicPr>
            <a:picLocks noChangeAspect="1"/>
          </p:cNvPicPr>
          <p:nvPr/>
        </p:nvPicPr>
        <p:blipFill>
          <a:blip r:embed="rId2"/>
          <a:stretch>
            <a:fillRect/>
          </a:stretch>
        </p:blipFill>
        <p:spPr>
          <a:xfrm>
            <a:off x="1097280" y="2811727"/>
            <a:ext cx="6957663" cy="617273"/>
          </a:xfrm>
          <a:prstGeom prst="rect">
            <a:avLst/>
          </a:prstGeom>
        </p:spPr>
      </p:pic>
    </p:spTree>
    <p:extLst>
      <p:ext uri="{BB962C8B-B14F-4D97-AF65-F5344CB8AC3E}">
        <p14:creationId xmlns:p14="http://schemas.microsoft.com/office/powerpoint/2010/main" val="18082338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3A4C7-53EA-A8EE-1B41-5E3AF48092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AFA0B4-3543-902D-EB66-F69810D46232}"/>
              </a:ext>
            </a:extLst>
          </p:cNvPr>
          <p:cNvSpPr>
            <a:spLocks noGrp="1"/>
          </p:cNvSpPr>
          <p:nvPr>
            <p:ph type="title"/>
          </p:nvPr>
        </p:nvSpPr>
        <p:spPr/>
        <p:txBody>
          <a:bodyPr/>
          <a:lstStyle/>
          <a:p>
            <a:r>
              <a:rPr lang="en-US" dirty="0"/>
              <a:t>15</a:t>
            </a:r>
            <a:r>
              <a:rPr dirty="0"/>
              <a:t>. Models Used for Dataset </a:t>
            </a:r>
            <a:r>
              <a:rPr lang="en-US" dirty="0"/>
              <a:t>4</a:t>
            </a:r>
            <a:endParaRPr dirty="0"/>
          </a:p>
        </p:txBody>
      </p:sp>
      <p:sp>
        <p:nvSpPr>
          <p:cNvPr id="3" name="Content Placeholder 2">
            <a:extLst>
              <a:ext uri="{FF2B5EF4-FFF2-40B4-BE49-F238E27FC236}">
                <a16:creationId xmlns:a16="http://schemas.microsoft.com/office/drawing/2014/main" id="{0D46CA3B-8F3C-E05B-D85D-A131750410F0}"/>
              </a:ext>
            </a:extLst>
          </p:cNvPr>
          <p:cNvSpPr>
            <a:spLocks noGrp="1"/>
          </p:cNvSpPr>
          <p:nvPr>
            <p:ph idx="1"/>
          </p:nvPr>
        </p:nvSpPr>
        <p:spPr>
          <a:xfrm>
            <a:off x="451587" y="2066965"/>
            <a:ext cx="5218698" cy="1754325"/>
          </a:xfrm>
        </p:spPr>
        <p:txBody>
          <a:bodyPr>
            <a:normAutofit fontScale="92500" lnSpcReduction="20000"/>
          </a:bodyPr>
          <a:lstStyle/>
          <a:p>
            <a:r>
              <a:rPr lang="en-US" b="1" dirty="0"/>
              <a:t>List of Models Applied:</a:t>
            </a:r>
          </a:p>
          <a:p>
            <a:r>
              <a:rPr lang="en-US" dirty="0"/>
              <a:t>Principal Component Analysis (PCA)</a:t>
            </a:r>
          </a:p>
          <a:p>
            <a:r>
              <a:rPr lang="en-US" dirty="0"/>
              <a:t>Linear Discriminant Analysis (LDA)</a:t>
            </a:r>
          </a:p>
          <a:p>
            <a:r>
              <a:rPr lang="en-US" dirty="0"/>
              <a:t>Logistic Regression (wrapped in Sequential Feature Selection)</a:t>
            </a:r>
            <a:endParaRPr dirty="0"/>
          </a:p>
        </p:txBody>
      </p:sp>
      <p:sp>
        <p:nvSpPr>
          <p:cNvPr id="5" name="TextBox 4">
            <a:extLst>
              <a:ext uri="{FF2B5EF4-FFF2-40B4-BE49-F238E27FC236}">
                <a16:creationId xmlns:a16="http://schemas.microsoft.com/office/drawing/2014/main" id="{C4D0E98C-48C8-B049-9260-29A75BB6202B}"/>
              </a:ext>
            </a:extLst>
          </p:cNvPr>
          <p:cNvSpPr txBox="1"/>
          <p:nvPr/>
        </p:nvSpPr>
        <p:spPr>
          <a:xfrm>
            <a:off x="339892" y="4150895"/>
            <a:ext cx="5330393" cy="1754326"/>
          </a:xfrm>
          <a:prstGeom prst="rect">
            <a:avLst/>
          </a:prstGeom>
          <a:noFill/>
        </p:spPr>
        <p:txBody>
          <a:bodyPr wrap="square">
            <a:spAutoFit/>
          </a:bodyPr>
          <a:lstStyle/>
          <a:p>
            <a:r>
              <a:rPr lang="en-IN" b="1" dirty="0"/>
              <a:t>Hyperparameters:</a:t>
            </a:r>
          </a:p>
          <a:p>
            <a:r>
              <a:rPr lang="en-IN" dirty="0"/>
              <a:t>PCA: </a:t>
            </a:r>
            <a:r>
              <a:rPr lang="en-IN" dirty="0" err="1"/>
              <a:t>n_components</a:t>
            </a:r>
            <a:r>
              <a:rPr lang="en-IN" dirty="0"/>
              <a:t>=2 (for 2D visualization).</a:t>
            </a:r>
          </a:p>
          <a:p>
            <a:r>
              <a:rPr lang="en-IN" dirty="0"/>
              <a:t>LDA: </a:t>
            </a:r>
            <a:r>
              <a:rPr lang="en-IN" dirty="0" err="1"/>
              <a:t>n_components</a:t>
            </a:r>
            <a:r>
              <a:rPr lang="en-IN" dirty="0"/>
              <a:t>=1 (optimal for binary classification).</a:t>
            </a:r>
          </a:p>
          <a:p>
            <a:r>
              <a:rPr lang="en-IN" dirty="0"/>
              <a:t>Logistic Regression: </a:t>
            </a:r>
            <a:r>
              <a:rPr lang="en-IN" dirty="0" err="1"/>
              <a:t>max_iter</a:t>
            </a:r>
            <a:r>
              <a:rPr lang="en-IN" dirty="0"/>
              <a:t>=1000, </a:t>
            </a:r>
            <a:r>
              <a:rPr lang="en-IN" dirty="0" err="1"/>
              <a:t>random_state</a:t>
            </a:r>
            <a:r>
              <a:rPr lang="en-IN" dirty="0"/>
              <a:t>=42.</a:t>
            </a:r>
          </a:p>
          <a:p>
            <a:r>
              <a:rPr lang="en-IN" dirty="0"/>
              <a:t>Feature Selection: </a:t>
            </a:r>
            <a:r>
              <a:rPr lang="en-IN" dirty="0" err="1"/>
              <a:t>n_features_to_select</a:t>
            </a:r>
            <a:r>
              <a:rPr lang="en-IN" dirty="0"/>
              <a:t>=5, direction='forward'.</a:t>
            </a:r>
          </a:p>
        </p:txBody>
      </p:sp>
      <p:sp>
        <p:nvSpPr>
          <p:cNvPr id="6" name="TextBox 5">
            <a:extLst>
              <a:ext uri="{FF2B5EF4-FFF2-40B4-BE49-F238E27FC236}">
                <a16:creationId xmlns:a16="http://schemas.microsoft.com/office/drawing/2014/main" id="{A5CA0AB7-3A1A-62A1-177C-818CC6F1439A}"/>
              </a:ext>
            </a:extLst>
          </p:cNvPr>
          <p:cNvSpPr txBox="1"/>
          <p:nvPr/>
        </p:nvSpPr>
        <p:spPr>
          <a:xfrm>
            <a:off x="5876925" y="4150895"/>
            <a:ext cx="5856371" cy="646331"/>
          </a:xfrm>
          <a:prstGeom prst="rect">
            <a:avLst/>
          </a:prstGeom>
          <a:noFill/>
        </p:spPr>
        <p:txBody>
          <a:bodyPr wrap="square">
            <a:spAutoFit/>
          </a:bodyPr>
          <a:lstStyle/>
          <a:p>
            <a:r>
              <a:rPr lang="en-IN" b="1" dirty="0"/>
              <a:t>Frameworks used:</a:t>
            </a:r>
          </a:p>
          <a:p>
            <a:r>
              <a:rPr lang="en-IN" dirty="0"/>
              <a:t>Python, scikit-learn, pandas, matplotlib</a:t>
            </a:r>
          </a:p>
        </p:txBody>
      </p:sp>
      <p:sp>
        <p:nvSpPr>
          <p:cNvPr id="8" name="TextBox 7">
            <a:extLst>
              <a:ext uri="{FF2B5EF4-FFF2-40B4-BE49-F238E27FC236}">
                <a16:creationId xmlns:a16="http://schemas.microsoft.com/office/drawing/2014/main" id="{8802B2BC-AB39-60FE-96C8-F8D14DAA1870}"/>
              </a:ext>
            </a:extLst>
          </p:cNvPr>
          <p:cNvSpPr txBox="1"/>
          <p:nvPr/>
        </p:nvSpPr>
        <p:spPr>
          <a:xfrm>
            <a:off x="5876925" y="2066965"/>
            <a:ext cx="6093994" cy="2031325"/>
          </a:xfrm>
          <a:prstGeom prst="rect">
            <a:avLst/>
          </a:prstGeom>
          <a:noFill/>
        </p:spPr>
        <p:txBody>
          <a:bodyPr wrap="square">
            <a:spAutoFit/>
          </a:bodyPr>
          <a:lstStyle/>
          <a:p>
            <a:r>
              <a:rPr lang="en-IN" b="1" dirty="0"/>
              <a:t>Reason for Choosing Each Model:</a:t>
            </a:r>
          </a:p>
          <a:p>
            <a:r>
              <a:rPr lang="en-IN" dirty="0"/>
              <a:t>PCA: Unsupervised reduction to minimize features while retaining 95% of data variance.</a:t>
            </a:r>
          </a:p>
          <a:p>
            <a:r>
              <a:rPr lang="en-IN" dirty="0"/>
              <a:t>LDA: Supervised reduction to project data onto a lower-dimensional space that maximizes class separation.</a:t>
            </a:r>
          </a:p>
          <a:p>
            <a:r>
              <a:rPr lang="en-IN" dirty="0"/>
              <a:t>Logistic Regression: Robust baseline classifier used to evaluate and select the most significant features.</a:t>
            </a:r>
          </a:p>
        </p:txBody>
      </p:sp>
    </p:spTree>
    <p:extLst>
      <p:ext uri="{BB962C8B-B14F-4D97-AF65-F5344CB8AC3E}">
        <p14:creationId xmlns:p14="http://schemas.microsoft.com/office/powerpoint/2010/main" val="9237759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7C17A2-F8E9-899B-5C9D-28E04ABD0B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3186C-65C6-60D8-9A8E-6A8004F1D1C0}"/>
              </a:ext>
            </a:extLst>
          </p:cNvPr>
          <p:cNvSpPr>
            <a:spLocks noGrp="1"/>
          </p:cNvSpPr>
          <p:nvPr>
            <p:ph type="title"/>
          </p:nvPr>
        </p:nvSpPr>
        <p:spPr/>
        <p:txBody>
          <a:bodyPr>
            <a:normAutofit/>
          </a:bodyPr>
          <a:lstStyle/>
          <a:p>
            <a:r>
              <a:rPr lang="en-US" dirty="0"/>
              <a:t>16</a:t>
            </a:r>
            <a:r>
              <a:rPr dirty="0"/>
              <a:t>. Result Analysis – Dataset </a:t>
            </a:r>
            <a:r>
              <a:rPr lang="en-US" dirty="0"/>
              <a:t>4</a:t>
            </a:r>
            <a:r>
              <a:rPr lang="en-IN" dirty="0"/>
              <a:t> (if classification)</a:t>
            </a:r>
            <a:endParaRPr dirty="0"/>
          </a:p>
        </p:txBody>
      </p:sp>
      <p:pic>
        <p:nvPicPr>
          <p:cNvPr id="7" name="Picture 6">
            <a:extLst>
              <a:ext uri="{FF2B5EF4-FFF2-40B4-BE49-F238E27FC236}">
                <a16:creationId xmlns:a16="http://schemas.microsoft.com/office/drawing/2014/main" id="{236953EB-C966-D9C7-19C8-2B85A92B6C7D}"/>
              </a:ext>
            </a:extLst>
          </p:cNvPr>
          <p:cNvPicPr>
            <a:picLocks noChangeAspect="1"/>
          </p:cNvPicPr>
          <p:nvPr/>
        </p:nvPicPr>
        <p:blipFill>
          <a:blip r:embed="rId2"/>
          <a:stretch>
            <a:fillRect/>
          </a:stretch>
        </p:blipFill>
        <p:spPr>
          <a:xfrm>
            <a:off x="0" y="1920563"/>
            <a:ext cx="2912353" cy="3492095"/>
          </a:xfrm>
          <a:prstGeom prst="rect">
            <a:avLst/>
          </a:prstGeom>
        </p:spPr>
      </p:pic>
      <p:pic>
        <p:nvPicPr>
          <p:cNvPr id="9" name="Picture 8">
            <a:extLst>
              <a:ext uri="{FF2B5EF4-FFF2-40B4-BE49-F238E27FC236}">
                <a16:creationId xmlns:a16="http://schemas.microsoft.com/office/drawing/2014/main" id="{4845D6BC-3839-8A1F-D919-5881ACB586D9}"/>
              </a:ext>
            </a:extLst>
          </p:cNvPr>
          <p:cNvPicPr>
            <a:picLocks noChangeAspect="1"/>
          </p:cNvPicPr>
          <p:nvPr/>
        </p:nvPicPr>
        <p:blipFill>
          <a:blip r:embed="rId3"/>
          <a:stretch>
            <a:fillRect/>
          </a:stretch>
        </p:blipFill>
        <p:spPr>
          <a:xfrm>
            <a:off x="3034755" y="1896025"/>
            <a:ext cx="2885730" cy="3499716"/>
          </a:xfrm>
          <a:prstGeom prst="rect">
            <a:avLst/>
          </a:prstGeom>
        </p:spPr>
      </p:pic>
      <p:pic>
        <p:nvPicPr>
          <p:cNvPr id="11" name="Picture 10">
            <a:extLst>
              <a:ext uri="{FF2B5EF4-FFF2-40B4-BE49-F238E27FC236}">
                <a16:creationId xmlns:a16="http://schemas.microsoft.com/office/drawing/2014/main" id="{2A9CC101-4CC1-574D-ED2D-0DA7AB3ACA63}"/>
              </a:ext>
            </a:extLst>
          </p:cNvPr>
          <p:cNvPicPr>
            <a:picLocks noChangeAspect="1"/>
          </p:cNvPicPr>
          <p:nvPr/>
        </p:nvPicPr>
        <p:blipFill>
          <a:blip r:embed="rId4"/>
          <a:stretch>
            <a:fillRect/>
          </a:stretch>
        </p:blipFill>
        <p:spPr>
          <a:xfrm>
            <a:off x="6042887" y="1896025"/>
            <a:ext cx="2991955" cy="3558561"/>
          </a:xfrm>
          <a:prstGeom prst="rect">
            <a:avLst/>
          </a:prstGeom>
        </p:spPr>
      </p:pic>
      <p:pic>
        <p:nvPicPr>
          <p:cNvPr id="13" name="Picture 12">
            <a:extLst>
              <a:ext uri="{FF2B5EF4-FFF2-40B4-BE49-F238E27FC236}">
                <a16:creationId xmlns:a16="http://schemas.microsoft.com/office/drawing/2014/main" id="{9153B7A8-FA89-CF02-C9FF-61E2C41F1E31}"/>
              </a:ext>
            </a:extLst>
          </p:cNvPr>
          <p:cNvPicPr>
            <a:picLocks noChangeAspect="1"/>
          </p:cNvPicPr>
          <p:nvPr/>
        </p:nvPicPr>
        <p:blipFill>
          <a:blip r:embed="rId5"/>
          <a:stretch>
            <a:fillRect/>
          </a:stretch>
        </p:blipFill>
        <p:spPr>
          <a:xfrm>
            <a:off x="9279646" y="1920563"/>
            <a:ext cx="2885730" cy="3509486"/>
          </a:xfrm>
          <a:prstGeom prst="rect">
            <a:avLst/>
          </a:prstGeom>
        </p:spPr>
      </p:pic>
    </p:spTree>
    <p:extLst>
      <p:ext uri="{BB962C8B-B14F-4D97-AF65-F5344CB8AC3E}">
        <p14:creationId xmlns:p14="http://schemas.microsoft.com/office/powerpoint/2010/main" val="19726279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3117E-1161-0A58-03C0-EC45D9DCBE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9D2B49-D75E-72B0-B8A9-38F9F7DCA651}"/>
              </a:ext>
            </a:extLst>
          </p:cNvPr>
          <p:cNvSpPr>
            <a:spLocks noGrp="1"/>
          </p:cNvSpPr>
          <p:nvPr>
            <p:ph type="title"/>
          </p:nvPr>
        </p:nvSpPr>
        <p:spPr/>
        <p:txBody>
          <a:bodyPr/>
          <a:lstStyle/>
          <a:p>
            <a:r>
              <a:rPr lang="en-IN" dirty="0"/>
              <a:t>17. Interpretation of Results</a:t>
            </a:r>
          </a:p>
        </p:txBody>
      </p:sp>
      <p:pic>
        <p:nvPicPr>
          <p:cNvPr id="5" name="Content Placeholder 4">
            <a:extLst>
              <a:ext uri="{FF2B5EF4-FFF2-40B4-BE49-F238E27FC236}">
                <a16:creationId xmlns:a16="http://schemas.microsoft.com/office/drawing/2014/main" id="{87E06CEB-A305-A083-2305-7B8023749E58}"/>
              </a:ext>
            </a:extLst>
          </p:cNvPr>
          <p:cNvPicPr>
            <a:picLocks noGrp="1" noChangeAspect="1"/>
          </p:cNvPicPr>
          <p:nvPr>
            <p:ph idx="1"/>
          </p:nvPr>
        </p:nvPicPr>
        <p:blipFill>
          <a:blip r:embed="rId2"/>
          <a:stretch>
            <a:fillRect/>
          </a:stretch>
        </p:blipFill>
        <p:spPr>
          <a:xfrm>
            <a:off x="2035775" y="2060751"/>
            <a:ext cx="8120449" cy="4022725"/>
          </a:xfrm>
          <a:prstGeom prst="rect">
            <a:avLst/>
          </a:prstGeom>
        </p:spPr>
      </p:pic>
      <p:pic>
        <p:nvPicPr>
          <p:cNvPr id="7" name="Picture 6">
            <a:extLst>
              <a:ext uri="{FF2B5EF4-FFF2-40B4-BE49-F238E27FC236}">
                <a16:creationId xmlns:a16="http://schemas.microsoft.com/office/drawing/2014/main" id="{F433041E-EB48-E1A9-C171-3375FE3D4C69}"/>
              </a:ext>
            </a:extLst>
          </p:cNvPr>
          <p:cNvPicPr>
            <a:picLocks noChangeAspect="1"/>
          </p:cNvPicPr>
          <p:nvPr/>
        </p:nvPicPr>
        <p:blipFill>
          <a:blip r:embed="rId3"/>
          <a:stretch>
            <a:fillRect/>
          </a:stretch>
        </p:blipFill>
        <p:spPr>
          <a:xfrm>
            <a:off x="929148" y="1737360"/>
            <a:ext cx="3520745" cy="883997"/>
          </a:xfrm>
          <a:prstGeom prst="rect">
            <a:avLst/>
          </a:prstGeom>
        </p:spPr>
      </p:pic>
    </p:spTree>
    <p:extLst>
      <p:ext uri="{BB962C8B-B14F-4D97-AF65-F5344CB8AC3E}">
        <p14:creationId xmlns:p14="http://schemas.microsoft.com/office/powerpoint/2010/main" val="12299902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18</a:t>
            </a:r>
            <a:r>
              <a:rPr dirty="0"/>
              <a:t>. Final Comparative Summary</a:t>
            </a:r>
          </a:p>
        </p:txBody>
      </p:sp>
      <p:sp>
        <p:nvSpPr>
          <p:cNvPr id="3" name="Content Placeholder 2"/>
          <p:cNvSpPr>
            <a:spLocks noGrp="1"/>
          </p:cNvSpPr>
          <p:nvPr>
            <p:ph idx="1"/>
          </p:nvPr>
        </p:nvSpPr>
        <p:spPr>
          <a:xfrm>
            <a:off x="249555" y="2102931"/>
            <a:ext cx="4129405" cy="1892300"/>
          </a:xfrm>
        </p:spPr>
        <p:txBody>
          <a:bodyPr>
            <a:normAutofit fontScale="92500" lnSpcReduction="20000"/>
          </a:bodyPr>
          <a:lstStyle/>
          <a:p>
            <a:r>
              <a:rPr lang="en-US" b="1" dirty="0"/>
              <a:t>Best-Performing Models</a:t>
            </a:r>
          </a:p>
          <a:p>
            <a:r>
              <a:rPr lang="en-US" sz="1900" dirty="0"/>
              <a:t>Churn Prediction: Logistic Regression </a:t>
            </a:r>
          </a:p>
          <a:p>
            <a:r>
              <a:rPr lang="en-US" sz="1900" dirty="0"/>
              <a:t>Spending Prediction: Linear Regression </a:t>
            </a:r>
          </a:p>
          <a:p>
            <a:r>
              <a:rPr lang="en-US" sz="1900" dirty="0"/>
              <a:t>Customer Segmentation: K-Means (k=3)</a:t>
            </a:r>
          </a:p>
          <a:p>
            <a:r>
              <a:rPr lang="en-US" sz="1900" dirty="0"/>
              <a:t>Shopper Intent: LDA</a:t>
            </a:r>
          </a:p>
        </p:txBody>
      </p:sp>
      <p:sp>
        <p:nvSpPr>
          <p:cNvPr id="5" name="TextBox 4">
            <a:extLst>
              <a:ext uri="{FF2B5EF4-FFF2-40B4-BE49-F238E27FC236}">
                <a16:creationId xmlns:a16="http://schemas.microsoft.com/office/drawing/2014/main" id="{9BEF5A76-8636-B8B2-692D-645D3450CF59}"/>
              </a:ext>
            </a:extLst>
          </p:cNvPr>
          <p:cNvSpPr txBox="1"/>
          <p:nvPr/>
        </p:nvSpPr>
        <p:spPr>
          <a:xfrm>
            <a:off x="4378960" y="2102931"/>
            <a:ext cx="7563485" cy="2031325"/>
          </a:xfrm>
          <a:prstGeom prst="rect">
            <a:avLst/>
          </a:prstGeom>
          <a:noFill/>
        </p:spPr>
        <p:txBody>
          <a:bodyPr wrap="square">
            <a:spAutoFit/>
          </a:bodyPr>
          <a:lstStyle/>
          <a:p>
            <a:r>
              <a:rPr lang="en-US" b="1" dirty="0"/>
              <a:t>Key Insights Gained</a:t>
            </a:r>
          </a:p>
          <a:p>
            <a:r>
              <a:rPr lang="en-US" dirty="0"/>
              <a:t>Simplicity Wins: In 3 out of 4 tasks, simpler techniques (Linear/Logistic/K-Means) matched or beat complex ones.</a:t>
            </a:r>
          </a:p>
          <a:p>
            <a:r>
              <a:rPr lang="en-US" dirty="0"/>
              <a:t>Power of LDA: Supervised dimensionality reduction compressed data by 17x without losing any predictive power.</a:t>
            </a:r>
          </a:p>
          <a:p>
            <a:r>
              <a:rPr lang="en-US" dirty="0"/>
              <a:t>Cluster Geometry: The Wholesale dataset formed "spherical" clusters (favoring K-Means) rather than the arbitrary shapes required for DBSCAN.</a:t>
            </a:r>
          </a:p>
        </p:txBody>
      </p:sp>
      <p:sp>
        <p:nvSpPr>
          <p:cNvPr id="7" name="Rectangle 2">
            <a:extLst>
              <a:ext uri="{FF2B5EF4-FFF2-40B4-BE49-F238E27FC236}">
                <a16:creationId xmlns:a16="http://schemas.microsoft.com/office/drawing/2014/main" id="{84A7E047-52BA-9F17-4A0A-7BA47E9D0697}"/>
              </a:ext>
            </a:extLst>
          </p:cNvPr>
          <p:cNvSpPr>
            <a:spLocks noChangeArrowheads="1"/>
          </p:cNvSpPr>
          <p:nvPr/>
        </p:nvSpPr>
        <p:spPr bwMode="auto">
          <a:xfrm>
            <a:off x="249554" y="4807830"/>
            <a:ext cx="1169289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600" b="1" i="0" u="none" strike="noStrike" cap="none" normalizeH="0" baseline="0" dirty="0">
                <a:ln>
                  <a:noFill/>
                </a:ln>
                <a:solidFill>
                  <a:schemeClr val="tx1"/>
                </a:solidFill>
                <a:effectLst/>
                <a:latin typeface="Arial" panose="020B0604020202020204" pitchFamily="34" charset="0"/>
              </a:rPr>
              <a:t>Future Improvements</a:t>
            </a:r>
          </a:p>
          <a:p>
            <a:pPr marL="0" marR="0" lvl="0" indent="0" algn="l" defTabSz="914400" rtl="0" eaLnBrk="0" fontAlgn="base" latinLnBrk="0" hangingPunct="0">
              <a:lnSpc>
                <a:spcPct val="100000"/>
              </a:lnSpc>
              <a:spcBef>
                <a:spcPct val="0"/>
              </a:spcBef>
              <a:spcAft>
                <a:spcPct val="0"/>
              </a:spcAft>
              <a:buClrTx/>
              <a:buSzTx/>
              <a:tabLst/>
            </a:pPr>
            <a:r>
              <a:rPr kumimoji="0" lang="en-US" altLang="en-US" sz="1600" i="0" u="none" strike="noStrike" cap="none" normalizeH="0" baseline="0" dirty="0">
                <a:ln>
                  <a:noFill/>
                </a:ln>
                <a:solidFill>
                  <a:schemeClr val="tx1"/>
                </a:solidFill>
                <a:effectLst/>
                <a:latin typeface="Arial" panose="020B0604020202020204" pitchFamily="34" charset="0"/>
              </a:rPr>
              <a:t>Address Imbalance: Implement SMOTE or Class Weights on the Shoppers dataset to improve buyer detection (Recall).</a:t>
            </a:r>
          </a:p>
          <a:p>
            <a:pPr marL="0" marR="0" lvl="0" indent="0" algn="l" defTabSz="914400" rtl="0" eaLnBrk="0" fontAlgn="base" latinLnBrk="0" hangingPunct="0">
              <a:lnSpc>
                <a:spcPct val="100000"/>
              </a:lnSpc>
              <a:spcBef>
                <a:spcPct val="0"/>
              </a:spcBef>
              <a:spcAft>
                <a:spcPct val="0"/>
              </a:spcAft>
              <a:buClrTx/>
              <a:buSzTx/>
              <a:tabLst/>
            </a:pPr>
            <a:r>
              <a:rPr kumimoji="0" lang="en-US" altLang="en-US" sz="1600" i="0" u="none" strike="noStrike" cap="none" normalizeH="0" baseline="0" dirty="0">
                <a:ln>
                  <a:noFill/>
                </a:ln>
                <a:solidFill>
                  <a:schemeClr val="tx1"/>
                </a:solidFill>
                <a:effectLst/>
                <a:latin typeface="Arial" panose="020B0604020202020204" pitchFamily="34" charset="0"/>
              </a:rPr>
              <a:t>Advanced Models: Move beyond linear baselines to Random Forest or </a:t>
            </a:r>
            <a:r>
              <a:rPr kumimoji="0" lang="en-US" altLang="en-US" sz="1600" i="0" u="none" strike="noStrike" cap="none" normalizeH="0" baseline="0" dirty="0" err="1">
                <a:ln>
                  <a:noFill/>
                </a:ln>
                <a:solidFill>
                  <a:schemeClr val="tx1"/>
                </a:solidFill>
                <a:effectLst/>
                <a:latin typeface="Arial" panose="020B0604020202020204" pitchFamily="34" charset="0"/>
              </a:rPr>
              <a:t>XGBoost</a:t>
            </a:r>
            <a:r>
              <a:rPr kumimoji="0" lang="en-US" altLang="en-US" sz="1600" i="0" u="none" strike="noStrike" cap="none" normalizeH="0" baseline="0" dirty="0">
                <a:ln>
                  <a:noFill/>
                </a:ln>
                <a:solidFill>
                  <a:schemeClr val="tx1"/>
                </a:solidFill>
                <a:effectLst/>
                <a:latin typeface="Arial" panose="020B0604020202020204" pitchFamily="34" charset="0"/>
              </a:rPr>
              <a:t> to capture complex non-linear patterns in Churn &amp; Spending.</a:t>
            </a:r>
          </a:p>
          <a:p>
            <a:pPr marL="0" marR="0" lvl="0" indent="0" algn="l" defTabSz="914400" rtl="0" eaLnBrk="0" fontAlgn="base" latinLnBrk="0" hangingPunct="0">
              <a:lnSpc>
                <a:spcPct val="100000"/>
              </a:lnSpc>
              <a:spcBef>
                <a:spcPct val="0"/>
              </a:spcBef>
              <a:spcAft>
                <a:spcPct val="0"/>
              </a:spcAft>
              <a:buClrTx/>
              <a:buSzTx/>
              <a:tabLst/>
            </a:pPr>
            <a:r>
              <a:rPr kumimoji="0" lang="en-US" altLang="en-US" sz="1600" i="0" u="none" strike="noStrike" cap="none" normalizeH="0" baseline="0" dirty="0">
                <a:ln>
                  <a:noFill/>
                </a:ln>
                <a:solidFill>
                  <a:schemeClr val="tx1"/>
                </a:solidFill>
                <a:effectLst/>
                <a:latin typeface="Arial" panose="020B0604020202020204" pitchFamily="34" charset="0"/>
              </a:rPr>
              <a:t>Cluster Tuning: Use </a:t>
            </a:r>
            <a:r>
              <a:rPr kumimoji="0" lang="en-US" altLang="en-US" sz="1600" i="0" u="none" strike="noStrike" cap="none" normalizeH="0" baseline="0" dirty="0" err="1">
                <a:ln>
                  <a:noFill/>
                </a:ln>
                <a:solidFill>
                  <a:schemeClr val="tx1"/>
                </a:solidFill>
                <a:effectLst/>
                <a:latin typeface="Arial" panose="020B0604020202020204" pitchFamily="34" charset="0"/>
              </a:rPr>
              <a:t>GridSearch</a:t>
            </a:r>
            <a:r>
              <a:rPr kumimoji="0" lang="en-US" altLang="en-US" sz="1600" i="0" u="none" strike="noStrike" cap="none" normalizeH="0" baseline="0" dirty="0">
                <a:ln>
                  <a:noFill/>
                </a:ln>
                <a:solidFill>
                  <a:schemeClr val="tx1"/>
                </a:solidFill>
                <a:effectLst/>
                <a:latin typeface="Arial" panose="020B0604020202020204" pitchFamily="34" charset="0"/>
              </a:rPr>
              <a:t> to optimize DBSCAN parameters (epsilon), as the current density settings missed key clusters.</a:t>
            </a:r>
          </a:p>
        </p:txBody>
      </p:sp>
    </p:spTree>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good">
      <a:majorFont>
        <a:latin typeface="Bahnschrift"/>
        <a:ea typeface=""/>
        <a:cs typeface=""/>
      </a:majorFont>
      <a:minorFont>
        <a:latin typeface="Bahnschrift Light SemiCondensed"/>
        <a:ea typeface=""/>
        <a:cs typeface=""/>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
  <TotalTime>1544</TotalTime>
  <Words>1392</Words>
  <Application>Microsoft Office PowerPoint</Application>
  <PresentationFormat>Widescreen</PresentationFormat>
  <Paragraphs>143</Paragraphs>
  <Slides>19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Arial</vt:lpstr>
      <vt:lpstr>Bahnschrift</vt:lpstr>
      <vt:lpstr>Bahnschrift Light SemiCondensed</vt:lpstr>
      <vt:lpstr>Calibri</vt:lpstr>
      <vt:lpstr>Wingdings</vt:lpstr>
      <vt:lpstr>Retrospect</vt:lpstr>
      <vt:lpstr>E-commerce and retail analytics using machine learning techniques  A8</vt:lpstr>
      <vt:lpstr>1. Introduction</vt:lpstr>
      <vt:lpstr>2. Dataset 1 – Description</vt:lpstr>
      <vt:lpstr>3. Models Used for Dataset 1</vt:lpstr>
      <vt:lpstr>8. Result Analysis – Dataset 1</vt:lpstr>
      <vt:lpstr>5. Interpretation of Results</vt:lpstr>
      <vt:lpstr>6. Dataset 2 – Description</vt:lpstr>
      <vt:lpstr>7. Models Used for Dataset 2</vt:lpstr>
      <vt:lpstr>8. Result Analysis – Dataset 2</vt:lpstr>
      <vt:lpstr>9. Interpretation of Results</vt:lpstr>
      <vt:lpstr>10. Dataset 3 – Description</vt:lpstr>
      <vt:lpstr>11. Models Used for Dataset 3</vt:lpstr>
      <vt:lpstr>12. Result Analysis – Dataset 3 (if classification)</vt:lpstr>
      <vt:lpstr>13. Interpretation of Results</vt:lpstr>
      <vt:lpstr>14. Dataset 4 – Description</vt:lpstr>
      <vt:lpstr>15. Models Used for Dataset 4</vt:lpstr>
      <vt:lpstr>16. Result Analysis – Dataset 4 (if classification)</vt:lpstr>
      <vt:lpstr>17. Interpretation of Results</vt:lpstr>
      <vt:lpstr>18. Final Comparative 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Paper Presentation on “DeepPap: deep convolutional networks for cervical cell classification”</dc:title>
  <dc:creator>vinitha Panicker</dc:creator>
  <cp:lastModifiedBy>Prasad Electronics</cp:lastModifiedBy>
  <cp:revision>55</cp:revision>
  <dcterms:created xsi:type="dcterms:W3CDTF">2020-08-24T06:49:48Z</dcterms:created>
  <dcterms:modified xsi:type="dcterms:W3CDTF">2025-11-27T18:46:20Z</dcterms:modified>
</cp:coreProperties>
</file>