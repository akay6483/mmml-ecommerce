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68" r:id="rId3"/>
    <p:sldId id="258" r:id="rId4"/>
    <p:sldId id="259" r:id="rId5"/>
    <p:sldId id="260" r:id="rId6"/>
    <p:sldId id="280" r:id="rId7"/>
    <p:sldId id="270" r:id="rId8"/>
    <p:sldId id="273" r:id="rId9"/>
    <p:sldId id="278" r:id="rId10"/>
    <p:sldId id="281" r:id="rId11"/>
    <p:sldId id="271" r:id="rId12"/>
    <p:sldId id="274" r:id="rId13"/>
    <p:sldId id="276" r:id="rId14"/>
    <p:sldId id="269" r:id="rId15"/>
    <p:sldId id="272" r:id="rId16"/>
    <p:sldId id="275" r:id="rId17"/>
    <p:sldId id="277" r:id="rId18"/>
    <p:sldId id="279" r:id="rId19"/>
    <p:sldId id="26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878" autoAdjust="0"/>
    <p:restoredTop sz="94660"/>
  </p:normalViewPr>
  <p:slideViewPr>
    <p:cSldViewPr snapToGrid="0">
      <p:cViewPr varScale="1">
        <p:scale>
          <a:sx n="52" d="100"/>
          <a:sy n="52" d="100"/>
        </p:scale>
        <p:origin x="53" y="3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EF3F80-4C52-46D4-9D36-C6F3EED98E5F}"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073E4A-4E84-4D73-A121-FB603FCC7256}"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3600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EF3F80-4C52-46D4-9D36-C6F3EED98E5F}"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073E4A-4E84-4D73-A121-FB603FCC7256}" type="slidenum">
              <a:rPr lang="en-IN" smtClean="0"/>
              <a:t>‹#›</a:t>
            </a:fld>
            <a:endParaRPr lang="en-IN"/>
          </a:p>
        </p:txBody>
      </p:sp>
    </p:spTree>
    <p:extLst>
      <p:ext uri="{BB962C8B-B14F-4D97-AF65-F5344CB8AC3E}">
        <p14:creationId xmlns:p14="http://schemas.microsoft.com/office/powerpoint/2010/main" val="3887304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EF3F80-4C52-46D4-9D36-C6F3EED98E5F}"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073E4A-4E84-4D73-A121-FB603FCC7256}"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8348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EF3F80-4C52-46D4-9D36-C6F3EED98E5F}"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073E4A-4E84-4D73-A121-FB603FCC7256}" type="slidenum">
              <a:rPr lang="en-IN" smtClean="0"/>
              <a:t>‹#›</a:t>
            </a:fld>
            <a:endParaRPr lang="en-IN"/>
          </a:p>
        </p:txBody>
      </p:sp>
    </p:spTree>
    <p:extLst>
      <p:ext uri="{BB962C8B-B14F-4D97-AF65-F5344CB8AC3E}">
        <p14:creationId xmlns:p14="http://schemas.microsoft.com/office/powerpoint/2010/main" val="916728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EF3F80-4C52-46D4-9D36-C6F3EED98E5F}" type="datetimeFigureOut">
              <a:rPr lang="en-IN" smtClean="0"/>
              <a:t>27-11-2025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C073E4A-4E84-4D73-A121-FB603FCC7256}" type="slidenum">
              <a:rPr lang="en-IN" smtClean="0"/>
              <a:t>‹#›</a:t>
            </a:fld>
            <a:endParaRPr lang="en-IN"/>
          </a:p>
        </p:txBody>
      </p:sp>
    </p:spTree>
    <p:extLst>
      <p:ext uri="{BB962C8B-B14F-4D97-AF65-F5344CB8AC3E}">
        <p14:creationId xmlns:p14="http://schemas.microsoft.com/office/powerpoint/2010/main" val="2457699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EF3F80-4C52-46D4-9D36-C6F3EED98E5F}" type="datetimeFigureOut">
              <a:rPr lang="en-IN" smtClean="0"/>
              <a:t>27-11-2025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C073E4A-4E84-4D73-A121-FB603FCC7256}" type="slidenum">
              <a:rPr lang="en-IN" smtClean="0"/>
              <a:t>‹#›</a:t>
            </a:fld>
            <a:endParaRPr lang="en-IN"/>
          </a:p>
        </p:txBody>
      </p:sp>
    </p:spTree>
    <p:extLst>
      <p:ext uri="{BB962C8B-B14F-4D97-AF65-F5344CB8AC3E}">
        <p14:creationId xmlns:p14="http://schemas.microsoft.com/office/powerpoint/2010/main" val="2059110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2EF3F80-4C52-46D4-9D36-C6F3EED98E5F}" type="datetimeFigureOut">
              <a:rPr lang="en-IN" smtClean="0"/>
              <a:t>27-11-2025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8C073E4A-4E84-4D73-A121-FB603FCC7256}" type="slidenum">
              <a:rPr lang="en-IN" smtClean="0"/>
              <a:t>‹#›</a:t>
            </a:fld>
            <a:endParaRPr lang="en-IN"/>
          </a:p>
        </p:txBody>
      </p:sp>
    </p:spTree>
    <p:extLst>
      <p:ext uri="{BB962C8B-B14F-4D97-AF65-F5344CB8AC3E}">
        <p14:creationId xmlns:p14="http://schemas.microsoft.com/office/powerpoint/2010/main" val="776019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2EF3F80-4C52-46D4-9D36-C6F3EED98E5F}" type="datetimeFigureOut">
              <a:rPr lang="en-IN" smtClean="0"/>
              <a:t>27-11-2025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C073E4A-4E84-4D73-A121-FB603FCC7256}" type="slidenum">
              <a:rPr lang="en-IN" smtClean="0"/>
              <a:t>‹#›</a:t>
            </a:fld>
            <a:endParaRPr lang="en-IN"/>
          </a:p>
        </p:txBody>
      </p:sp>
    </p:spTree>
    <p:extLst>
      <p:ext uri="{BB962C8B-B14F-4D97-AF65-F5344CB8AC3E}">
        <p14:creationId xmlns:p14="http://schemas.microsoft.com/office/powerpoint/2010/main" val="1969772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EF3F80-4C52-46D4-9D36-C6F3EED98E5F}"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073E4A-4E84-4D73-A121-FB603FCC7256}" type="slidenum">
              <a:rPr lang="en-IN" smtClean="0"/>
              <a:t>‹#›</a:t>
            </a:fld>
            <a:endParaRPr lang="en-IN"/>
          </a:p>
        </p:txBody>
      </p:sp>
    </p:spTree>
    <p:extLst>
      <p:ext uri="{BB962C8B-B14F-4D97-AF65-F5344CB8AC3E}">
        <p14:creationId xmlns:p14="http://schemas.microsoft.com/office/powerpoint/2010/main" val="909936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EF3F80-4C52-46D4-9D36-C6F3EED98E5F}"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073E4A-4E84-4D73-A121-FB603FCC7256}" type="slidenum">
              <a:rPr lang="en-IN" smtClean="0"/>
              <a:t>‹#›</a:t>
            </a:fld>
            <a:endParaRPr lang="en-IN"/>
          </a:p>
        </p:txBody>
      </p:sp>
    </p:spTree>
    <p:extLst>
      <p:ext uri="{BB962C8B-B14F-4D97-AF65-F5344CB8AC3E}">
        <p14:creationId xmlns:p14="http://schemas.microsoft.com/office/powerpoint/2010/main" val="767221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EF3F80-4C52-46D4-9D36-C6F3EED98E5F}"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073E4A-4E84-4D73-A121-FB603FCC7256}" type="slidenum">
              <a:rPr lang="en-IN" smtClean="0"/>
              <a:t>‹#›</a:t>
            </a:fld>
            <a:endParaRPr lang="en-IN"/>
          </a:p>
        </p:txBody>
      </p:sp>
    </p:spTree>
    <p:extLst>
      <p:ext uri="{BB962C8B-B14F-4D97-AF65-F5344CB8AC3E}">
        <p14:creationId xmlns:p14="http://schemas.microsoft.com/office/powerpoint/2010/main" val="4067149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6000"/>
            <a:lum/>
          </a:blip>
          <a:srcRect/>
          <a:stretch>
            <a:fillRect t="-4000" b="-4000"/>
          </a:stretch>
        </a:blip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2EF3F80-4C52-46D4-9D36-C6F3EED98E5F}" type="datetimeFigureOut">
              <a:rPr lang="en-IN" smtClean="0"/>
              <a:t>27-11-2025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C073E4A-4E84-4D73-A121-FB603FCC7256}"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7484424"/>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66E56-5274-4F29-AF29-EFE0710BD547}"/>
              </a:ext>
            </a:extLst>
          </p:cNvPr>
          <p:cNvSpPr>
            <a:spLocks noGrp="1"/>
          </p:cNvSpPr>
          <p:nvPr>
            <p:ph type="ctrTitle"/>
          </p:nvPr>
        </p:nvSpPr>
        <p:spPr>
          <a:xfrm>
            <a:off x="1097280" y="2169367"/>
            <a:ext cx="10058400" cy="1259633"/>
          </a:xfrm>
        </p:spPr>
        <p:txBody>
          <a:bodyPr>
            <a:normAutofit fontScale="90000"/>
          </a:bodyPr>
          <a:lstStyle/>
          <a:p>
            <a:pPr algn="ctr"/>
            <a:r>
              <a:rPr lang="en-US" sz="4900" b="1" dirty="0"/>
              <a:t>E-commerce and retail analytics using machine learning techniques</a:t>
            </a:r>
            <a:br>
              <a:rPr lang="en-IN" b="1" dirty="0"/>
            </a:br>
            <a:br>
              <a:rPr lang="en-IN" sz="5400" dirty="0">
                <a:solidFill>
                  <a:srgbClr val="C00000"/>
                </a:solidFill>
                <a:latin typeface="Bahnschrift" panose="020B0502040204020203" pitchFamily="34" charset="0"/>
              </a:rPr>
            </a:br>
            <a:r>
              <a:rPr lang="en-IN" sz="5400" dirty="0">
                <a:solidFill>
                  <a:srgbClr val="C00000"/>
                </a:solidFill>
                <a:latin typeface="Bahnschrift" panose="020B0502040204020203" pitchFamily="34" charset="0"/>
              </a:rPr>
              <a:t>A8</a:t>
            </a:r>
          </a:p>
        </p:txBody>
      </p:sp>
      <p:sp>
        <p:nvSpPr>
          <p:cNvPr id="3" name="Subtitle 2">
            <a:extLst>
              <a:ext uri="{FF2B5EF4-FFF2-40B4-BE49-F238E27FC236}">
                <a16:creationId xmlns:a16="http://schemas.microsoft.com/office/drawing/2014/main" id="{F97E151A-6B9D-4D6D-86D9-0B3E9529BC66}"/>
              </a:ext>
            </a:extLst>
          </p:cNvPr>
          <p:cNvSpPr>
            <a:spLocks noGrp="1"/>
          </p:cNvSpPr>
          <p:nvPr>
            <p:ph type="subTitle" idx="1"/>
          </p:nvPr>
        </p:nvSpPr>
        <p:spPr>
          <a:xfrm>
            <a:off x="1100051" y="4455620"/>
            <a:ext cx="10582612" cy="1776738"/>
          </a:xfrm>
        </p:spPr>
        <p:txBody>
          <a:bodyPr>
            <a:normAutofit fontScale="92500" lnSpcReduction="10000"/>
          </a:bodyPr>
          <a:lstStyle/>
          <a:p>
            <a:pPr algn="r"/>
            <a:r>
              <a:rPr lang="en-IN" b="1" dirty="0"/>
              <a:t> Akshay s - AM.SC.U4CSE23009</a:t>
            </a:r>
          </a:p>
          <a:p>
            <a:pPr algn="r"/>
            <a:r>
              <a:rPr lang="en-IN" b="1" dirty="0"/>
              <a:t> Goutham Krishna - Am.sc.u4cse23031</a:t>
            </a:r>
          </a:p>
          <a:p>
            <a:pPr algn="r"/>
            <a:r>
              <a:rPr lang="en-IN" b="1" dirty="0"/>
              <a:t>Pranav s - Am.sc.u4cse23067</a:t>
            </a:r>
          </a:p>
          <a:p>
            <a:pPr algn="r"/>
            <a:r>
              <a:rPr lang="en-IN" b="1" dirty="0"/>
              <a:t> Rahul </a:t>
            </a:r>
            <a:r>
              <a:rPr lang="en-IN" b="1" dirty="0" err="1"/>
              <a:t>rajan</a:t>
            </a:r>
            <a:r>
              <a:rPr lang="en-IN" b="1" dirty="0"/>
              <a:t> Sebastian - Am.sc.u4cse23069</a:t>
            </a:r>
          </a:p>
          <a:p>
            <a:pPr algn="r"/>
            <a:endParaRPr lang="en-IN" b="1" dirty="0"/>
          </a:p>
        </p:txBody>
      </p:sp>
    </p:spTree>
    <p:extLst>
      <p:ext uri="{BB962C8B-B14F-4D97-AF65-F5344CB8AC3E}">
        <p14:creationId xmlns:p14="http://schemas.microsoft.com/office/powerpoint/2010/main" val="710157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387327"/>
            <a:ext cx="7384983" cy="748454"/>
          </a:xfrm>
        </p:spPr>
        <p:txBody>
          <a:bodyPr>
            <a:normAutofit/>
          </a:bodyPr>
          <a:lstStyle/>
          <a:p>
            <a:r>
              <a:rPr dirty="0"/>
              <a:t>1. Introduction</a:t>
            </a:r>
          </a:p>
        </p:txBody>
      </p:sp>
      <p:sp>
        <p:nvSpPr>
          <p:cNvPr id="3" name="Content Placeholder 2"/>
          <p:cNvSpPr>
            <a:spLocks noGrp="1"/>
          </p:cNvSpPr>
          <p:nvPr>
            <p:ph idx="1"/>
          </p:nvPr>
        </p:nvSpPr>
        <p:spPr>
          <a:xfrm>
            <a:off x="1097279" y="1840832"/>
            <a:ext cx="10200374" cy="4283242"/>
          </a:xfrm>
        </p:spPr>
        <p:txBody>
          <a:bodyPr>
            <a:normAutofit fontScale="92500" lnSpcReduction="10000"/>
          </a:bodyPr>
          <a:lstStyle/>
          <a:p>
            <a:pPr>
              <a:buFont typeface="Wingdings" panose="05000000000000000000" pitchFamily="2" charset="2"/>
              <a:buChar char="Ø"/>
            </a:pPr>
            <a:r>
              <a:rPr lang="en-US" dirty="0"/>
              <a:t>Problem Statement: Businesses struggle to utilize complex e-commerce data for decision-making; this project solves this by evaluating machine learning techniques. The challenge is to predict customer behavior (like churn and spending), segment customers effectively, and identify key drivers of engagement using diverse datasets.</a:t>
            </a:r>
          </a:p>
          <a:p>
            <a:pPr>
              <a:buFont typeface="Wingdings" panose="05000000000000000000" pitchFamily="2" charset="2"/>
              <a:buChar char="Ø"/>
            </a:pPr>
            <a:endParaRPr lang="en-US" dirty="0"/>
          </a:p>
          <a:p>
            <a:pPr>
              <a:buFont typeface="Wingdings" panose="05000000000000000000" pitchFamily="2" charset="2"/>
              <a:buChar char="Ø"/>
            </a:pPr>
            <a:r>
              <a:rPr lang="en-US" dirty="0"/>
              <a:t>Motivation : In the competitive retail landscape, gaining a deep understanding of customer patterns through advanced analytics is crucial for enabling businesses to improve retention strategies and drive sustainable revenue growth.</a:t>
            </a:r>
          </a:p>
          <a:p>
            <a:pPr>
              <a:buFont typeface="Wingdings" panose="05000000000000000000" pitchFamily="2" charset="2"/>
              <a:buChar char="Ø"/>
            </a:pPr>
            <a:endParaRPr lang="en-US" dirty="0"/>
          </a:p>
          <a:p>
            <a:pPr>
              <a:buFont typeface="Wingdings" panose="05000000000000000000" pitchFamily="2" charset="2"/>
              <a:buChar char="Ø"/>
            </a:pPr>
            <a:r>
              <a:rPr lang="en-US" dirty="0"/>
              <a:t>Objective : Our core objective is to implement and rigorously evaluate a range of machine learning algorithms across four different e-commerce datasets, to compare and contrast results.</a:t>
            </a:r>
          </a:p>
          <a:p>
            <a:pPr>
              <a:buFont typeface="Wingdings" panose="05000000000000000000" pitchFamily="2" charset="2"/>
              <a:buChar char="Ø"/>
            </a:pPr>
            <a:endParaRPr lang="en-US" dirty="0"/>
          </a:p>
          <a:p>
            <a:pPr>
              <a:buFont typeface="Wingdings" panose="05000000000000000000" pitchFamily="2" charset="2"/>
              <a:buChar char="Ø"/>
            </a:pPr>
            <a:r>
              <a:rPr dirty="0"/>
              <a:t>Type of ML task </a:t>
            </a:r>
            <a:r>
              <a:rPr lang="en-US" dirty="0"/>
              <a:t>: Covers Classification, Regression, Clustering, and Dimensionality reduction.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2. Dataset 1 – </a:t>
            </a:r>
            <a:r>
              <a:rPr lang="en-IN" dirty="0"/>
              <a:t>Description</a:t>
            </a:r>
            <a:endParaRPr dirty="0"/>
          </a:p>
        </p:txBody>
      </p:sp>
      <p:sp>
        <p:nvSpPr>
          <p:cNvPr id="3" name="Content Placeholder 2"/>
          <p:cNvSpPr>
            <a:spLocks noGrp="1"/>
          </p:cNvSpPr>
          <p:nvPr>
            <p:ph idx="1"/>
          </p:nvPr>
        </p:nvSpPr>
        <p:spPr/>
        <p:txBody>
          <a:bodyPr/>
          <a:lstStyle/>
          <a:p>
            <a:r>
              <a:rPr dirty="0"/>
              <a:t>Source </a:t>
            </a:r>
            <a:r>
              <a:rPr lang="en-US" dirty="0"/>
              <a:t>: Kaggle (https://www.kaggle.com/datasets/uom190346a/e-commerce-customer-behavior-dataset)</a:t>
            </a:r>
            <a:endParaRPr dirty="0"/>
          </a:p>
          <a:p>
            <a:r>
              <a:rPr lang="en-US" dirty="0"/>
              <a:t>Number of (samples : </a:t>
            </a:r>
            <a:r>
              <a:rPr lang="en-IN" dirty="0"/>
              <a:t>3941, features : 11 )</a:t>
            </a:r>
            <a:endParaRPr dirty="0"/>
          </a:p>
          <a:p>
            <a:r>
              <a:rPr dirty="0"/>
              <a:t>Feature descriptions</a:t>
            </a:r>
            <a:r>
              <a:rPr lang="en-US" dirty="0"/>
              <a:t> : An individual customer profile, detailing their account history, satisfaction metrics, and whether they have discontinued the service.</a:t>
            </a:r>
            <a:endParaRPr dirty="0"/>
          </a:p>
          <a:p>
            <a:r>
              <a:rPr dirty="0"/>
              <a:t>Preprocessing steps </a:t>
            </a:r>
            <a:r>
              <a:rPr lang="en-US" dirty="0"/>
              <a:t>: numerical {imputation-median, standard scaler}; categorical {imputation-most frequent, one hot encoding}</a:t>
            </a:r>
            <a:endParaRPr dirty="0"/>
          </a:p>
          <a:p>
            <a:r>
              <a:rPr dirty="0"/>
              <a:t>Train–test split details</a:t>
            </a:r>
            <a:r>
              <a:rPr lang="en-US" dirty="0"/>
              <a:t> : 80:20 train test split, random state 42</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Models Used for Dataset 1</a:t>
            </a:r>
          </a:p>
        </p:txBody>
      </p:sp>
      <p:sp>
        <p:nvSpPr>
          <p:cNvPr id="3" name="Content Placeholder 2"/>
          <p:cNvSpPr>
            <a:spLocks noGrp="1"/>
          </p:cNvSpPr>
          <p:nvPr>
            <p:ph idx="1"/>
          </p:nvPr>
        </p:nvSpPr>
        <p:spPr>
          <a:xfrm>
            <a:off x="5404585" y="1985211"/>
            <a:ext cx="6145731" cy="2062871"/>
          </a:xfrm>
        </p:spPr>
        <p:txBody>
          <a:bodyPr>
            <a:normAutofit fontScale="92500" lnSpcReduction="10000"/>
          </a:bodyPr>
          <a:lstStyle/>
          <a:p>
            <a:r>
              <a:rPr lang="en-US" b="1" dirty="0"/>
              <a:t>Reason for Choosing Each Model</a:t>
            </a:r>
          </a:p>
          <a:p>
            <a:r>
              <a:rPr lang="en-US" dirty="0"/>
              <a:t>KNN: Selected as a simple, non-parametric baseline model.</a:t>
            </a:r>
          </a:p>
          <a:p>
            <a:r>
              <a:rPr lang="en-US" dirty="0"/>
              <a:t>Logistic Regression: Chosen as a robust linear baseline that offers interpretable coefficients.</a:t>
            </a:r>
          </a:p>
          <a:p>
            <a:r>
              <a:rPr lang="en-US" dirty="0"/>
              <a:t>Naive Bayes: Used as a probabilistic baseline effectively assuming feature independence.</a:t>
            </a:r>
            <a:endParaRPr dirty="0"/>
          </a:p>
        </p:txBody>
      </p:sp>
      <p:sp>
        <p:nvSpPr>
          <p:cNvPr id="5" name="TextBox 4">
            <a:extLst>
              <a:ext uri="{FF2B5EF4-FFF2-40B4-BE49-F238E27FC236}">
                <a16:creationId xmlns:a16="http://schemas.microsoft.com/office/drawing/2014/main" id="{3ABF4C2E-3741-E985-138F-1EA9434312E3}"/>
              </a:ext>
            </a:extLst>
          </p:cNvPr>
          <p:cNvSpPr txBox="1"/>
          <p:nvPr/>
        </p:nvSpPr>
        <p:spPr>
          <a:xfrm>
            <a:off x="940067" y="1985211"/>
            <a:ext cx="4365859" cy="1200329"/>
          </a:xfrm>
          <a:prstGeom prst="rect">
            <a:avLst/>
          </a:prstGeom>
          <a:noFill/>
        </p:spPr>
        <p:txBody>
          <a:bodyPr wrap="square">
            <a:spAutoFit/>
          </a:bodyPr>
          <a:lstStyle/>
          <a:p>
            <a:r>
              <a:rPr lang="en-IN" b="1" dirty="0"/>
              <a:t>List of Models Applied</a:t>
            </a:r>
          </a:p>
          <a:p>
            <a:r>
              <a:rPr lang="en-IN" dirty="0"/>
              <a:t>K-Nearest </a:t>
            </a:r>
            <a:r>
              <a:rPr lang="en-IN" dirty="0" err="1"/>
              <a:t>Neighbors</a:t>
            </a:r>
            <a:r>
              <a:rPr lang="en-IN" dirty="0"/>
              <a:t> (KNN)</a:t>
            </a:r>
          </a:p>
          <a:p>
            <a:r>
              <a:rPr lang="en-IN" dirty="0"/>
              <a:t>Logistic Regression</a:t>
            </a:r>
          </a:p>
          <a:p>
            <a:r>
              <a:rPr lang="en-IN" dirty="0"/>
              <a:t>Naive Bayes (</a:t>
            </a:r>
            <a:r>
              <a:rPr lang="en-IN" dirty="0" err="1"/>
              <a:t>GaussianNB</a:t>
            </a:r>
            <a:r>
              <a:rPr lang="en-IN" dirty="0"/>
              <a:t>)</a:t>
            </a:r>
          </a:p>
        </p:txBody>
      </p:sp>
      <p:sp>
        <p:nvSpPr>
          <p:cNvPr id="7" name="TextBox 6">
            <a:extLst>
              <a:ext uri="{FF2B5EF4-FFF2-40B4-BE49-F238E27FC236}">
                <a16:creationId xmlns:a16="http://schemas.microsoft.com/office/drawing/2014/main" id="{888EB6FC-3D64-6CCF-B93B-DDDCA0F876BA}"/>
              </a:ext>
            </a:extLst>
          </p:cNvPr>
          <p:cNvSpPr txBox="1"/>
          <p:nvPr/>
        </p:nvSpPr>
        <p:spPr>
          <a:xfrm>
            <a:off x="940067" y="4469051"/>
            <a:ext cx="4464518" cy="1477328"/>
          </a:xfrm>
          <a:prstGeom prst="rect">
            <a:avLst/>
          </a:prstGeom>
          <a:noFill/>
        </p:spPr>
        <p:txBody>
          <a:bodyPr wrap="square">
            <a:spAutoFit/>
          </a:bodyPr>
          <a:lstStyle/>
          <a:p>
            <a:r>
              <a:rPr lang="en-IN" b="1" dirty="0"/>
              <a:t>Hyperparameters</a:t>
            </a:r>
          </a:p>
          <a:p>
            <a:r>
              <a:rPr lang="en-IN" dirty="0"/>
              <a:t>KNN: </a:t>
            </a:r>
            <a:r>
              <a:rPr lang="en-IN" dirty="0" err="1"/>
              <a:t>n_neighbors</a:t>
            </a:r>
            <a:r>
              <a:rPr lang="en-IN" dirty="0"/>
              <a:t>=5 (Default).</a:t>
            </a:r>
          </a:p>
          <a:p>
            <a:r>
              <a:rPr lang="en-IN" dirty="0"/>
              <a:t>Logistic Regression: </a:t>
            </a:r>
            <a:r>
              <a:rPr lang="en-IN" dirty="0" err="1"/>
              <a:t>max_iter</a:t>
            </a:r>
            <a:r>
              <a:rPr lang="en-IN" dirty="0"/>
              <a:t>=1000 (to ensure convergence), </a:t>
            </a:r>
            <a:r>
              <a:rPr lang="en-IN" dirty="0" err="1"/>
              <a:t>random_state</a:t>
            </a:r>
            <a:r>
              <a:rPr lang="en-IN" dirty="0"/>
              <a:t>=42.</a:t>
            </a:r>
          </a:p>
          <a:p>
            <a:r>
              <a:rPr lang="en-IN" dirty="0"/>
              <a:t>Naive Bayes: Default parameters.</a:t>
            </a:r>
          </a:p>
        </p:txBody>
      </p:sp>
      <p:sp>
        <p:nvSpPr>
          <p:cNvPr id="9" name="TextBox 8">
            <a:extLst>
              <a:ext uri="{FF2B5EF4-FFF2-40B4-BE49-F238E27FC236}">
                <a16:creationId xmlns:a16="http://schemas.microsoft.com/office/drawing/2014/main" id="{D4E55613-B6C5-F4C0-097D-6321155E6810}"/>
              </a:ext>
            </a:extLst>
          </p:cNvPr>
          <p:cNvSpPr txBox="1"/>
          <p:nvPr/>
        </p:nvSpPr>
        <p:spPr>
          <a:xfrm>
            <a:off x="5404585" y="4469051"/>
            <a:ext cx="6093994" cy="646331"/>
          </a:xfrm>
          <a:prstGeom prst="rect">
            <a:avLst/>
          </a:prstGeom>
          <a:noFill/>
        </p:spPr>
        <p:txBody>
          <a:bodyPr wrap="square">
            <a:spAutoFit/>
          </a:bodyPr>
          <a:lstStyle/>
          <a:p>
            <a:pPr>
              <a:buNone/>
            </a:pPr>
            <a:r>
              <a:rPr lang="en-IN" b="1" dirty="0"/>
              <a:t>Frameworks Used</a:t>
            </a:r>
          </a:p>
          <a:p>
            <a:r>
              <a:rPr lang="en-IN" dirty="0"/>
              <a:t>Python, scikit-learn, pandas, </a:t>
            </a:r>
            <a:r>
              <a:rPr lang="en-IN" dirty="0" err="1"/>
              <a:t>numpy</a:t>
            </a:r>
            <a:r>
              <a:rPr lang="en-IN" dirty="0"/>
              <a:t>, matplotlib, seaborn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155739" cy="539307"/>
          </a:xfrm>
        </p:spPr>
        <p:txBody>
          <a:bodyPr>
            <a:normAutofit/>
          </a:bodyPr>
          <a:lstStyle/>
          <a:p>
            <a:r>
              <a:rPr sz="2800" dirty="0"/>
              <a:t>4. Result Analysis – Dataset 1</a:t>
            </a:r>
          </a:p>
        </p:txBody>
      </p:sp>
      <p:pic>
        <p:nvPicPr>
          <p:cNvPr id="8" name="Picture 7">
            <a:extLst>
              <a:ext uri="{FF2B5EF4-FFF2-40B4-BE49-F238E27FC236}">
                <a16:creationId xmlns:a16="http://schemas.microsoft.com/office/drawing/2014/main" id="{49FF210F-B23D-6264-90F7-5CD5C59F5085}"/>
              </a:ext>
            </a:extLst>
          </p:cNvPr>
          <p:cNvPicPr>
            <a:picLocks noChangeAspect="1"/>
          </p:cNvPicPr>
          <p:nvPr/>
        </p:nvPicPr>
        <p:blipFill>
          <a:blip r:embed="rId2"/>
          <a:stretch>
            <a:fillRect/>
          </a:stretch>
        </p:blipFill>
        <p:spPr>
          <a:xfrm>
            <a:off x="252036" y="1945239"/>
            <a:ext cx="3878645" cy="3305188"/>
          </a:xfrm>
          <a:prstGeom prst="rect">
            <a:avLst/>
          </a:prstGeom>
        </p:spPr>
      </p:pic>
      <p:pic>
        <p:nvPicPr>
          <p:cNvPr id="10" name="Picture 9">
            <a:extLst>
              <a:ext uri="{FF2B5EF4-FFF2-40B4-BE49-F238E27FC236}">
                <a16:creationId xmlns:a16="http://schemas.microsoft.com/office/drawing/2014/main" id="{79F1BF3B-F0BE-9384-386B-D497FAEC04A2}"/>
              </a:ext>
            </a:extLst>
          </p:cNvPr>
          <p:cNvPicPr>
            <a:picLocks noChangeAspect="1"/>
          </p:cNvPicPr>
          <p:nvPr/>
        </p:nvPicPr>
        <p:blipFill>
          <a:blip r:embed="rId3"/>
          <a:stretch>
            <a:fillRect/>
          </a:stretch>
        </p:blipFill>
        <p:spPr>
          <a:xfrm>
            <a:off x="4256534" y="1945238"/>
            <a:ext cx="3832395" cy="3305187"/>
          </a:xfrm>
          <a:prstGeom prst="rect">
            <a:avLst/>
          </a:prstGeom>
        </p:spPr>
      </p:pic>
      <p:pic>
        <p:nvPicPr>
          <p:cNvPr id="12" name="Picture 11">
            <a:extLst>
              <a:ext uri="{FF2B5EF4-FFF2-40B4-BE49-F238E27FC236}">
                <a16:creationId xmlns:a16="http://schemas.microsoft.com/office/drawing/2014/main" id="{18C7B5B8-2830-B12B-F7D4-14A5BF3D3F7D}"/>
              </a:ext>
            </a:extLst>
          </p:cNvPr>
          <p:cNvPicPr>
            <a:picLocks noChangeAspect="1"/>
          </p:cNvPicPr>
          <p:nvPr/>
        </p:nvPicPr>
        <p:blipFill>
          <a:blip r:embed="rId4"/>
          <a:stretch>
            <a:fillRect/>
          </a:stretch>
        </p:blipFill>
        <p:spPr>
          <a:xfrm>
            <a:off x="8214783" y="1984649"/>
            <a:ext cx="3725181" cy="32657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2786F-D956-A97F-F95A-FA8C2FC328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7A603-6584-981E-A1AF-70ECF90CB907}"/>
              </a:ext>
            </a:extLst>
          </p:cNvPr>
          <p:cNvSpPr>
            <a:spLocks noGrp="1"/>
          </p:cNvSpPr>
          <p:nvPr>
            <p:ph type="title"/>
          </p:nvPr>
        </p:nvSpPr>
        <p:spPr/>
        <p:txBody>
          <a:bodyPr/>
          <a:lstStyle/>
          <a:p>
            <a:r>
              <a:rPr lang="en-IN" dirty="0"/>
              <a:t>5. Interpretation of Results</a:t>
            </a:r>
          </a:p>
        </p:txBody>
      </p:sp>
      <p:pic>
        <p:nvPicPr>
          <p:cNvPr id="11" name="Content Placeholder 10">
            <a:extLst>
              <a:ext uri="{FF2B5EF4-FFF2-40B4-BE49-F238E27FC236}">
                <a16:creationId xmlns:a16="http://schemas.microsoft.com/office/drawing/2014/main" id="{27185E15-D60A-899E-8168-135AEF64F375}"/>
              </a:ext>
            </a:extLst>
          </p:cNvPr>
          <p:cNvPicPr>
            <a:picLocks noGrp="1" noChangeAspect="1"/>
          </p:cNvPicPr>
          <p:nvPr>
            <p:ph idx="1"/>
          </p:nvPr>
        </p:nvPicPr>
        <p:blipFill>
          <a:blip r:embed="rId2"/>
          <a:stretch>
            <a:fillRect/>
          </a:stretch>
        </p:blipFill>
        <p:spPr>
          <a:xfrm>
            <a:off x="1190652" y="1816691"/>
            <a:ext cx="6721422" cy="1013548"/>
          </a:xfrm>
          <a:prstGeom prst="rect">
            <a:avLst/>
          </a:prstGeom>
        </p:spPr>
      </p:pic>
      <p:pic>
        <p:nvPicPr>
          <p:cNvPr id="9" name="Picture 8">
            <a:extLst>
              <a:ext uri="{FF2B5EF4-FFF2-40B4-BE49-F238E27FC236}">
                <a16:creationId xmlns:a16="http://schemas.microsoft.com/office/drawing/2014/main" id="{C8C3DCE2-49A7-5C9E-3C94-12389756BA7A}"/>
              </a:ext>
            </a:extLst>
          </p:cNvPr>
          <p:cNvPicPr>
            <a:picLocks noChangeAspect="1"/>
          </p:cNvPicPr>
          <p:nvPr/>
        </p:nvPicPr>
        <p:blipFill>
          <a:blip r:embed="rId3"/>
          <a:stretch>
            <a:fillRect/>
          </a:stretch>
        </p:blipFill>
        <p:spPr>
          <a:xfrm>
            <a:off x="1190652" y="2830239"/>
            <a:ext cx="5918071" cy="3297902"/>
          </a:xfrm>
          <a:prstGeom prst="rect">
            <a:avLst/>
          </a:prstGeom>
        </p:spPr>
      </p:pic>
    </p:spTree>
    <p:extLst>
      <p:ext uri="{BB962C8B-B14F-4D97-AF65-F5344CB8AC3E}">
        <p14:creationId xmlns:p14="http://schemas.microsoft.com/office/powerpoint/2010/main" val="3886759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5A8E2-48F5-A0A6-5263-9E89EFE30B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33B87E-016C-2C1D-157D-29AB96663EC7}"/>
              </a:ext>
            </a:extLst>
          </p:cNvPr>
          <p:cNvSpPr>
            <a:spLocks noGrp="1"/>
          </p:cNvSpPr>
          <p:nvPr>
            <p:ph type="title"/>
          </p:nvPr>
        </p:nvSpPr>
        <p:spPr/>
        <p:txBody>
          <a:bodyPr/>
          <a:lstStyle/>
          <a:p>
            <a:r>
              <a:rPr lang="en-US" dirty="0"/>
              <a:t>6</a:t>
            </a:r>
            <a:r>
              <a:rPr dirty="0"/>
              <a:t>. Dataset </a:t>
            </a:r>
            <a:r>
              <a:rPr lang="en-US" dirty="0"/>
              <a:t>2</a:t>
            </a:r>
            <a:r>
              <a:rPr dirty="0"/>
              <a:t> – </a:t>
            </a:r>
            <a:r>
              <a:rPr lang="en-IN" dirty="0"/>
              <a:t>Description</a:t>
            </a:r>
            <a:endParaRPr dirty="0"/>
          </a:p>
        </p:txBody>
      </p:sp>
      <p:sp>
        <p:nvSpPr>
          <p:cNvPr id="3" name="Content Placeholder 2">
            <a:extLst>
              <a:ext uri="{FF2B5EF4-FFF2-40B4-BE49-F238E27FC236}">
                <a16:creationId xmlns:a16="http://schemas.microsoft.com/office/drawing/2014/main" id="{C2BAAE58-99A5-EFB4-041C-FA84FD150A3D}"/>
              </a:ext>
            </a:extLst>
          </p:cNvPr>
          <p:cNvSpPr>
            <a:spLocks noGrp="1"/>
          </p:cNvSpPr>
          <p:nvPr>
            <p:ph idx="1"/>
          </p:nvPr>
        </p:nvSpPr>
        <p:spPr/>
        <p:txBody>
          <a:bodyPr/>
          <a:lstStyle/>
          <a:p>
            <a:r>
              <a:rPr lang="en-IN" dirty="0"/>
              <a:t>Source </a:t>
            </a:r>
            <a:r>
              <a:rPr lang="en-US" dirty="0"/>
              <a:t>: Kaggle (https://www.kaggle.com/datasets/uom190346a/e-commerce-customer-behavior-dataset)</a:t>
            </a:r>
            <a:endParaRPr dirty="0"/>
          </a:p>
          <a:p>
            <a:r>
              <a:rPr dirty="0"/>
              <a:t>Number of samples </a:t>
            </a:r>
            <a:r>
              <a:rPr lang="en-US" dirty="0"/>
              <a:t>(350) ;</a:t>
            </a:r>
            <a:r>
              <a:rPr dirty="0"/>
              <a:t> features</a:t>
            </a:r>
            <a:r>
              <a:rPr lang="en-US" dirty="0"/>
              <a:t> (11)</a:t>
            </a:r>
            <a:endParaRPr dirty="0"/>
          </a:p>
          <a:p>
            <a:r>
              <a:rPr dirty="0"/>
              <a:t>Feature descriptions</a:t>
            </a:r>
            <a:r>
              <a:rPr lang="en-US" dirty="0"/>
              <a:t> : A specific consumer, capturing their demographic details, membership status, and overall spending habits.</a:t>
            </a:r>
            <a:endParaRPr dirty="0"/>
          </a:p>
          <a:p>
            <a:r>
              <a:rPr lang="en-IN" dirty="0"/>
              <a:t>Preprocessing steps : encoding (binary, ordinal), imputation (median), standard scaler</a:t>
            </a:r>
          </a:p>
          <a:p>
            <a:r>
              <a:rPr lang="en-IN" dirty="0"/>
              <a:t>Train–test split details : 80:20 train test split, random state 42</a:t>
            </a:r>
          </a:p>
        </p:txBody>
      </p:sp>
    </p:spTree>
    <p:extLst>
      <p:ext uri="{BB962C8B-B14F-4D97-AF65-F5344CB8AC3E}">
        <p14:creationId xmlns:p14="http://schemas.microsoft.com/office/powerpoint/2010/main" val="433571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58990-CA7F-078C-5B46-20ECF5548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C7862-BE0A-ECDE-F0FC-929204B52E0D}"/>
              </a:ext>
            </a:extLst>
          </p:cNvPr>
          <p:cNvSpPr>
            <a:spLocks noGrp="1"/>
          </p:cNvSpPr>
          <p:nvPr>
            <p:ph type="title"/>
          </p:nvPr>
        </p:nvSpPr>
        <p:spPr/>
        <p:txBody>
          <a:bodyPr/>
          <a:lstStyle/>
          <a:p>
            <a:r>
              <a:rPr lang="en-US" dirty="0"/>
              <a:t>7</a:t>
            </a:r>
            <a:r>
              <a:rPr dirty="0"/>
              <a:t>. Models Used for Dataset </a:t>
            </a:r>
            <a:r>
              <a:rPr lang="en-US" dirty="0"/>
              <a:t>2</a:t>
            </a:r>
            <a:endParaRPr dirty="0"/>
          </a:p>
        </p:txBody>
      </p:sp>
      <p:sp>
        <p:nvSpPr>
          <p:cNvPr id="3" name="Content Placeholder 2">
            <a:extLst>
              <a:ext uri="{FF2B5EF4-FFF2-40B4-BE49-F238E27FC236}">
                <a16:creationId xmlns:a16="http://schemas.microsoft.com/office/drawing/2014/main" id="{E0FBD043-2A49-558D-7ECE-F4AFA460DD1A}"/>
              </a:ext>
            </a:extLst>
          </p:cNvPr>
          <p:cNvSpPr>
            <a:spLocks noGrp="1"/>
          </p:cNvSpPr>
          <p:nvPr>
            <p:ph idx="1"/>
          </p:nvPr>
        </p:nvSpPr>
        <p:spPr>
          <a:xfrm>
            <a:off x="5900888" y="4824663"/>
            <a:ext cx="3378467" cy="1081762"/>
          </a:xfrm>
        </p:spPr>
        <p:txBody>
          <a:bodyPr>
            <a:normAutofit fontScale="92500"/>
          </a:bodyPr>
          <a:lstStyle/>
          <a:p>
            <a:r>
              <a:rPr lang="en-IN" b="1" dirty="0"/>
              <a:t>Frameworks used</a:t>
            </a:r>
          </a:p>
          <a:p>
            <a:r>
              <a:rPr lang="en-IN" dirty="0"/>
              <a:t>Python, scikit-learn, pandas, </a:t>
            </a:r>
            <a:r>
              <a:rPr lang="en-IN" dirty="0" err="1"/>
              <a:t>numpy</a:t>
            </a:r>
            <a:r>
              <a:rPr lang="en-IN" dirty="0"/>
              <a:t>, matplotlib, seaborn, </a:t>
            </a:r>
            <a:r>
              <a:rPr lang="en-IN" dirty="0" err="1"/>
              <a:t>scipy</a:t>
            </a:r>
            <a:endParaRPr lang="en-IN" dirty="0">
              <a:effectLst/>
            </a:endParaRPr>
          </a:p>
        </p:txBody>
      </p:sp>
      <p:sp>
        <p:nvSpPr>
          <p:cNvPr id="5" name="TextBox 4">
            <a:extLst>
              <a:ext uri="{FF2B5EF4-FFF2-40B4-BE49-F238E27FC236}">
                <a16:creationId xmlns:a16="http://schemas.microsoft.com/office/drawing/2014/main" id="{25BE7B5A-F475-1E53-611F-F7A3750E3F8D}"/>
              </a:ext>
            </a:extLst>
          </p:cNvPr>
          <p:cNvSpPr txBox="1"/>
          <p:nvPr/>
        </p:nvSpPr>
        <p:spPr>
          <a:xfrm>
            <a:off x="532397" y="2212630"/>
            <a:ext cx="4833687" cy="1477328"/>
          </a:xfrm>
          <a:prstGeom prst="rect">
            <a:avLst/>
          </a:prstGeom>
          <a:noFill/>
        </p:spPr>
        <p:txBody>
          <a:bodyPr wrap="square">
            <a:spAutoFit/>
          </a:bodyPr>
          <a:lstStyle/>
          <a:p>
            <a:r>
              <a:rPr lang="en-IN" b="1" dirty="0"/>
              <a:t>List of models applied</a:t>
            </a:r>
            <a:r>
              <a:rPr lang="en-IN" dirty="0"/>
              <a:t> </a:t>
            </a:r>
          </a:p>
          <a:p>
            <a:r>
              <a:rPr lang="en-IN" dirty="0"/>
              <a:t>Linear Regression</a:t>
            </a:r>
          </a:p>
          <a:p>
            <a:r>
              <a:rPr lang="en-IN" dirty="0"/>
              <a:t>Ridge Regression</a:t>
            </a:r>
          </a:p>
          <a:p>
            <a:r>
              <a:rPr lang="en-IN" dirty="0"/>
              <a:t>Lasso Regression</a:t>
            </a:r>
          </a:p>
          <a:p>
            <a:r>
              <a:rPr lang="en-IN" dirty="0"/>
              <a:t>Decision Tree Regressor</a:t>
            </a:r>
          </a:p>
        </p:txBody>
      </p:sp>
      <p:sp>
        <p:nvSpPr>
          <p:cNvPr id="7" name="TextBox 6">
            <a:extLst>
              <a:ext uri="{FF2B5EF4-FFF2-40B4-BE49-F238E27FC236}">
                <a16:creationId xmlns:a16="http://schemas.microsoft.com/office/drawing/2014/main" id="{4D482AE3-CDB3-11CB-78B3-2B915403A0FB}"/>
              </a:ext>
            </a:extLst>
          </p:cNvPr>
          <p:cNvSpPr txBox="1"/>
          <p:nvPr/>
        </p:nvSpPr>
        <p:spPr>
          <a:xfrm>
            <a:off x="5900888" y="2212630"/>
            <a:ext cx="5254792" cy="1477328"/>
          </a:xfrm>
          <a:prstGeom prst="rect">
            <a:avLst/>
          </a:prstGeom>
          <a:noFill/>
        </p:spPr>
        <p:txBody>
          <a:bodyPr wrap="square">
            <a:spAutoFit/>
          </a:bodyPr>
          <a:lstStyle/>
          <a:p>
            <a:r>
              <a:rPr lang="en-IN" b="1" dirty="0"/>
              <a:t>Reason for choosing each model</a:t>
            </a:r>
          </a:p>
          <a:p>
            <a:r>
              <a:rPr lang="en-IN" dirty="0"/>
              <a:t> Linear Regression as a baseline, Ridge to handle multicollinearity and overfitting, Lasso for feature selection, Decision Tree to capture non-linear relationships</a:t>
            </a:r>
          </a:p>
        </p:txBody>
      </p:sp>
      <p:sp>
        <p:nvSpPr>
          <p:cNvPr id="9" name="TextBox 8">
            <a:extLst>
              <a:ext uri="{FF2B5EF4-FFF2-40B4-BE49-F238E27FC236}">
                <a16:creationId xmlns:a16="http://schemas.microsoft.com/office/drawing/2014/main" id="{432E4878-6EE3-3BFF-8B51-5017B3786352}"/>
              </a:ext>
            </a:extLst>
          </p:cNvPr>
          <p:cNvSpPr txBox="1"/>
          <p:nvPr/>
        </p:nvSpPr>
        <p:spPr>
          <a:xfrm>
            <a:off x="532396" y="4706096"/>
            <a:ext cx="4833687" cy="1200329"/>
          </a:xfrm>
          <a:prstGeom prst="rect">
            <a:avLst/>
          </a:prstGeom>
          <a:noFill/>
        </p:spPr>
        <p:txBody>
          <a:bodyPr wrap="square">
            <a:spAutoFit/>
          </a:bodyPr>
          <a:lstStyle/>
          <a:p>
            <a:r>
              <a:rPr lang="en-IN" b="1" dirty="0"/>
              <a:t>Hyperparameters</a:t>
            </a:r>
          </a:p>
          <a:p>
            <a:r>
              <a:rPr lang="en-IN" dirty="0"/>
              <a:t> Ridge (alpha=1.0), Lasso (alpha=0.1), Decision Tree (</a:t>
            </a:r>
            <a:r>
              <a:rPr lang="en-IN" dirty="0" err="1"/>
              <a:t>max_depth</a:t>
            </a:r>
            <a:r>
              <a:rPr lang="en-IN" dirty="0"/>
              <a:t>=5, </a:t>
            </a:r>
            <a:r>
              <a:rPr lang="en-IN" dirty="0" err="1"/>
              <a:t>random_state</a:t>
            </a:r>
            <a:r>
              <a:rPr lang="en-IN" dirty="0"/>
              <a:t>=42), Train-Test Split (</a:t>
            </a:r>
            <a:r>
              <a:rPr lang="en-IN" dirty="0" err="1"/>
              <a:t>test_size</a:t>
            </a:r>
            <a:r>
              <a:rPr lang="en-IN" dirty="0"/>
              <a:t>=0.2, </a:t>
            </a:r>
            <a:r>
              <a:rPr lang="en-IN" dirty="0" err="1"/>
              <a:t>random_state</a:t>
            </a:r>
            <a:r>
              <a:rPr lang="en-IN" dirty="0"/>
              <a:t>=42)</a:t>
            </a:r>
          </a:p>
        </p:txBody>
      </p:sp>
    </p:spTree>
    <p:extLst>
      <p:ext uri="{BB962C8B-B14F-4D97-AF65-F5344CB8AC3E}">
        <p14:creationId xmlns:p14="http://schemas.microsoft.com/office/powerpoint/2010/main" val="2589533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CB5F5-16EE-FDE2-F6BC-36B7D8029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38BC2-F8BD-BEF2-DA23-618C16073E66}"/>
              </a:ext>
            </a:extLst>
          </p:cNvPr>
          <p:cNvSpPr>
            <a:spLocks noGrp="1"/>
          </p:cNvSpPr>
          <p:nvPr>
            <p:ph type="title"/>
          </p:nvPr>
        </p:nvSpPr>
        <p:spPr/>
        <p:txBody>
          <a:bodyPr>
            <a:normAutofit/>
          </a:bodyPr>
          <a:lstStyle/>
          <a:p>
            <a:r>
              <a:rPr lang="en-US" dirty="0"/>
              <a:t>8</a:t>
            </a:r>
            <a:r>
              <a:rPr dirty="0"/>
              <a:t>. Result Analysis – Dataset </a:t>
            </a:r>
            <a:r>
              <a:rPr lang="en-US" dirty="0"/>
              <a:t>2</a:t>
            </a:r>
            <a:r>
              <a:rPr lang="en-IN" dirty="0"/>
              <a:t> (if classification)</a:t>
            </a:r>
            <a:endParaRPr dirty="0"/>
          </a:p>
        </p:txBody>
      </p:sp>
      <p:sp>
        <p:nvSpPr>
          <p:cNvPr id="3" name="Content Placeholder 2">
            <a:extLst>
              <a:ext uri="{FF2B5EF4-FFF2-40B4-BE49-F238E27FC236}">
                <a16:creationId xmlns:a16="http://schemas.microsoft.com/office/drawing/2014/main" id="{E1656AB4-D375-F4F3-2CB0-D5E595C328DE}"/>
              </a:ext>
            </a:extLst>
          </p:cNvPr>
          <p:cNvSpPr>
            <a:spLocks noGrp="1"/>
          </p:cNvSpPr>
          <p:nvPr>
            <p:ph idx="1"/>
          </p:nvPr>
        </p:nvSpPr>
        <p:spPr/>
        <p:txBody>
          <a:bodyPr/>
          <a:lstStyle/>
          <a:p>
            <a:r>
              <a:rPr lang="en-IN" dirty="0"/>
              <a:t>Confusion Matrix</a:t>
            </a:r>
          </a:p>
          <a:p>
            <a:r>
              <a:rPr lang="en-US" dirty="0"/>
              <a:t>Accuracy, Precision, Recall, Specificity, F1</a:t>
            </a:r>
          </a:p>
          <a:p>
            <a:r>
              <a:rPr lang="en-IN" dirty="0"/>
              <a:t>ROC-AUC, PR-AUC</a:t>
            </a:r>
          </a:p>
          <a:p>
            <a:r>
              <a:rPr lang="en-IN" dirty="0"/>
              <a:t>ROC, PR Curves</a:t>
            </a:r>
            <a:endParaRPr dirty="0"/>
          </a:p>
        </p:txBody>
      </p:sp>
    </p:spTree>
    <p:extLst>
      <p:ext uri="{BB962C8B-B14F-4D97-AF65-F5344CB8AC3E}">
        <p14:creationId xmlns:p14="http://schemas.microsoft.com/office/powerpoint/2010/main" val="3198863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E9C99-B231-A337-FC6D-D34FF684A6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BA18D1-C120-EFE0-89DF-C935C1F652E9}"/>
              </a:ext>
            </a:extLst>
          </p:cNvPr>
          <p:cNvSpPr>
            <a:spLocks noGrp="1"/>
          </p:cNvSpPr>
          <p:nvPr>
            <p:ph type="title"/>
          </p:nvPr>
        </p:nvSpPr>
        <p:spPr/>
        <p:txBody>
          <a:bodyPr/>
          <a:lstStyle/>
          <a:p>
            <a:r>
              <a:rPr lang="en-IN" dirty="0"/>
              <a:t>9. Interpretation of Results</a:t>
            </a:r>
          </a:p>
        </p:txBody>
      </p:sp>
      <p:sp>
        <p:nvSpPr>
          <p:cNvPr id="3" name="Content Placeholder 2">
            <a:extLst>
              <a:ext uri="{FF2B5EF4-FFF2-40B4-BE49-F238E27FC236}">
                <a16:creationId xmlns:a16="http://schemas.microsoft.com/office/drawing/2014/main" id="{2E7DBD61-3F7C-27B5-E897-99B48EF006DD}"/>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578767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C163D-1619-9D79-CA17-9B31F3C29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8917B-125D-0DF6-7B18-9A2FD91FACBD}"/>
              </a:ext>
            </a:extLst>
          </p:cNvPr>
          <p:cNvSpPr>
            <a:spLocks noGrp="1"/>
          </p:cNvSpPr>
          <p:nvPr>
            <p:ph type="title"/>
          </p:nvPr>
        </p:nvSpPr>
        <p:spPr/>
        <p:txBody>
          <a:bodyPr/>
          <a:lstStyle/>
          <a:p>
            <a:r>
              <a:rPr lang="en-US" dirty="0"/>
              <a:t>10</a:t>
            </a:r>
            <a:r>
              <a:rPr dirty="0"/>
              <a:t>. Dataset </a:t>
            </a:r>
            <a:r>
              <a:rPr lang="en-US" dirty="0"/>
              <a:t>3</a:t>
            </a:r>
            <a:r>
              <a:rPr dirty="0"/>
              <a:t> – Description</a:t>
            </a:r>
          </a:p>
        </p:txBody>
      </p:sp>
      <p:sp>
        <p:nvSpPr>
          <p:cNvPr id="3" name="Content Placeholder 2">
            <a:extLst>
              <a:ext uri="{FF2B5EF4-FFF2-40B4-BE49-F238E27FC236}">
                <a16:creationId xmlns:a16="http://schemas.microsoft.com/office/drawing/2014/main" id="{8131DC0B-143B-F55F-F153-79F8E7B5550B}"/>
              </a:ext>
            </a:extLst>
          </p:cNvPr>
          <p:cNvSpPr>
            <a:spLocks noGrp="1"/>
          </p:cNvSpPr>
          <p:nvPr>
            <p:ph idx="1"/>
          </p:nvPr>
        </p:nvSpPr>
        <p:spPr/>
        <p:txBody>
          <a:bodyPr/>
          <a:lstStyle/>
          <a:p>
            <a:r>
              <a:rPr lang="en-IN" dirty="0"/>
              <a:t>Source </a:t>
            </a:r>
            <a:r>
              <a:rPr lang="en-US" dirty="0"/>
              <a:t>: UCI (https://archive.ics.uci.edu/dataset/292/wholesale+customers)</a:t>
            </a:r>
            <a:endParaRPr dirty="0"/>
          </a:p>
          <a:p>
            <a:r>
              <a:rPr dirty="0"/>
              <a:t>Number of samples and features</a:t>
            </a:r>
            <a:r>
              <a:rPr lang="en-US" dirty="0"/>
              <a:t> </a:t>
            </a:r>
            <a:endParaRPr dirty="0"/>
          </a:p>
          <a:p>
            <a:endParaRPr lang="en-US" dirty="0"/>
          </a:p>
          <a:p>
            <a:r>
              <a:rPr dirty="0"/>
              <a:t>Feature descriptions</a:t>
            </a:r>
            <a:r>
              <a:rPr lang="en-US" dirty="0"/>
              <a:t> : A business client (such as a restaurant or retailer), characterized by their annual spending across different product categories like fresh food, milk, and grocery.</a:t>
            </a:r>
          </a:p>
          <a:p>
            <a:r>
              <a:rPr dirty="0"/>
              <a:t>Preprocessing steps </a:t>
            </a:r>
            <a:r>
              <a:rPr lang="en-US" dirty="0"/>
              <a:t>: scaling (standard scaler)</a:t>
            </a:r>
            <a:endParaRPr dirty="0"/>
          </a:p>
          <a:p>
            <a:r>
              <a:rPr dirty="0"/>
              <a:t>Train–test split details</a:t>
            </a:r>
            <a:r>
              <a:rPr lang="en-US" dirty="0"/>
              <a:t> : None (not applicable)</a:t>
            </a:r>
            <a:endParaRPr dirty="0"/>
          </a:p>
        </p:txBody>
      </p:sp>
      <p:pic>
        <p:nvPicPr>
          <p:cNvPr id="5" name="Picture 4">
            <a:extLst>
              <a:ext uri="{FF2B5EF4-FFF2-40B4-BE49-F238E27FC236}">
                <a16:creationId xmlns:a16="http://schemas.microsoft.com/office/drawing/2014/main" id="{D7FBAF42-D7E2-5850-D066-E399F4085BA1}"/>
              </a:ext>
            </a:extLst>
          </p:cNvPr>
          <p:cNvPicPr>
            <a:picLocks noChangeAspect="1"/>
          </p:cNvPicPr>
          <p:nvPr/>
        </p:nvPicPr>
        <p:blipFill>
          <a:blip r:embed="rId2"/>
          <a:stretch>
            <a:fillRect/>
          </a:stretch>
        </p:blipFill>
        <p:spPr>
          <a:xfrm>
            <a:off x="4575037" y="2204762"/>
            <a:ext cx="3932261" cy="571550"/>
          </a:xfrm>
          <a:prstGeom prst="rect">
            <a:avLst/>
          </a:prstGeom>
        </p:spPr>
      </p:pic>
    </p:spTree>
    <p:extLst>
      <p:ext uri="{BB962C8B-B14F-4D97-AF65-F5344CB8AC3E}">
        <p14:creationId xmlns:p14="http://schemas.microsoft.com/office/powerpoint/2010/main" val="2298664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1C4D9-D64F-031D-0E50-AB97B8C59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49A61-DABE-49BF-D6FD-FEBB1B423ACB}"/>
              </a:ext>
            </a:extLst>
          </p:cNvPr>
          <p:cNvSpPr>
            <a:spLocks noGrp="1"/>
          </p:cNvSpPr>
          <p:nvPr>
            <p:ph type="title"/>
          </p:nvPr>
        </p:nvSpPr>
        <p:spPr/>
        <p:txBody>
          <a:bodyPr/>
          <a:lstStyle/>
          <a:p>
            <a:r>
              <a:rPr lang="en-US" dirty="0"/>
              <a:t>11</a:t>
            </a:r>
            <a:r>
              <a:rPr dirty="0"/>
              <a:t>. Models Used for Dataset </a:t>
            </a:r>
            <a:r>
              <a:rPr lang="en-US" dirty="0"/>
              <a:t>3</a:t>
            </a:r>
            <a:endParaRPr dirty="0"/>
          </a:p>
        </p:txBody>
      </p:sp>
      <p:sp>
        <p:nvSpPr>
          <p:cNvPr id="3" name="Content Placeholder 2">
            <a:extLst>
              <a:ext uri="{FF2B5EF4-FFF2-40B4-BE49-F238E27FC236}">
                <a16:creationId xmlns:a16="http://schemas.microsoft.com/office/drawing/2014/main" id="{901A7287-AA3D-A15C-5110-05AA3AFDF2CA}"/>
              </a:ext>
            </a:extLst>
          </p:cNvPr>
          <p:cNvSpPr>
            <a:spLocks noGrp="1"/>
          </p:cNvSpPr>
          <p:nvPr>
            <p:ph idx="1"/>
          </p:nvPr>
        </p:nvSpPr>
        <p:spPr>
          <a:xfrm>
            <a:off x="5895325" y="4259179"/>
            <a:ext cx="4006666" cy="1613108"/>
          </a:xfrm>
        </p:spPr>
        <p:txBody>
          <a:bodyPr>
            <a:normAutofit/>
          </a:bodyPr>
          <a:lstStyle/>
          <a:p>
            <a:pPr marL="0" indent="0">
              <a:buNone/>
            </a:pPr>
            <a:r>
              <a:rPr b="1" dirty="0"/>
              <a:t>Frameworks used</a:t>
            </a:r>
            <a:endParaRPr lang="en-US" b="1" dirty="0"/>
          </a:p>
          <a:p>
            <a:pPr marL="0" indent="0">
              <a:buNone/>
            </a:pPr>
            <a:r>
              <a:rPr lang="en-IN" dirty="0"/>
              <a:t>Python, scikit-learn, pandas, </a:t>
            </a:r>
            <a:r>
              <a:rPr lang="en-IN" dirty="0" err="1"/>
              <a:t>numpy</a:t>
            </a:r>
            <a:r>
              <a:rPr lang="en-IN" dirty="0"/>
              <a:t>, matplotlib, seaborn, </a:t>
            </a:r>
            <a:r>
              <a:rPr lang="en-IN" dirty="0" err="1"/>
              <a:t>scipy</a:t>
            </a:r>
            <a:endParaRPr dirty="0"/>
          </a:p>
        </p:txBody>
      </p:sp>
      <p:sp>
        <p:nvSpPr>
          <p:cNvPr id="5" name="TextBox 4">
            <a:extLst>
              <a:ext uri="{FF2B5EF4-FFF2-40B4-BE49-F238E27FC236}">
                <a16:creationId xmlns:a16="http://schemas.microsoft.com/office/drawing/2014/main" id="{4631BC1B-D7C7-3763-114F-EE26F958D42F}"/>
              </a:ext>
            </a:extLst>
          </p:cNvPr>
          <p:cNvSpPr txBox="1"/>
          <p:nvPr/>
        </p:nvSpPr>
        <p:spPr>
          <a:xfrm>
            <a:off x="5790197" y="1951672"/>
            <a:ext cx="6093994" cy="1477328"/>
          </a:xfrm>
          <a:prstGeom prst="rect">
            <a:avLst/>
          </a:prstGeom>
          <a:noFill/>
        </p:spPr>
        <p:txBody>
          <a:bodyPr wrap="square">
            <a:spAutoFit/>
          </a:bodyPr>
          <a:lstStyle/>
          <a:p>
            <a:r>
              <a:rPr lang="en-US" b="1" dirty="0"/>
              <a:t>Reason for choosing each model</a:t>
            </a:r>
          </a:p>
          <a:p>
            <a:r>
              <a:rPr lang="en-US" dirty="0"/>
              <a:t>K-Means: Good for creating spherical, distinct clusters.</a:t>
            </a:r>
          </a:p>
          <a:p>
            <a:r>
              <a:rPr lang="en-US" dirty="0"/>
              <a:t>Hierarchical: For visualizing relationships, helps determine optimal cluster count.</a:t>
            </a:r>
          </a:p>
          <a:p>
            <a:r>
              <a:rPr lang="en-US" dirty="0"/>
              <a:t>DBSCAN: Good for arbitrary shapes and outlier detection.</a:t>
            </a:r>
          </a:p>
        </p:txBody>
      </p:sp>
      <p:sp>
        <p:nvSpPr>
          <p:cNvPr id="7" name="TextBox 6">
            <a:extLst>
              <a:ext uri="{FF2B5EF4-FFF2-40B4-BE49-F238E27FC236}">
                <a16:creationId xmlns:a16="http://schemas.microsoft.com/office/drawing/2014/main" id="{2F7AEDA4-B089-A8CE-9F7B-4DA4A4436308}"/>
              </a:ext>
            </a:extLst>
          </p:cNvPr>
          <p:cNvSpPr txBox="1"/>
          <p:nvPr/>
        </p:nvSpPr>
        <p:spPr>
          <a:xfrm>
            <a:off x="396742" y="2069265"/>
            <a:ext cx="5149816" cy="1200329"/>
          </a:xfrm>
          <a:prstGeom prst="rect">
            <a:avLst/>
          </a:prstGeom>
          <a:noFill/>
        </p:spPr>
        <p:txBody>
          <a:bodyPr wrap="square">
            <a:spAutoFit/>
          </a:bodyPr>
          <a:lstStyle/>
          <a:p>
            <a:r>
              <a:rPr lang="en-US" b="1" dirty="0"/>
              <a:t>List of models applied</a:t>
            </a:r>
          </a:p>
          <a:p>
            <a:r>
              <a:rPr lang="en-US" dirty="0"/>
              <a:t>K-Means</a:t>
            </a:r>
          </a:p>
          <a:p>
            <a:r>
              <a:rPr lang="en-US" dirty="0"/>
              <a:t>Agglomerate</a:t>
            </a:r>
          </a:p>
          <a:p>
            <a:r>
              <a:rPr lang="en-US" dirty="0"/>
              <a:t>DBSCAN </a:t>
            </a:r>
            <a:endParaRPr lang="en-IN" dirty="0"/>
          </a:p>
        </p:txBody>
      </p:sp>
      <p:sp>
        <p:nvSpPr>
          <p:cNvPr id="9" name="TextBox 8">
            <a:extLst>
              <a:ext uri="{FF2B5EF4-FFF2-40B4-BE49-F238E27FC236}">
                <a16:creationId xmlns:a16="http://schemas.microsoft.com/office/drawing/2014/main" id="{00F5AA22-4FA7-8340-64CA-F8A9D2C6659B}"/>
              </a:ext>
            </a:extLst>
          </p:cNvPr>
          <p:cNvSpPr txBox="1"/>
          <p:nvPr/>
        </p:nvSpPr>
        <p:spPr>
          <a:xfrm>
            <a:off x="396742" y="4188570"/>
            <a:ext cx="5393455" cy="1754326"/>
          </a:xfrm>
          <a:prstGeom prst="rect">
            <a:avLst/>
          </a:prstGeom>
          <a:noFill/>
        </p:spPr>
        <p:txBody>
          <a:bodyPr wrap="square">
            <a:spAutoFit/>
          </a:bodyPr>
          <a:lstStyle/>
          <a:p>
            <a:r>
              <a:rPr lang="en-US" b="1" dirty="0"/>
              <a:t>Hyperparameters</a:t>
            </a:r>
          </a:p>
          <a:p>
            <a:r>
              <a:rPr lang="en-US" dirty="0"/>
              <a:t>K-Means: </a:t>
            </a:r>
            <a:r>
              <a:rPr lang="en-US" dirty="0" err="1"/>
              <a:t>n_clusters</a:t>
            </a:r>
            <a:r>
              <a:rPr lang="en-US" dirty="0"/>
              <a:t>=3, </a:t>
            </a:r>
            <a:r>
              <a:rPr lang="en-US" dirty="0" err="1"/>
              <a:t>init</a:t>
            </a:r>
            <a:r>
              <a:rPr lang="en-US" dirty="0"/>
              <a:t>='k-means++', </a:t>
            </a:r>
            <a:r>
              <a:rPr lang="en-US" dirty="0" err="1"/>
              <a:t>n_init</a:t>
            </a:r>
            <a:r>
              <a:rPr lang="en-US" dirty="0"/>
              <a:t>=10, </a:t>
            </a:r>
            <a:r>
              <a:rPr lang="en-US" dirty="0" err="1"/>
              <a:t>random_state</a:t>
            </a:r>
            <a:r>
              <a:rPr lang="en-US" dirty="0"/>
              <a:t>=42</a:t>
            </a:r>
          </a:p>
          <a:p>
            <a:r>
              <a:rPr lang="en-US" dirty="0"/>
              <a:t>Hierarchical: Default</a:t>
            </a:r>
          </a:p>
          <a:p>
            <a:r>
              <a:rPr lang="en-US" dirty="0"/>
              <a:t>DBSCAN: Default</a:t>
            </a:r>
          </a:p>
          <a:p>
            <a:endParaRPr lang="en-US" dirty="0"/>
          </a:p>
        </p:txBody>
      </p:sp>
    </p:spTree>
    <p:extLst>
      <p:ext uri="{BB962C8B-B14F-4D97-AF65-F5344CB8AC3E}">
        <p14:creationId xmlns:p14="http://schemas.microsoft.com/office/powerpoint/2010/main" val="558791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9D9E3-6FCF-175F-B057-1B12EB1AF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D2AE70-1334-379B-4211-2A0E8BFAB033}"/>
              </a:ext>
            </a:extLst>
          </p:cNvPr>
          <p:cNvSpPr>
            <a:spLocks noGrp="1"/>
          </p:cNvSpPr>
          <p:nvPr>
            <p:ph type="title"/>
          </p:nvPr>
        </p:nvSpPr>
        <p:spPr/>
        <p:txBody>
          <a:bodyPr>
            <a:normAutofit/>
          </a:bodyPr>
          <a:lstStyle/>
          <a:p>
            <a:r>
              <a:rPr lang="en-US" dirty="0"/>
              <a:t>12</a:t>
            </a:r>
            <a:r>
              <a:rPr dirty="0"/>
              <a:t>. Result Analysis – Dataset </a:t>
            </a:r>
            <a:r>
              <a:rPr lang="en-US" dirty="0"/>
              <a:t>3</a:t>
            </a:r>
            <a:r>
              <a:rPr lang="en-IN" dirty="0"/>
              <a:t> (if classification)</a:t>
            </a:r>
            <a:endParaRPr dirty="0"/>
          </a:p>
        </p:txBody>
      </p:sp>
      <p:sp>
        <p:nvSpPr>
          <p:cNvPr id="3" name="Content Placeholder 2">
            <a:extLst>
              <a:ext uri="{FF2B5EF4-FFF2-40B4-BE49-F238E27FC236}">
                <a16:creationId xmlns:a16="http://schemas.microsoft.com/office/drawing/2014/main" id="{16D544E1-3DB3-6DD4-F16E-941C7791D910}"/>
              </a:ext>
            </a:extLst>
          </p:cNvPr>
          <p:cNvSpPr>
            <a:spLocks noGrp="1"/>
          </p:cNvSpPr>
          <p:nvPr>
            <p:ph idx="1"/>
          </p:nvPr>
        </p:nvSpPr>
        <p:spPr/>
        <p:txBody>
          <a:bodyPr/>
          <a:lstStyle/>
          <a:p>
            <a:r>
              <a:rPr lang="en-IN" dirty="0"/>
              <a:t>Confusion Matrix</a:t>
            </a:r>
          </a:p>
          <a:p>
            <a:r>
              <a:rPr lang="en-US" dirty="0"/>
              <a:t>Accuracy, Precision, Recall, Specificity, F1</a:t>
            </a:r>
          </a:p>
          <a:p>
            <a:r>
              <a:rPr lang="en-IN" dirty="0"/>
              <a:t>ROC-AUC, PR-AUC</a:t>
            </a:r>
          </a:p>
          <a:p>
            <a:r>
              <a:rPr lang="en-IN" dirty="0"/>
              <a:t>ROC, PR Curves</a:t>
            </a:r>
            <a:endParaRPr dirty="0"/>
          </a:p>
        </p:txBody>
      </p:sp>
    </p:spTree>
    <p:extLst>
      <p:ext uri="{BB962C8B-B14F-4D97-AF65-F5344CB8AC3E}">
        <p14:creationId xmlns:p14="http://schemas.microsoft.com/office/powerpoint/2010/main" val="958603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0E5BF-C18D-9D3E-29F0-742BC9DA37C8}"/>
              </a:ext>
            </a:extLst>
          </p:cNvPr>
          <p:cNvSpPr>
            <a:spLocks noGrp="1"/>
          </p:cNvSpPr>
          <p:nvPr>
            <p:ph type="title"/>
          </p:nvPr>
        </p:nvSpPr>
        <p:spPr/>
        <p:txBody>
          <a:bodyPr/>
          <a:lstStyle/>
          <a:p>
            <a:r>
              <a:rPr lang="en-IN" dirty="0"/>
              <a:t>13. Interpretation of Results</a:t>
            </a:r>
          </a:p>
        </p:txBody>
      </p:sp>
      <p:sp>
        <p:nvSpPr>
          <p:cNvPr id="3" name="Content Placeholder 2">
            <a:extLst>
              <a:ext uri="{FF2B5EF4-FFF2-40B4-BE49-F238E27FC236}">
                <a16:creationId xmlns:a16="http://schemas.microsoft.com/office/drawing/2014/main" id="{758EA728-DAFF-6FDF-3CB0-5648FDCC67F1}"/>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762443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A6D9C-F213-FFD7-2F54-2199D4BE5D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5A117-168B-8BF9-2C40-A815A7B55E17}"/>
              </a:ext>
            </a:extLst>
          </p:cNvPr>
          <p:cNvSpPr>
            <a:spLocks noGrp="1"/>
          </p:cNvSpPr>
          <p:nvPr>
            <p:ph type="title"/>
          </p:nvPr>
        </p:nvSpPr>
        <p:spPr/>
        <p:txBody>
          <a:bodyPr/>
          <a:lstStyle/>
          <a:p>
            <a:r>
              <a:rPr lang="en-US" dirty="0"/>
              <a:t>14</a:t>
            </a:r>
            <a:r>
              <a:rPr dirty="0"/>
              <a:t>. Dataset </a:t>
            </a:r>
            <a:r>
              <a:rPr lang="en-US" dirty="0"/>
              <a:t>4</a:t>
            </a:r>
            <a:r>
              <a:rPr dirty="0"/>
              <a:t> – Description</a:t>
            </a:r>
          </a:p>
        </p:txBody>
      </p:sp>
      <p:sp>
        <p:nvSpPr>
          <p:cNvPr id="3" name="Content Placeholder 2">
            <a:extLst>
              <a:ext uri="{FF2B5EF4-FFF2-40B4-BE49-F238E27FC236}">
                <a16:creationId xmlns:a16="http://schemas.microsoft.com/office/drawing/2014/main" id="{282DB29D-657C-C059-A831-CE5C11239349}"/>
              </a:ext>
            </a:extLst>
          </p:cNvPr>
          <p:cNvSpPr>
            <a:spLocks noGrp="1"/>
          </p:cNvSpPr>
          <p:nvPr>
            <p:ph idx="1"/>
          </p:nvPr>
        </p:nvSpPr>
        <p:spPr/>
        <p:txBody>
          <a:bodyPr>
            <a:normAutofit/>
          </a:bodyPr>
          <a:lstStyle/>
          <a:p>
            <a:r>
              <a:rPr dirty="0"/>
              <a:t>Source </a:t>
            </a:r>
            <a:r>
              <a:rPr lang="en-US" dirty="0"/>
              <a:t>: UCI (https://archive.ics.uci.edu/dataset/468/online+shoppers+purchasing+intention+dataset)</a:t>
            </a:r>
            <a:endParaRPr dirty="0"/>
          </a:p>
          <a:p>
            <a:r>
              <a:rPr dirty="0"/>
              <a:t>Number of samples and features</a:t>
            </a:r>
            <a:r>
              <a:rPr lang="en-US" dirty="0"/>
              <a:t> ; </a:t>
            </a:r>
            <a:r>
              <a:rPr dirty="0"/>
              <a:t>Feature descriptions</a:t>
            </a:r>
            <a:r>
              <a:rPr lang="en-US" dirty="0"/>
              <a:t> </a:t>
            </a:r>
          </a:p>
          <a:p>
            <a:endParaRPr lang="en-US" dirty="0"/>
          </a:p>
          <a:p>
            <a:endParaRPr lang="en-US" dirty="0"/>
          </a:p>
          <a:p>
            <a:r>
              <a:rPr lang="en-IN" dirty="0"/>
              <a:t>Feature descriptions : </a:t>
            </a:r>
            <a:r>
              <a:rPr lang="en-US" dirty="0"/>
              <a:t>A single user session on the website, tracking navigation patterns, page views, and whether the visit resulted in a transaction.</a:t>
            </a:r>
          </a:p>
          <a:p>
            <a:r>
              <a:rPr lang="en-US" dirty="0"/>
              <a:t>Preprocessing steps : data cleaning{removed duplicates}, encoding {label encoder}, normalization {standard scaler}</a:t>
            </a:r>
          </a:p>
          <a:p>
            <a:r>
              <a:rPr dirty="0"/>
              <a:t>Train–test split details</a:t>
            </a:r>
            <a:r>
              <a:rPr lang="en-US" dirty="0"/>
              <a:t> : </a:t>
            </a:r>
            <a:r>
              <a:rPr lang="en-IN" dirty="0"/>
              <a:t>70:30 train test split, random state 42</a:t>
            </a:r>
            <a:endParaRPr dirty="0"/>
          </a:p>
        </p:txBody>
      </p:sp>
      <p:pic>
        <p:nvPicPr>
          <p:cNvPr id="5" name="Picture 4">
            <a:extLst>
              <a:ext uri="{FF2B5EF4-FFF2-40B4-BE49-F238E27FC236}">
                <a16:creationId xmlns:a16="http://schemas.microsoft.com/office/drawing/2014/main" id="{DF04CF0D-029B-2813-C21A-49AC68CEA6F2}"/>
              </a:ext>
            </a:extLst>
          </p:cNvPr>
          <p:cNvPicPr>
            <a:picLocks noChangeAspect="1"/>
          </p:cNvPicPr>
          <p:nvPr/>
        </p:nvPicPr>
        <p:blipFill>
          <a:blip r:embed="rId2"/>
          <a:stretch>
            <a:fillRect/>
          </a:stretch>
        </p:blipFill>
        <p:spPr>
          <a:xfrm>
            <a:off x="1097280" y="2811727"/>
            <a:ext cx="6957663" cy="617273"/>
          </a:xfrm>
          <a:prstGeom prst="rect">
            <a:avLst/>
          </a:prstGeom>
        </p:spPr>
      </p:pic>
    </p:spTree>
    <p:extLst>
      <p:ext uri="{BB962C8B-B14F-4D97-AF65-F5344CB8AC3E}">
        <p14:creationId xmlns:p14="http://schemas.microsoft.com/office/powerpoint/2010/main" val="1808233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3A4C7-53EA-A8EE-1B41-5E3AF48092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FA0B4-3543-902D-EB66-F69810D46232}"/>
              </a:ext>
            </a:extLst>
          </p:cNvPr>
          <p:cNvSpPr>
            <a:spLocks noGrp="1"/>
          </p:cNvSpPr>
          <p:nvPr>
            <p:ph type="title"/>
          </p:nvPr>
        </p:nvSpPr>
        <p:spPr/>
        <p:txBody>
          <a:bodyPr/>
          <a:lstStyle/>
          <a:p>
            <a:r>
              <a:rPr lang="en-US" dirty="0"/>
              <a:t>15</a:t>
            </a:r>
            <a:r>
              <a:rPr dirty="0"/>
              <a:t>. Models Used for Dataset </a:t>
            </a:r>
            <a:r>
              <a:rPr lang="en-US" dirty="0"/>
              <a:t>4</a:t>
            </a:r>
            <a:endParaRPr dirty="0"/>
          </a:p>
        </p:txBody>
      </p:sp>
      <p:sp>
        <p:nvSpPr>
          <p:cNvPr id="3" name="Content Placeholder 2">
            <a:extLst>
              <a:ext uri="{FF2B5EF4-FFF2-40B4-BE49-F238E27FC236}">
                <a16:creationId xmlns:a16="http://schemas.microsoft.com/office/drawing/2014/main" id="{0D46CA3B-8F3C-E05B-D85D-A131750410F0}"/>
              </a:ext>
            </a:extLst>
          </p:cNvPr>
          <p:cNvSpPr>
            <a:spLocks noGrp="1"/>
          </p:cNvSpPr>
          <p:nvPr>
            <p:ph idx="1"/>
          </p:nvPr>
        </p:nvSpPr>
        <p:spPr>
          <a:xfrm>
            <a:off x="451587" y="2066965"/>
            <a:ext cx="5218698" cy="1754325"/>
          </a:xfrm>
        </p:spPr>
        <p:txBody>
          <a:bodyPr>
            <a:normAutofit fontScale="92500" lnSpcReduction="20000"/>
          </a:bodyPr>
          <a:lstStyle/>
          <a:p>
            <a:r>
              <a:rPr lang="en-US" b="1" dirty="0"/>
              <a:t>List of Models Applied:</a:t>
            </a:r>
          </a:p>
          <a:p>
            <a:r>
              <a:rPr lang="en-US" dirty="0"/>
              <a:t>Principal Component Analysis (PCA)</a:t>
            </a:r>
          </a:p>
          <a:p>
            <a:r>
              <a:rPr lang="en-US" dirty="0"/>
              <a:t>Linear Discriminant Analysis (LDA)</a:t>
            </a:r>
          </a:p>
          <a:p>
            <a:r>
              <a:rPr lang="en-US" dirty="0"/>
              <a:t>Logistic Regression (wrapped in Sequential Feature Selection)</a:t>
            </a:r>
            <a:endParaRPr dirty="0"/>
          </a:p>
        </p:txBody>
      </p:sp>
      <p:sp>
        <p:nvSpPr>
          <p:cNvPr id="5" name="TextBox 4">
            <a:extLst>
              <a:ext uri="{FF2B5EF4-FFF2-40B4-BE49-F238E27FC236}">
                <a16:creationId xmlns:a16="http://schemas.microsoft.com/office/drawing/2014/main" id="{C4D0E98C-48C8-B049-9260-29A75BB6202B}"/>
              </a:ext>
            </a:extLst>
          </p:cNvPr>
          <p:cNvSpPr txBox="1"/>
          <p:nvPr/>
        </p:nvSpPr>
        <p:spPr>
          <a:xfrm>
            <a:off x="339892" y="4150895"/>
            <a:ext cx="5330393" cy="1754326"/>
          </a:xfrm>
          <a:prstGeom prst="rect">
            <a:avLst/>
          </a:prstGeom>
          <a:noFill/>
        </p:spPr>
        <p:txBody>
          <a:bodyPr wrap="square">
            <a:spAutoFit/>
          </a:bodyPr>
          <a:lstStyle/>
          <a:p>
            <a:r>
              <a:rPr lang="en-IN" b="1" dirty="0"/>
              <a:t>Hyperparameters:</a:t>
            </a:r>
          </a:p>
          <a:p>
            <a:r>
              <a:rPr lang="en-IN" dirty="0"/>
              <a:t>PCA: </a:t>
            </a:r>
            <a:r>
              <a:rPr lang="en-IN" dirty="0" err="1"/>
              <a:t>n_components</a:t>
            </a:r>
            <a:r>
              <a:rPr lang="en-IN" dirty="0"/>
              <a:t>=2 (for 2D visualization).</a:t>
            </a:r>
          </a:p>
          <a:p>
            <a:r>
              <a:rPr lang="en-IN" dirty="0"/>
              <a:t>LDA: </a:t>
            </a:r>
            <a:r>
              <a:rPr lang="en-IN" dirty="0" err="1"/>
              <a:t>n_components</a:t>
            </a:r>
            <a:r>
              <a:rPr lang="en-IN" dirty="0"/>
              <a:t>=1 (optimal for binary classification).</a:t>
            </a:r>
          </a:p>
          <a:p>
            <a:r>
              <a:rPr lang="en-IN" dirty="0"/>
              <a:t>Logistic Regression: </a:t>
            </a:r>
            <a:r>
              <a:rPr lang="en-IN" dirty="0" err="1"/>
              <a:t>max_iter</a:t>
            </a:r>
            <a:r>
              <a:rPr lang="en-IN" dirty="0"/>
              <a:t>=1000, </a:t>
            </a:r>
            <a:r>
              <a:rPr lang="en-IN" dirty="0" err="1"/>
              <a:t>random_state</a:t>
            </a:r>
            <a:r>
              <a:rPr lang="en-IN" dirty="0"/>
              <a:t>=42.</a:t>
            </a:r>
          </a:p>
          <a:p>
            <a:r>
              <a:rPr lang="en-IN" dirty="0"/>
              <a:t>Feature Selection: </a:t>
            </a:r>
            <a:r>
              <a:rPr lang="en-IN" dirty="0" err="1"/>
              <a:t>n_features_to_select</a:t>
            </a:r>
            <a:r>
              <a:rPr lang="en-IN" dirty="0"/>
              <a:t>=5, direction='forward'.</a:t>
            </a:r>
          </a:p>
        </p:txBody>
      </p:sp>
      <p:sp>
        <p:nvSpPr>
          <p:cNvPr id="6" name="TextBox 5">
            <a:extLst>
              <a:ext uri="{FF2B5EF4-FFF2-40B4-BE49-F238E27FC236}">
                <a16:creationId xmlns:a16="http://schemas.microsoft.com/office/drawing/2014/main" id="{A5CA0AB7-3A1A-62A1-177C-818CC6F1439A}"/>
              </a:ext>
            </a:extLst>
          </p:cNvPr>
          <p:cNvSpPr txBox="1"/>
          <p:nvPr/>
        </p:nvSpPr>
        <p:spPr>
          <a:xfrm>
            <a:off x="5876925" y="4150895"/>
            <a:ext cx="5856371" cy="646331"/>
          </a:xfrm>
          <a:prstGeom prst="rect">
            <a:avLst/>
          </a:prstGeom>
          <a:noFill/>
        </p:spPr>
        <p:txBody>
          <a:bodyPr wrap="square">
            <a:spAutoFit/>
          </a:bodyPr>
          <a:lstStyle/>
          <a:p>
            <a:r>
              <a:rPr lang="en-IN" b="1" dirty="0"/>
              <a:t>Frameworks used:</a:t>
            </a:r>
          </a:p>
          <a:p>
            <a:r>
              <a:rPr lang="en-IN" dirty="0"/>
              <a:t>Python, scikit-learn, pandas, matplotlib</a:t>
            </a:r>
          </a:p>
        </p:txBody>
      </p:sp>
      <p:sp>
        <p:nvSpPr>
          <p:cNvPr id="8" name="TextBox 7">
            <a:extLst>
              <a:ext uri="{FF2B5EF4-FFF2-40B4-BE49-F238E27FC236}">
                <a16:creationId xmlns:a16="http://schemas.microsoft.com/office/drawing/2014/main" id="{8802B2BC-AB39-60FE-96C8-F8D14DAA1870}"/>
              </a:ext>
            </a:extLst>
          </p:cNvPr>
          <p:cNvSpPr txBox="1"/>
          <p:nvPr/>
        </p:nvSpPr>
        <p:spPr>
          <a:xfrm>
            <a:off x="5876925" y="2066965"/>
            <a:ext cx="6093994" cy="2031325"/>
          </a:xfrm>
          <a:prstGeom prst="rect">
            <a:avLst/>
          </a:prstGeom>
          <a:noFill/>
        </p:spPr>
        <p:txBody>
          <a:bodyPr wrap="square">
            <a:spAutoFit/>
          </a:bodyPr>
          <a:lstStyle/>
          <a:p>
            <a:r>
              <a:rPr lang="en-IN" b="1" dirty="0"/>
              <a:t>Reason for Choosing Each Model:</a:t>
            </a:r>
          </a:p>
          <a:p>
            <a:r>
              <a:rPr lang="en-IN" dirty="0"/>
              <a:t>PCA: Unsupervised reduction to minimize features while retaining 95% of data variance.</a:t>
            </a:r>
          </a:p>
          <a:p>
            <a:r>
              <a:rPr lang="en-IN" dirty="0"/>
              <a:t>LDA: Supervised reduction to project data onto a lower-dimensional space that maximizes class separation.</a:t>
            </a:r>
          </a:p>
          <a:p>
            <a:r>
              <a:rPr lang="en-IN" dirty="0"/>
              <a:t>Logistic Regression: Robust baseline classifier used to evaluate and select the most significant features.</a:t>
            </a:r>
          </a:p>
        </p:txBody>
      </p:sp>
    </p:spTree>
    <p:extLst>
      <p:ext uri="{BB962C8B-B14F-4D97-AF65-F5344CB8AC3E}">
        <p14:creationId xmlns:p14="http://schemas.microsoft.com/office/powerpoint/2010/main" val="923775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C17A2-F8E9-899B-5C9D-28E04ABD0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3186C-65C6-60D8-9A8E-6A8004F1D1C0}"/>
              </a:ext>
            </a:extLst>
          </p:cNvPr>
          <p:cNvSpPr>
            <a:spLocks noGrp="1"/>
          </p:cNvSpPr>
          <p:nvPr>
            <p:ph type="title"/>
          </p:nvPr>
        </p:nvSpPr>
        <p:spPr/>
        <p:txBody>
          <a:bodyPr>
            <a:normAutofit/>
          </a:bodyPr>
          <a:lstStyle/>
          <a:p>
            <a:r>
              <a:rPr lang="en-US" dirty="0"/>
              <a:t>16</a:t>
            </a:r>
            <a:r>
              <a:rPr dirty="0"/>
              <a:t>. Result Analysis – Dataset </a:t>
            </a:r>
            <a:r>
              <a:rPr lang="en-US" dirty="0"/>
              <a:t>4</a:t>
            </a:r>
            <a:r>
              <a:rPr lang="en-IN" dirty="0"/>
              <a:t> (if classification)</a:t>
            </a:r>
            <a:endParaRPr dirty="0"/>
          </a:p>
        </p:txBody>
      </p:sp>
      <p:sp>
        <p:nvSpPr>
          <p:cNvPr id="3" name="Content Placeholder 2">
            <a:extLst>
              <a:ext uri="{FF2B5EF4-FFF2-40B4-BE49-F238E27FC236}">
                <a16:creationId xmlns:a16="http://schemas.microsoft.com/office/drawing/2014/main" id="{7ABA8FF1-3EED-66A8-BB4F-3E7BD5A60BD3}"/>
              </a:ext>
            </a:extLst>
          </p:cNvPr>
          <p:cNvSpPr>
            <a:spLocks noGrp="1"/>
          </p:cNvSpPr>
          <p:nvPr>
            <p:ph idx="1"/>
          </p:nvPr>
        </p:nvSpPr>
        <p:spPr/>
        <p:txBody>
          <a:bodyPr/>
          <a:lstStyle/>
          <a:p>
            <a:r>
              <a:rPr lang="en-IN" dirty="0"/>
              <a:t>Confusion Matrix</a:t>
            </a:r>
          </a:p>
          <a:p>
            <a:r>
              <a:rPr lang="en-US" dirty="0"/>
              <a:t>Accuracy, Precision, Recall, Specificity, F1</a:t>
            </a:r>
          </a:p>
          <a:p>
            <a:r>
              <a:rPr lang="en-IN" dirty="0"/>
              <a:t>ROC-AUC, PR-AUC</a:t>
            </a:r>
          </a:p>
          <a:p>
            <a:r>
              <a:rPr lang="en-IN" dirty="0"/>
              <a:t>ROC, PR Curves</a:t>
            </a:r>
            <a:endParaRPr dirty="0"/>
          </a:p>
        </p:txBody>
      </p:sp>
    </p:spTree>
    <p:extLst>
      <p:ext uri="{BB962C8B-B14F-4D97-AF65-F5344CB8AC3E}">
        <p14:creationId xmlns:p14="http://schemas.microsoft.com/office/powerpoint/2010/main" val="1972627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3117E-1161-0A58-03C0-EC45D9DCBE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D2B49-D75E-72B0-B8A9-38F9F7DCA651}"/>
              </a:ext>
            </a:extLst>
          </p:cNvPr>
          <p:cNvSpPr>
            <a:spLocks noGrp="1"/>
          </p:cNvSpPr>
          <p:nvPr>
            <p:ph type="title"/>
          </p:nvPr>
        </p:nvSpPr>
        <p:spPr/>
        <p:txBody>
          <a:bodyPr/>
          <a:lstStyle/>
          <a:p>
            <a:r>
              <a:rPr lang="en-IN" dirty="0"/>
              <a:t>17. Interpretation of Results</a:t>
            </a:r>
          </a:p>
        </p:txBody>
      </p:sp>
      <p:sp>
        <p:nvSpPr>
          <p:cNvPr id="3" name="Content Placeholder 2">
            <a:extLst>
              <a:ext uri="{FF2B5EF4-FFF2-40B4-BE49-F238E27FC236}">
                <a16:creationId xmlns:a16="http://schemas.microsoft.com/office/drawing/2014/main" id="{58F2C366-387D-7A77-157F-FF2F89F0F061}"/>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229990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18</a:t>
            </a:r>
            <a:r>
              <a:rPr dirty="0"/>
              <a:t>. Final Comparative Summary</a:t>
            </a:r>
          </a:p>
        </p:txBody>
      </p:sp>
      <p:sp>
        <p:nvSpPr>
          <p:cNvPr id="3" name="Content Placeholder 2"/>
          <p:cNvSpPr>
            <a:spLocks noGrp="1"/>
          </p:cNvSpPr>
          <p:nvPr>
            <p:ph idx="1"/>
          </p:nvPr>
        </p:nvSpPr>
        <p:spPr/>
        <p:txBody>
          <a:bodyPr/>
          <a:lstStyle/>
          <a:p>
            <a:r>
              <a:rPr dirty="0"/>
              <a:t>Comparison of models</a:t>
            </a:r>
          </a:p>
          <a:p>
            <a:r>
              <a:rPr dirty="0"/>
              <a:t>Best-performing model</a:t>
            </a:r>
          </a:p>
          <a:p>
            <a:r>
              <a:rPr dirty="0"/>
              <a:t>Insights gained</a:t>
            </a:r>
          </a:p>
          <a:p>
            <a:r>
              <a:rPr dirty="0"/>
              <a:t>Future improvements</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good">
      <a:majorFont>
        <a:latin typeface="Bahnschrift"/>
        <a:ea typeface=""/>
        <a:cs typeface=""/>
      </a:majorFont>
      <a:minorFont>
        <a:latin typeface="Bahnschrift Light SemiCondensed"/>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
  <TotalTime>1479</TotalTime>
  <Words>1143</Words>
  <Application>Microsoft Office PowerPoint</Application>
  <PresentationFormat>Widescreen</PresentationFormat>
  <Paragraphs>123</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Bahnschrift</vt:lpstr>
      <vt:lpstr>Bahnschrift Light SemiCondensed</vt:lpstr>
      <vt:lpstr>Calibri</vt:lpstr>
      <vt:lpstr>Wingdings</vt:lpstr>
      <vt:lpstr>Retrospect</vt:lpstr>
      <vt:lpstr>E-commerce and retail analytics using machine learning techniques  A8</vt:lpstr>
      <vt:lpstr>1. Introduction</vt:lpstr>
      <vt:lpstr>2. Dataset 1 – Description</vt:lpstr>
      <vt:lpstr>3. Models Used for Dataset 1</vt:lpstr>
      <vt:lpstr>4. Result Analysis – Dataset 1</vt:lpstr>
      <vt:lpstr>5. Interpretation of Results</vt:lpstr>
      <vt:lpstr>6. Dataset 2 – Description</vt:lpstr>
      <vt:lpstr>7. Models Used for Dataset 2</vt:lpstr>
      <vt:lpstr>8. Result Analysis – Dataset 2 (if classification)</vt:lpstr>
      <vt:lpstr>9. Interpretation of Results</vt:lpstr>
      <vt:lpstr>10. Dataset 3 – Description</vt:lpstr>
      <vt:lpstr>11. Models Used for Dataset 3</vt:lpstr>
      <vt:lpstr>12. Result Analysis – Dataset 3 (if classification)</vt:lpstr>
      <vt:lpstr>13. Interpretation of Results</vt:lpstr>
      <vt:lpstr>14. Dataset 4 – Description</vt:lpstr>
      <vt:lpstr>15. Models Used for Dataset 4</vt:lpstr>
      <vt:lpstr>16. Result Analysis – Dataset 4 (if classification)</vt:lpstr>
      <vt:lpstr>17. Interpretation of Results</vt:lpstr>
      <vt:lpstr>18. Final Comparative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Paper Presentation on “DeepPap: deep convolutional networks for cervical cell classification”</dc:title>
  <dc:creator>vinitha Panicker</dc:creator>
  <cp:lastModifiedBy>Prasad Electronics</cp:lastModifiedBy>
  <cp:revision>48</cp:revision>
  <dcterms:created xsi:type="dcterms:W3CDTF">2020-08-24T06:49:48Z</dcterms:created>
  <dcterms:modified xsi:type="dcterms:W3CDTF">2025-11-27T16:33:35Z</dcterms:modified>
</cp:coreProperties>
</file>