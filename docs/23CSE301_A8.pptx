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sldIdLst>
    <p:sldId id="256" r:id="rId2"/>
    <p:sldId id="268" r:id="rId3"/>
    <p:sldId id="258" r:id="rId4"/>
    <p:sldId id="270" r:id="rId5"/>
    <p:sldId id="271" r:id="rId6"/>
    <p:sldId id="272" r:id="rId7"/>
    <p:sldId id="259" r:id="rId8"/>
    <p:sldId id="273" r:id="rId9"/>
    <p:sldId id="274" r:id="rId10"/>
    <p:sldId id="275" r:id="rId11"/>
    <p:sldId id="260" r:id="rId12"/>
    <p:sldId id="276" r:id="rId13"/>
    <p:sldId id="277" r:id="rId14"/>
    <p:sldId id="278" r:id="rId15"/>
    <p:sldId id="269" r:id="rId16"/>
    <p:sldId id="279" r:id="rId17"/>
    <p:sldId id="280" r:id="rId18"/>
    <p:sldId id="281" r:id="rId19"/>
    <p:sldId id="26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67"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36009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3887304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34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167281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457699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2EF3F80-4C52-46D4-9D36-C6F3EED98E5F}" type="datetimeFigureOut">
              <a:rPr lang="en-IN" smtClean="0"/>
              <a:t>27-11-2025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059110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76019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C073E4A-4E84-4D73-A121-FB603FCC7256}" type="slidenum">
              <a:rPr lang="en-IN" smtClean="0"/>
              <a:t>‹#›</a:t>
            </a:fld>
            <a:endParaRPr lang="en-IN"/>
          </a:p>
        </p:txBody>
      </p:sp>
    </p:spTree>
    <p:extLst>
      <p:ext uri="{BB962C8B-B14F-4D97-AF65-F5344CB8AC3E}">
        <p14:creationId xmlns:p14="http://schemas.microsoft.com/office/powerpoint/2010/main" val="1969772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09936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67221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4067149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16000"/>
            <a:lum/>
          </a:blip>
          <a:srcRect/>
          <a:stretch>
            <a:fillRect t="-4000" b="-4000"/>
          </a:stretch>
        </a:blipFill>
        <a:effectLst/>
      </p:bgPr>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C2EF3F80-4C52-46D4-9D36-C6F3EED98E5F}" type="datetimeFigureOut">
              <a:rPr lang="en-IN" smtClean="0"/>
              <a:t>27-11-2025</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C073E4A-4E84-4D73-A121-FB603FCC7256}"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7484424"/>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66E56-5274-4F29-AF29-EFE0710BD547}"/>
              </a:ext>
            </a:extLst>
          </p:cNvPr>
          <p:cNvSpPr>
            <a:spLocks noGrp="1"/>
          </p:cNvSpPr>
          <p:nvPr>
            <p:ph type="ctrTitle"/>
          </p:nvPr>
        </p:nvSpPr>
        <p:spPr>
          <a:xfrm>
            <a:off x="1097280" y="2169367"/>
            <a:ext cx="10058400" cy="1259633"/>
          </a:xfrm>
        </p:spPr>
        <p:txBody>
          <a:bodyPr>
            <a:normAutofit fontScale="90000"/>
          </a:bodyPr>
          <a:lstStyle/>
          <a:p>
            <a:pPr algn="ctr"/>
            <a:r>
              <a:rPr lang="en-US" sz="4400" b="1" dirty="0"/>
              <a:t>E-commerce and retail analytics using machine learning techniques</a:t>
            </a:r>
            <a:br>
              <a:rPr lang="en-IN" b="1" dirty="0"/>
            </a:br>
            <a:br>
              <a:rPr lang="en-IN" sz="5400" dirty="0">
                <a:solidFill>
                  <a:srgbClr val="C00000"/>
                </a:solidFill>
                <a:latin typeface="Bahnschrift" panose="020B0502040204020203" pitchFamily="34" charset="0"/>
              </a:rPr>
            </a:br>
            <a:r>
              <a:rPr lang="en-IN" sz="5400" dirty="0">
                <a:solidFill>
                  <a:srgbClr val="C00000"/>
                </a:solidFill>
                <a:latin typeface="Bahnschrift" panose="020B0502040204020203" pitchFamily="34" charset="0"/>
              </a:rPr>
              <a:t>A8</a:t>
            </a:r>
          </a:p>
        </p:txBody>
      </p:sp>
      <p:sp>
        <p:nvSpPr>
          <p:cNvPr id="3" name="Subtitle 2">
            <a:extLst>
              <a:ext uri="{FF2B5EF4-FFF2-40B4-BE49-F238E27FC236}">
                <a16:creationId xmlns:a16="http://schemas.microsoft.com/office/drawing/2014/main" id="{F97E151A-6B9D-4D6D-86D9-0B3E9529BC66}"/>
              </a:ext>
            </a:extLst>
          </p:cNvPr>
          <p:cNvSpPr>
            <a:spLocks noGrp="1"/>
          </p:cNvSpPr>
          <p:nvPr>
            <p:ph type="subTitle" idx="1"/>
          </p:nvPr>
        </p:nvSpPr>
        <p:spPr>
          <a:xfrm>
            <a:off x="1100051" y="4455620"/>
            <a:ext cx="10582612" cy="1776738"/>
          </a:xfrm>
        </p:spPr>
        <p:txBody>
          <a:bodyPr>
            <a:normAutofit fontScale="92500" lnSpcReduction="10000"/>
          </a:bodyPr>
          <a:lstStyle/>
          <a:p>
            <a:pPr algn="r"/>
            <a:r>
              <a:rPr lang="en-IN" b="1" dirty="0"/>
              <a:t> Akshay s - AM.SC.U4CSE23009</a:t>
            </a:r>
          </a:p>
          <a:p>
            <a:pPr algn="r"/>
            <a:r>
              <a:rPr lang="en-IN" b="1" dirty="0"/>
              <a:t> Goutham Krishna - Am.sc.u4cse23031</a:t>
            </a:r>
          </a:p>
          <a:p>
            <a:pPr algn="r"/>
            <a:r>
              <a:rPr lang="en-IN" b="1" dirty="0"/>
              <a:t>Pranav s - Am.sc.u4cse23067</a:t>
            </a:r>
          </a:p>
          <a:p>
            <a:pPr algn="r"/>
            <a:r>
              <a:rPr lang="en-IN" b="1" dirty="0"/>
              <a:t> Rahul </a:t>
            </a:r>
            <a:r>
              <a:rPr lang="en-IN" b="1" dirty="0" err="1"/>
              <a:t>rajan</a:t>
            </a:r>
            <a:r>
              <a:rPr lang="en-IN" b="1" dirty="0"/>
              <a:t> Sebastian - Am.sc.u4cse23069</a:t>
            </a:r>
          </a:p>
          <a:p>
            <a:pPr algn="r"/>
            <a:endParaRPr lang="en-IN" b="1" dirty="0"/>
          </a:p>
        </p:txBody>
      </p:sp>
    </p:spTree>
    <p:extLst>
      <p:ext uri="{BB962C8B-B14F-4D97-AF65-F5344CB8AC3E}">
        <p14:creationId xmlns:p14="http://schemas.microsoft.com/office/powerpoint/2010/main" val="710157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387327"/>
            <a:ext cx="7384983" cy="748454"/>
          </a:xfrm>
        </p:spPr>
        <p:txBody>
          <a:bodyPr>
            <a:normAutofit/>
          </a:bodyPr>
          <a:lstStyle/>
          <a:p>
            <a:r>
              <a:rPr dirty="0"/>
              <a:t>1. Introduction</a:t>
            </a:r>
          </a:p>
        </p:txBody>
      </p:sp>
      <p:sp>
        <p:nvSpPr>
          <p:cNvPr id="3" name="Content Placeholder 2"/>
          <p:cNvSpPr>
            <a:spLocks noGrp="1"/>
          </p:cNvSpPr>
          <p:nvPr>
            <p:ph idx="1"/>
          </p:nvPr>
        </p:nvSpPr>
        <p:spPr>
          <a:xfrm>
            <a:off x="1097279" y="1840832"/>
            <a:ext cx="10200374" cy="4283242"/>
          </a:xfrm>
        </p:spPr>
        <p:txBody>
          <a:bodyPr>
            <a:normAutofit fontScale="92500" lnSpcReduction="10000"/>
          </a:bodyPr>
          <a:lstStyle/>
          <a:p>
            <a:pPr>
              <a:buFont typeface="Wingdings" panose="05000000000000000000" pitchFamily="2" charset="2"/>
              <a:buChar char="Ø"/>
            </a:pPr>
            <a:r>
              <a:rPr lang="en-US" dirty="0"/>
              <a:t>Problem Statement: Businesses struggle to utilize complex e-commerce data for decision-making; this project solves this by evaluating machine learning techniques. The challenge is to predict customer behavior (like churn and spending), segment customers effectively, and identify key drivers of engagement using diverse datasets.</a:t>
            </a:r>
          </a:p>
          <a:p>
            <a:pPr>
              <a:buFont typeface="Wingdings" panose="05000000000000000000" pitchFamily="2" charset="2"/>
              <a:buChar char="Ø"/>
            </a:pPr>
            <a:endParaRPr lang="en-US" dirty="0"/>
          </a:p>
          <a:p>
            <a:pPr>
              <a:buFont typeface="Wingdings" panose="05000000000000000000" pitchFamily="2" charset="2"/>
              <a:buChar char="Ø"/>
            </a:pPr>
            <a:r>
              <a:rPr lang="en-US" dirty="0"/>
              <a:t>Motivation : In the competitive retail landscape, gaining a deep understanding of customer patterns through advanced analytics is crucial for enabling businesses to improve retention strategies and drive sustainable revenue growth.</a:t>
            </a:r>
          </a:p>
          <a:p>
            <a:pPr>
              <a:buFont typeface="Wingdings" panose="05000000000000000000" pitchFamily="2" charset="2"/>
              <a:buChar char="Ø"/>
            </a:pPr>
            <a:endParaRPr lang="en-US" dirty="0"/>
          </a:p>
          <a:p>
            <a:pPr>
              <a:buFont typeface="Wingdings" panose="05000000000000000000" pitchFamily="2" charset="2"/>
              <a:buChar char="Ø"/>
            </a:pPr>
            <a:r>
              <a:rPr lang="en-US" dirty="0"/>
              <a:t>Objective : Our core objective is to implement and rigorously evaluate a range of machine learning algorithms across four different e-commerce datasets, and compare and contrast results.</a:t>
            </a:r>
          </a:p>
          <a:p>
            <a:pPr>
              <a:buFont typeface="Wingdings" panose="05000000000000000000" pitchFamily="2" charset="2"/>
              <a:buChar char="Ø"/>
            </a:pPr>
            <a:endParaRPr lang="en-US" dirty="0"/>
          </a:p>
          <a:p>
            <a:pPr>
              <a:buFont typeface="Wingdings" panose="05000000000000000000" pitchFamily="2" charset="2"/>
              <a:buChar char="Ø"/>
            </a:pPr>
            <a:r>
              <a:rPr dirty="0"/>
              <a:t>Type of ML task </a:t>
            </a:r>
            <a:r>
              <a:rPr lang="en-US" dirty="0"/>
              <a:t>: Covers Classification, Regression, Clustering, and Dimensionality reduction.</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2. Dataset 1 – Description</a:t>
            </a:r>
          </a:p>
        </p:txBody>
      </p:sp>
      <p:sp>
        <p:nvSpPr>
          <p:cNvPr id="3" name="Content Placeholder 2"/>
          <p:cNvSpPr>
            <a:spLocks noGrp="1"/>
          </p:cNvSpPr>
          <p:nvPr>
            <p:ph idx="1"/>
          </p:nvPr>
        </p:nvSpPr>
        <p:spPr/>
        <p:txBody>
          <a:bodyPr/>
          <a:lstStyle/>
          <a:p>
            <a:r>
              <a:rPr dirty="0"/>
              <a:t>Source </a:t>
            </a:r>
            <a:r>
              <a:rPr lang="en-US" dirty="0"/>
              <a:t>: Kaggle (https://www.kaggle.com/datasets/uom190346a/e-commerce-customer-behavior-dataset)</a:t>
            </a:r>
            <a:endParaRPr dirty="0"/>
          </a:p>
          <a:p>
            <a:r>
              <a:rPr lang="en-US" dirty="0"/>
              <a:t>Number of (samples : </a:t>
            </a:r>
            <a:r>
              <a:rPr lang="en-IN" dirty="0"/>
              <a:t>3941, features : 11 )</a:t>
            </a:r>
            <a:endParaRPr dirty="0"/>
          </a:p>
          <a:p>
            <a:r>
              <a:rPr dirty="0"/>
              <a:t>Feature descriptions</a:t>
            </a:r>
            <a:r>
              <a:rPr lang="en-US" dirty="0"/>
              <a:t> : </a:t>
            </a:r>
            <a:endParaRPr dirty="0"/>
          </a:p>
          <a:p>
            <a:r>
              <a:rPr dirty="0"/>
              <a:t>Preprocessing steps </a:t>
            </a:r>
            <a:r>
              <a:rPr lang="en-US" dirty="0"/>
              <a:t>: numerical {imputation-med, standard scaler}; categorical {imputation-most frequent, one hot encoding}</a:t>
            </a:r>
            <a:endParaRPr dirty="0"/>
          </a:p>
          <a:p>
            <a:r>
              <a:rPr dirty="0"/>
              <a:t>Train–test split details</a:t>
            </a:r>
            <a:r>
              <a:rPr lang="en-US" dirty="0"/>
              <a:t> : 80:20 train test split, random state 42</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5A8E2-48F5-A0A6-5263-9E89EFE30B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33B87E-016C-2C1D-157D-29AB96663EC7}"/>
              </a:ext>
            </a:extLst>
          </p:cNvPr>
          <p:cNvSpPr>
            <a:spLocks noGrp="1"/>
          </p:cNvSpPr>
          <p:nvPr>
            <p:ph type="title"/>
          </p:nvPr>
        </p:nvSpPr>
        <p:spPr/>
        <p:txBody>
          <a:bodyPr/>
          <a:lstStyle/>
          <a:p>
            <a:r>
              <a:rPr dirty="0"/>
              <a:t>2. Dataset </a:t>
            </a:r>
            <a:r>
              <a:rPr lang="en-US" dirty="0"/>
              <a:t>2</a:t>
            </a:r>
            <a:r>
              <a:rPr dirty="0"/>
              <a:t> – Description</a:t>
            </a:r>
          </a:p>
        </p:txBody>
      </p:sp>
      <p:sp>
        <p:nvSpPr>
          <p:cNvPr id="3" name="Content Placeholder 2">
            <a:extLst>
              <a:ext uri="{FF2B5EF4-FFF2-40B4-BE49-F238E27FC236}">
                <a16:creationId xmlns:a16="http://schemas.microsoft.com/office/drawing/2014/main" id="{C2BAAE58-99A5-EFB4-041C-FA84FD150A3D}"/>
              </a:ext>
            </a:extLst>
          </p:cNvPr>
          <p:cNvSpPr>
            <a:spLocks noGrp="1"/>
          </p:cNvSpPr>
          <p:nvPr>
            <p:ph idx="1"/>
          </p:nvPr>
        </p:nvSpPr>
        <p:spPr/>
        <p:txBody>
          <a:bodyPr/>
          <a:lstStyle/>
          <a:p>
            <a:r>
              <a:rPr lang="en-IN" dirty="0"/>
              <a:t>Source </a:t>
            </a:r>
            <a:r>
              <a:rPr lang="en-US" dirty="0"/>
              <a:t>: Kaggle (https://www.kaggle.com/datasets/uom190346a/e-commerce-customer-behavior-dataset)</a:t>
            </a:r>
            <a:endParaRPr dirty="0"/>
          </a:p>
          <a:p>
            <a:r>
              <a:rPr dirty="0"/>
              <a:t>Number of samples </a:t>
            </a:r>
            <a:r>
              <a:rPr lang="en-US" dirty="0"/>
              <a:t>(350) ;</a:t>
            </a:r>
            <a:r>
              <a:rPr dirty="0"/>
              <a:t> features</a:t>
            </a:r>
            <a:r>
              <a:rPr lang="en-US" dirty="0"/>
              <a:t> (11)</a:t>
            </a:r>
            <a:endParaRPr dirty="0"/>
          </a:p>
          <a:p>
            <a:r>
              <a:rPr dirty="0"/>
              <a:t>Feature descriptions</a:t>
            </a:r>
            <a:r>
              <a:rPr lang="en-US" dirty="0"/>
              <a:t> : </a:t>
            </a:r>
            <a:endParaRPr dirty="0"/>
          </a:p>
          <a:p>
            <a:r>
              <a:rPr lang="en-IN" dirty="0"/>
              <a:t>Preprocessing steps : encoding (binary, ordinal), imputation (mode), dropping missing rows</a:t>
            </a:r>
          </a:p>
          <a:p>
            <a:r>
              <a:rPr lang="en-IN" dirty="0"/>
              <a:t>Train–test split details : 80:20 train test split, random state 42</a:t>
            </a:r>
          </a:p>
        </p:txBody>
      </p:sp>
    </p:spTree>
    <p:extLst>
      <p:ext uri="{BB962C8B-B14F-4D97-AF65-F5344CB8AC3E}">
        <p14:creationId xmlns:p14="http://schemas.microsoft.com/office/powerpoint/2010/main" val="433571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C163D-1619-9D79-CA17-9B31F3C29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98917B-125D-0DF6-7B18-9A2FD91FACBD}"/>
              </a:ext>
            </a:extLst>
          </p:cNvPr>
          <p:cNvSpPr>
            <a:spLocks noGrp="1"/>
          </p:cNvSpPr>
          <p:nvPr>
            <p:ph type="title"/>
          </p:nvPr>
        </p:nvSpPr>
        <p:spPr/>
        <p:txBody>
          <a:bodyPr/>
          <a:lstStyle/>
          <a:p>
            <a:r>
              <a:t>2. Dataset 1 – Description</a:t>
            </a:r>
          </a:p>
        </p:txBody>
      </p:sp>
      <p:sp>
        <p:nvSpPr>
          <p:cNvPr id="3" name="Content Placeholder 2">
            <a:extLst>
              <a:ext uri="{FF2B5EF4-FFF2-40B4-BE49-F238E27FC236}">
                <a16:creationId xmlns:a16="http://schemas.microsoft.com/office/drawing/2014/main" id="{8131DC0B-143B-F55F-F153-79F8E7B5550B}"/>
              </a:ext>
            </a:extLst>
          </p:cNvPr>
          <p:cNvSpPr>
            <a:spLocks noGrp="1"/>
          </p:cNvSpPr>
          <p:nvPr>
            <p:ph idx="1"/>
          </p:nvPr>
        </p:nvSpPr>
        <p:spPr/>
        <p:txBody>
          <a:bodyPr/>
          <a:lstStyle/>
          <a:p>
            <a:r>
              <a:rPr dirty="0"/>
              <a:t>Source of </a:t>
            </a:r>
            <a:r>
              <a:rPr lang="en-IN" dirty="0"/>
              <a:t>the </a:t>
            </a:r>
            <a:r>
              <a:rPr dirty="0"/>
              <a:t>dataset</a:t>
            </a:r>
          </a:p>
          <a:p>
            <a:r>
              <a:rPr dirty="0"/>
              <a:t>Number of samples and features</a:t>
            </a:r>
          </a:p>
          <a:p>
            <a:r>
              <a:rPr dirty="0"/>
              <a:t>Feature descriptions</a:t>
            </a:r>
          </a:p>
          <a:p>
            <a:r>
              <a:rPr dirty="0"/>
              <a:t>Preprocessing steps (missing values, encoding, scaling)</a:t>
            </a:r>
          </a:p>
          <a:p>
            <a:r>
              <a:rPr dirty="0"/>
              <a:t>Train–test split details</a:t>
            </a:r>
          </a:p>
        </p:txBody>
      </p:sp>
    </p:spTree>
    <p:extLst>
      <p:ext uri="{BB962C8B-B14F-4D97-AF65-F5344CB8AC3E}">
        <p14:creationId xmlns:p14="http://schemas.microsoft.com/office/powerpoint/2010/main" val="22986641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A6D9C-F213-FFD7-2F54-2199D4BE5D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5A117-168B-8BF9-2C40-A815A7B55E17}"/>
              </a:ext>
            </a:extLst>
          </p:cNvPr>
          <p:cNvSpPr>
            <a:spLocks noGrp="1"/>
          </p:cNvSpPr>
          <p:nvPr>
            <p:ph type="title"/>
          </p:nvPr>
        </p:nvSpPr>
        <p:spPr/>
        <p:txBody>
          <a:bodyPr/>
          <a:lstStyle/>
          <a:p>
            <a:r>
              <a:t>2. Dataset 1 – Description</a:t>
            </a:r>
          </a:p>
        </p:txBody>
      </p:sp>
      <p:sp>
        <p:nvSpPr>
          <p:cNvPr id="3" name="Content Placeholder 2">
            <a:extLst>
              <a:ext uri="{FF2B5EF4-FFF2-40B4-BE49-F238E27FC236}">
                <a16:creationId xmlns:a16="http://schemas.microsoft.com/office/drawing/2014/main" id="{282DB29D-657C-C059-A831-CE5C11239349}"/>
              </a:ext>
            </a:extLst>
          </p:cNvPr>
          <p:cNvSpPr>
            <a:spLocks noGrp="1"/>
          </p:cNvSpPr>
          <p:nvPr>
            <p:ph idx="1"/>
          </p:nvPr>
        </p:nvSpPr>
        <p:spPr/>
        <p:txBody>
          <a:bodyPr/>
          <a:lstStyle/>
          <a:p>
            <a:r>
              <a:rPr dirty="0"/>
              <a:t>Source of </a:t>
            </a:r>
            <a:r>
              <a:rPr lang="en-IN" dirty="0"/>
              <a:t>the </a:t>
            </a:r>
            <a:r>
              <a:rPr dirty="0"/>
              <a:t>dataset</a:t>
            </a:r>
          </a:p>
          <a:p>
            <a:r>
              <a:rPr dirty="0"/>
              <a:t>Number of samples and features</a:t>
            </a:r>
          </a:p>
          <a:p>
            <a:r>
              <a:rPr dirty="0"/>
              <a:t>Feature descriptions</a:t>
            </a:r>
          </a:p>
          <a:p>
            <a:r>
              <a:rPr dirty="0"/>
              <a:t>Preprocessing steps (missing values, encoding, scaling)</a:t>
            </a:r>
          </a:p>
          <a:p>
            <a:r>
              <a:rPr dirty="0"/>
              <a:t>Train–test split details</a:t>
            </a:r>
          </a:p>
        </p:txBody>
      </p:sp>
    </p:spTree>
    <p:extLst>
      <p:ext uri="{BB962C8B-B14F-4D97-AF65-F5344CB8AC3E}">
        <p14:creationId xmlns:p14="http://schemas.microsoft.com/office/powerpoint/2010/main" val="1808233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3. Models Used for Dataset 1</a:t>
            </a:r>
          </a:p>
        </p:txBody>
      </p:sp>
      <p:sp>
        <p:nvSpPr>
          <p:cNvPr id="3" name="Content Placeholder 2"/>
          <p:cNvSpPr>
            <a:spLocks noGrp="1"/>
          </p:cNvSpPr>
          <p:nvPr>
            <p:ph idx="1"/>
          </p:nvPr>
        </p:nvSpPr>
        <p:spPr/>
        <p:txBody>
          <a:bodyPr/>
          <a:lstStyle/>
          <a:p>
            <a:r>
              <a:rPr dirty="0"/>
              <a:t>List of models applied</a:t>
            </a:r>
          </a:p>
          <a:p>
            <a:r>
              <a:rPr dirty="0"/>
              <a:t>Reason for choosing each model</a:t>
            </a:r>
          </a:p>
          <a:p>
            <a:r>
              <a:rPr dirty="0"/>
              <a:t>Hyperparameters</a:t>
            </a:r>
          </a:p>
          <a:p>
            <a:r>
              <a:rPr dirty="0"/>
              <a:t>Frameworks used (Python, scikit-learn etc.)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58990-CA7F-078C-5B46-20ECF55482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7862-BE0A-ECDE-F0FC-929204B52E0D}"/>
              </a:ext>
            </a:extLst>
          </p:cNvPr>
          <p:cNvSpPr>
            <a:spLocks noGrp="1"/>
          </p:cNvSpPr>
          <p:nvPr>
            <p:ph type="title"/>
          </p:nvPr>
        </p:nvSpPr>
        <p:spPr/>
        <p:txBody>
          <a:bodyPr/>
          <a:lstStyle/>
          <a:p>
            <a:r>
              <a:t>3. Models Used for Dataset 1</a:t>
            </a:r>
          </a:p>
        </p:txBody>
      </p:sp>
      <p:sp>
        <p:nvSpPr>
          <p:cNvPr id="3" name="Content Placeholder 2">
            <a:extLst>
              <a:ext uri="{FF2B5EF4-FFF2-40B4-BE49-F238E27FC236}">
                <a16:creationId xmlns:a16="http://schemas.microsoft.com/office/drawing/2014/main" id="{E0FBD043-2A49-558D-7ECE-F4AFA460DD1A}"/>
              </a:ext>
            </a:extLst>
          </p:cNvPr>
          <p:cNvSpPr>
            <a:spLocks noGrp="1"/>
          </p:cNvSpPr>
          <p:nvPr>
            <p:ph idx="1"/>
          </p:nvPr>
        </p:nvSpPr>
        <p:spPr/>
        <p:txBody>
          <a:bodyPr/>
          <a:lstStyle/>
          <a:p>
            <a:r>
              <a:rPr dirty="0"/>
              <a:t>List of models applied</a:t>
            </a:r>
          </a:p>
          <a:p>
            <a:r>
              <a:rPr dirty="0"/>
              <a:t>Reason for choosing each model</a:t>
            </a:r>
          </a:p>
          <a:p>
            <a:r>
              <a:rPr dirty="0"/>
              <a:t>Hyperparameters</a:t>
            </a:r>
          </a:p>
          <a:p>
            <a:r>
              <a:rPr dirty="0"/>
              <a:t>Frameworks used (Python, scikit-learn etc.)</a:t>
            </a:r>
          </a:p>
        </p:txBody>
      </p:sp>
    </p:spTree>
    <p:extLst>
      <p:ext uri="{BB962C8B-B14F-4D97-AF65-F5344CB8AC3E}">
        <p14:creationId xmlns:p14="http://schemas.microsoft.com/office/powerpoint/2010/main" val="2589533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1C4D9-D64F-031D-0E50-AB97B8C59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49A61-DABE-49BF-D6FD-FEBB1B423ACB}"/>
              </a:ext>
            </a:extLst>
          </p:cNvPr>
          <p:cNvSpPr>
            <a:spLocks noGrp="1"/>
          </p:cNvSpPr>
          <p:nvPr>
            <p:ph type="title"/>
          </p:nvPr>
        </p:nvSpPr>
        <p:spPr/>
        <p:txBody>
          <a:bodyPr/>
          <a:lstStyle/>
          <a:p>
            <a:r>
              <a:t>3. Models Used for Dataset 1</a:t>
            </a:r>
          </a:p>
        </p:txBody>
      </p:sp>
      <p:sp>
        <p:nvSpPr>
          <p:cNvPr id="3" name="Content Placeholder 2">
            <a:extLst>
              <a:ext uri="{FF2B5EF4-FFF2-40B4-BE49-F238E27FC236}">
                <a16:creationId xmlns:a16="http://schemas.microsoft.com/office/drawing/2014/main" id="{901A7287-AA3D-A15C-5110-05AA3AFDF2CA}"/>
              </a:ext>
            </a:extLst>
          </p:cNvPr>
          <p:cNvSpPr>
            <a:spLocks noGrp="1"/>
          </p:cNvSpPr>
          <p:nvPr>
            <p:ph idx="1"/>
          </p:nvPr>
        </p:nvSpPr>
        <p:spPr/>
        <p:txBody>
          <a:bodyPr/>
          <a:lstStyle/>
          <a:p>
            <a:r>
              <a:rPr dirty="0"/>
              <a:t>List of models applied</a:t>
            </a:r>
          </a:p>
          <a:p>
            <a:r>
              <a:rPr dirty="0"/>
              <a:t>Reason for choosing each model</a:t>
            </a:r>
          </a:p>
          <a:p>
            <a:r>
              <a:rPr dirty="0"/>
              <a:t>Hyperparameters</a:t>
            </a:r>
          </a:p>
          <a:p>
            <a:r>
              <a:rPr dirty="0"/>
              <a:t>Frameworks used (Python, scikit-learn etc.)</a:t>
            </a:r>
          </a:p>
        </p:txBody>
      </p:sp>
    </p:spTree>
    <p:extLst>
      <p:ext uri="{BB962C8B-B14F-4D97-AF65-F5344CB8AC3E}">
        <p14:creationId xmlns:p14="http://schemas.microsoft.com/office/powerpoint/2010/main" val="5587915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3A4C7-53EA-A8EE-1B41-5E3AF4809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AFA0B4-3543-902D-EB66-F69810D46232}"/>
              </a:ext>
            </a:extLst>
          </p:cNvPr>
          <p:cNvSpPr>
            <a:spLocks noGrp="1"/>
          </p:cNvSpPr>
          <p:nvPr>
            <p:ph type="title"/>
          </p:nvPr>
        </p:nvSpPr>
        <p:spPr/>
        <p:txBody>
          <a:bodyPr/>
          <a:lstStyle/>
          <a:p>
            <a:r>
              <a:t>3. Models Used for Dataset 1</a:t>
            </a:r>
          </a:p>
        </p:txBody>
      </p:sp>
      <p:sp>
        <p:nvSpPr>
          <p:cNvPr id="3" name="Content Placeholder 2">
            <a:extLst>
              <a:ext uri="{FF2B5EF4-FFF2-40B4-BE49-F238E27FC236}">
                <a16:creationId xmlns:a16="http://schemas.microsoft.com/office/drawing/2014/main" id="{0D46CA3B-8F3C-E05B-D85D-A131750410F0}"/>
              </a:ext>
            </a:extLst>
          </p:cNvPr>
          <p:cNvSpPr>
            <a:spLocks noGrp="1"/>
          </p:cNvSpPr>
          <p:nvPr>
            <p:ph idx="1"/>
          </p:nvPr>
        </p:nvSpPr>
        <p:spPr/>
        <p:txBody>
          <a:bodyPr/>
          <a:lstStyle/>
          <a:p>
            <a:r>
              <a:rPr dirty="0"/>
              <a:t>List of models applied</a:t>
            </a:r>
          </a:p>
          <a:p>
            <a:r>
              <a:rPr dirty="0"/>
              <a:t>Reason for choosing each model</a:t>
            </a:r>
          </a:p>
          <a:p>
            <a:r>
              <a:rPr dirty="0"/>
              <a:t>Hyperparameters</a:t>
            </a:r>
          </a:p>
          <a:p>
            <a:r>
              <a:rPr dirty="0"/>
              <a:t>Frameworks used (Python, scikit-learn etc.)</a:t>
            </a:r>
          </a:p>
        </p:txBody>
      </p:sp>
    </p:spTree>
    <p:extLst>
      <p:ext uri="{BB962C8B-B14F-4D97-AF65-F5344CB8AC3E}">
        <p14:creationId xmlns:p14="http://schemas.microsoft.com/office/powerpoint/2010/main" val="9237759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9D9E3-6FCF-175F-B057-1B12EB1AFD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D2AE70-1334-379B-4211-2A0E8BFAB033}"/>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16D544E1-3DB3-6DD4-F16E-941C7791D910}"/>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9586030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C17A2-F8E9-899B-5C9D-28E04ABD0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3186C-65C6-60D8-9A8E-6A8004F1D1C0}"/>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7ABA8FF1-3EED-66A8-BB4F-3E7BD5A60BD3}"/>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1972627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CB5F5-16EE-FDE2-F6BC-36B7D8029B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38BC2-F8BD-BEF2-DA23-618C16073E66}"/>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E1656AB4-D375-F4F3-2CB0-D5E595C328DE}"/>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31988636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0E5BF-C18D-9D3E-29F0-742BC9DA37C8}"/>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758EA728-DAFF-6FDF-3CB0-5648FDCC67F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762443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3117E-1161-0A58-03C0-EC45D9DCB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D2B49-D75E-72B0-B8A9-38F9F7DCA651}"/>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58F2C366-387D-7A77-157F-FF2F89F0F06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2299902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2786F-D956-A97F-F95A-FA8C2FC32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7A603-6584-981E-A1AF-70ECF90CB907}"/>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53922C41-CBFF-060C-0674-DC2F8A823848}"/>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38867593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E9C99-B231-A337-FC6D-D34FF684A6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BA18D1-C120-EFE0-89DF-C935C1F652E9}"/>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2E7DBD61-3F7C-27B5-E897-99B48EF006DD}"/>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5787671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7</a:t>
            </a:r>
            <a:r>
              <a:rPr dirty="0"/>
              <a:t>. Final Comparative Summary</a:t>
            </a:r>
          </a:p>
        </p:txBody>
      </p:sp>
      <p:sp>
        <p:nvSpPr>
          <p:cNvPr id="3" name="Content Placeholder 2"/>
          <p:cNvSpPr>
            <a:spLocks noGrp="1"/>
          </p:cNvSpPr>
          <p:nvPr>
            <p:ph idx="1"/>
          </p:nvPr>
        </p:nvSpPr>
        <p:spPr/>
        <p:txBody>
          <a:bodyPr/>
          <a:lstStyle/>
          <a:p>
            <a:r>
              <a:rPr dirty="0"/>
              <a:t>Comparison of models</a:t>
            </a:r>
          </a:p>
          <a:p>
            <a:r>
              <a:rPr dirty="0"/>
              <a:t>Best-performing model</a:t>
            </a:r>
          </a:p>
          <a:p>
            <a:r>
              <a:rPr dirty="0"/>
              <a:t>Insights gained</a:t>
            </a:r>
          </a:p>
          <a:p>
            <a:r>
              <a:rPr dirty="0"/>
              <a:t>Future improvements</a:t>
            </a: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good">
      <a:majorFont>
        <a:latin typeface="Bahnschrift"/>
        <a:ea typeface=""/>
        <a:cs typeface=""/>
      </a:majorFont>
      <a:minorFont>
        <a:latin typeface="Bahnschrift Light SemiCondensed"/>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
  <TotalTime>1228</TotalTime>
  <Words>631</Words>
  <Application>Microsoft Office PowerPoint</Application>
  <PresentationFormat>Widescreen</PresentationFormat>
  <Paragraphs>86</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Bahnschrift</vt:lpstr>
      <vt:lpstr>Bahnschrift Light SemiCondensed</vt:lpstr>
      <vt:lpstr>Calibri</vt:lpstr>
      <vt:lpstr>Wingdings</vt:lpstr>
      <vt:lpstr>Retrospect</vt:lpstr>
      <vt:lpstr>E-commerce and retail analytics using machine learning techniques  A8</vt:lpstr>
      <vt:lpstr>1. Introduction</vt:lpstr>
      <vt:lpstr>2. Dataset 1 – Description</vt:lpstr>
      <vt:lpstr>2. Dataset 2 – Description</vt:lpstr>
      <vt:lpstr>2. Dataset 1 – Description</vt:lpstr>
      <vt:lpstr>2. Dataset 1 – Description</vt:lpstr>
      <vt:lpstr>3. Models Used for Dataset 1</vt:lpstr>
      <vt:lpstr>3. Models Used for Dataset 1</vt:lpstr>
      <vt:lpstr>3. Models Used for Dataset 1</vt:lpstr>
      <vt:lpstr>3. Models Used for Dataset 1</vt:lpstr>
      <vt:lpstr>4. Result Analysis – Dataset 1 (if classification)</vt:lpstr>
      <vt:lpstr>4. Result Analysis – Dataset 1 (if classification)</vt:lpstr>
      <vt:lpstr>4. Result Analysis – Dataset 1 (if classification)</vt:lpstr>
      <vt:lpstr>4. Result Analysis – Dataset 1 (if classification)</vt:lpstr>
      <vt:lpstr>5. Interpretation of Results</vt:lpstr>
      <vt:lpstr>5. Interpretation of Results</vt:lpstr>
      <vt:lpstr>5. Interpretation of Results</vt:lpstr>
      <vt:lpstr>5. Interpretation of Results</vt:lpstr>
      <vt:lpstr>7. Final Comparative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Paper Presentation on “DeepPap: deep convolutional networks for cervical cell classification”</dc:title>
  <dc:creator>vinitha Panicker</dc:creator>
  <cp:lastModifiedBy>Prasad Electronics</cp:lastModifiedBy>
  <cp:revision>36</cp:revision>
  <dcterms:created xsi:type="dcterms:W3CDTF">2020-08-24T06:49:48Z</dcterms:created>
  <dcterms:modified xsi:type="dcterms:W3CDTF">2025-11-27T05:34:17Z</dcterms:modified>
</cp:coreProperties>
</file>