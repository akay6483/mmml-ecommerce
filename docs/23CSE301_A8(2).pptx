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jpeg" ContentType="image/jpeg"/>
  <Override PartName="/ppt/media/image5.png" ContentType="image/png"/>
  <Override PartName="/ppt/media/image2.jpeg" ContentType="image/jpeg"/>
  <Override PartName="/ppt/media/image3.png" ContentType="image/png"/>
  <Override PartName="/ppt/media/image4.png" ContentType="image/png"/>
  <Override PartName="/ppt/media/image6.png" ContentType="image/png"/>
  <Override PartName="/ppt/media/image7.png" ContentType="image/png"/>
  <Override PartName="/ppt/media/image8.png" ContentType="image/png"/>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5420DC0-2F2E-440E-95F2-53BA1D585B43}"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12" name="PlaceHolder 2"/>
          <p:cNvSpPr>
            <a:spLocks noGrp="1"/>
          </p:cNvSpPr>
          <p:nvPr>
            <p:ph type="subTitle"/>
          </p:nvPr>
        </p:nvSpPr>
        <p:spPr>
          <a:xfrm>
            <a:off x="1097280" y="1845720"/>
            <a:ext cx="10058040" cy="40230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85000F9-D22E-4431-838F-5B8B02744D78}"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14" name="PlaceHolder 2"/>
          <p:cNvSpPr>
            <a:spLocks noGrp="1"/>
          </p:cNvSpPr>
          <p:nvPr>
            <p:ph/>
          </p:nvPr>
        </p:nvSpPr>
        <p:spPr>
          <a:xfrm>
            <a:off x="1097280" y="1845720"/>
            <a:ext cx="100580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4195B4B-517B-42FB-9A49-9B4A736FBB0B}"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16"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17"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B566429-58E3-4D7E-BE43-F34DB9D8A0E3}"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44A129B-6ECD-427A-9F60-55CDDB9AB73F}"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1097280" y="286560"/>
            <a:ext cx="10058040" cy="67248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4B1A584D-5108-4476-8771-E3A79F0C9CAB}"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21"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22"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23"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38419D5-23E2-4C9A-8C04-0C9C11C6F395}"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25"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26"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27" name="PlaceHolder 4"/>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4E1270D-627F-45EC-A471-A406CECC1F94}"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29"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0"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1" name="PlaceHolder 4"/>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AFF3BDC-03B8-44AF-B38F-56F9844D4588}"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33" name="PlaceHolder 2"/>
          <p:cNvSpPr>
            <a:spLocks noGrp="1"/>
          </p:cNvSpPr>
          <p:nvPr>
            <p:ph/>
          </p:nvPr>
        </p:nvSpPr>
        <p:spPr>
          <a:xfrm>
            <a:off x="1097280" y="184572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4" name="PlaceHolder 3"/>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CE7BC54-D08C-4D7C-83A4-24BABC38C6DC}"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36"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7"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8"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39" name="PlaceHolder 5"/>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736E0C9-3D87-4A70-8C36-6E8BB6A8F83E}"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41" name="PlaceHolder 2"/>
          <p:cNvSpPr>
            <a:spLocks noGrp="1"/>
          </p:cNvSpPr>
          <p:nvPr>
            <p:ph/>
          </p:nvPr>
        </p:nvSpPr>
        <p:spPr>
          <a:xfrm>
            <a:off x="109728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2" name="PlaceHolder 3"/>
          <p:cNvSpPr>
            <a:spLocks noGrp="1"/>
          </p:cNvSpPr>
          <p:nvPr>
            <p:ph/>
          </p:nvPr>
        </p:nvSpPr>
        <p:spPr>
          <a:xfrm>
            <a:off x="449820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3" name="PlaceHolder 4"/>
          <p:cNvSpPr>
            <a:spLocks noGrp="1"/>
          </p:cNvSpPr>
          <p:nvPr>
            <p:ph/>
          </p:nvPr>
        </p:nvSpPr>
        <p:spPr>
          <a:xfrm>
            <a:off x="789912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4" name="PlaceHolder 5"/>
          <p:cNvSpPr>
            <a:spLocks noGrp="1"/>
          </p:cNvSpPr>
          <p:nvPr>
            <p:ph/>
          </p:nvPr>
        </p:nvSpPr>
        <p:spPr>
          <a:xfrm>
            <a:off x="109728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5" name="PlaceHolder 6"/>
          <p:cNvSpPr>
            <a:spLocks noGrp="1"/>
          </p:cNvSpPr>
          <p:nvPr>
            <p:ph/>
          </p:nvPr>
        </p:nvSpPr>
        <p:spPr>
          <a:xfrm>
            <a:off x="449820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6" name="PlaceHolder 7"/>
          <p:cNvSpPr>
            <a:spLocks noGrp="1"/>
          </p:cNvSpPr>
          <p:nvPr>
            <p:ph/>
          </p:nvPr>
        </p:nvSpPr>
        <p:spPr>
          <a:xfrm>
            <a:off x="789912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EB9553E-24F0-4F9C-BCE3-44BFC60CC5EC}"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38A8B0C-5F7F-469D-A206-0500984EC5B1}"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56" name="PlaceHolder 2"/>
          <p:cNvSpPr>
            <a:spLocks noGrp="1"/>
          </p:cNvSpPr>
          <p:nvPr>
            <p:ph type="subTitle"/>
          </p:nvPr>
        </p:nvSpPr>
        <p:spPr>
          <a:xfrm>
            <a:off x="1097280" y="1845720"/>
            <a:ext cx="10058040" cy="40230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5549761-5860-4839-A9A0-968D066DBCA7}"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58" name="PlaceHolder 2"/>
          <p:cNvSpPr>
            <a:spLocks noGrp="1"/>
          </p:cNvSpPr>
          <p:nvPr>
            <p:ph/>
          </p:nvPr>
        </p:nvSpPr>
        <p:spPr>
          <a:xfrm>
            <a:off x="1097280" y="1845720"/>
            <a:ext cx="100580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6F2F2E8-A73C-41B0-B276-02B1D163C2CF}"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60"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1"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45ACB27D-3F8A-4D5F-A2FA-787828AB0A42}"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10D3B70-41CE-4417-95DD-CD9E6B14C2CA}"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1097280" y="286560"/>
            <a:ext cx="10058040" cy="672480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F71D49CA-FBE9-4448-BAF8-32ABB0118850}"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65"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6" name="PlaceHolder 3"/>
          <p:cNvSpPr>
            <a:spLocks noGrp="1"/>
          </p:cNvSpPr>
          <p:nvPr>
            <p:ph/>
          </p:nvPr>
        </p:nvSpPr>
        <p:spPr>
          <a:xfrm>
            <a:off x="625140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7"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EF59AE2-B049-4C7C-B1B4-54703A6A9C2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69" name="PlaceHolder 2"/>
          <p:cNvSpPr>
            <a:spLocks noGrp="1"/>
          </p:cNvSpPr>
          <p:nvPr>
            <p:ph/>
          </p:nvPr>
        </p:nvSpPr>
        <p:spPr>
          <a:xfrm>
            <a:off x="1097280" y="1845720"/>
            <a:ext cx="4908240" cy="40230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0"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1" name="PlaceHolder 4"/>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85843B1-4750-40F7-BF44-D33AB4F41FCD}"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73"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4"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5" name="PlaceHolder 4"/>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356AFCD-E62C-4568-98C9-CDDD1B2B0B6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77" name="PlaceHolder 2"/>
          <p:cNvSpPr>
            <a:spLocks noGrp="1"/>
          </p:cNvSpPr>
          <p:nvPr>
            <p:ph/>
          </p:nvPr>
        </p:nvSpPr>
        <p:spPr>
          <a:xfrm>
            <a:off x="1097280" y="184572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8" name="PlaceHolder 3"/>
          <p:cNvSpPr>
            <a:spLocks noGrp="1"/>
          </p:cNvSpPr>
          <p:nvPr>
            <p:ph/>
          </p:nvPr>
        </p:nvSpPr>
        <p:spPr>
          <a:xfrm>
            <a:off x="1097280" y="3947040"/>
            <a:ext cx="100580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6971D3E-A6AE-4B37-86E1-E5BF0B8D18F9}"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80" name="PlaceHolder 2"/>
          <p:cNvSpPr>
            <a:spLocks noGrp="1"/>
          </p:cNvSpPr>
          <p:nvPr>
            <p:ph/>
          </p:nvPr>
        </p:nvSpPr>
        <p:spPr>
          <a:xfrm>
            <a:off x="109728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1" name="PlaceHolder 3"/>
          <p:cNvSpPr>
            <a:spLocks noGrp="1"/>
          </p:cNvSpPr>
          <p:nvPr>
            <p:ph/>
          </p:nvPr>
        </p:nvSpPr>
        <p:spPr>
          <a:xfrm>
            <a:off x="6251400" y="184572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2" name="PlaceHolder 4"/>
          <p:cNvSpPr>
            <a:spLocks noGrp="1"/>
          </p:cNvSpPr>
          <p:nvPr>
            <p:ph/>
          </p:nvPr>
        </p:nvSpPr>
        <p:spPr>
          <a:xfrm>
            <a:off x="109728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3" name="PlaceHolder 5"/>
          <p:cNvSpPr>
            <a:spLocks noGrp="1"/>
          </p:cNvSpPr>
          <p:nvPr>
            <p:ph/>
          </p:nvPr>
        </p:nvSpPr>
        <p:spPr>
          <a:xfrm>
            <a:off x="6251400" y="3947040"/>
            <a:ext cx="490824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7785C129-DC98-422A-86D8-F8CCA1742573}"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097280" y="286560"/>
            <a:ext cx="10058040" cy="1450440"/>
          </a:xfrm>
          <a:prstGeom prst="rect">
            <a:avLst/>
          </a:prstGeom>
          <a:noFill/>
          <a:ln w="0">
            <a:noFill/>
          </a:ln>
        </p:spPr>
        <p:txBody>
          <a:bodyPr lIns="0" rIns="0" tIns="0" bIns="0" anchor="ctr">
            <a:noAutofit/>
          </a:bodyPr>
          <a:p>
            <a:endParaRPr b="0" lang="en-US" sz="1800" spc="-1" strike="noStrike">
              <a:solidFill>
                <a:srgbClr val="000000"/>
              </a:solidFill>
              <a:latin typeface="Bahnschrift Light SemiCondensed"/>
            </a:endParaRPr>
          </a:p>
        </p:txBody>
      </p:sp>
      <p:sp>
        <p:nvSpPr>
          <p:cNvPr id="85" name="PlaceHolder 2"/>
          <p:cNvSpPr>
            <a:spLocks noGrp="1"/>
          </p:cNvSpPr>
          <p:nvPr>
            <p:ph/>
          </p:nvPr>
        </p:nvSpPr>
        <p:spPr>
          <a:xfrm>
            <a:off x="109728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6" name="PlaceHolder 3"/>
          <p:cNvSpPr>
            <a:spLocks noGrp="1"/>
          </p:cNvSpPr>
          <p:nvPr>
            <p:ph/>
          </p:nvPr>
        </p:nvSpPr>
        <p:spPr>
          <a:xfrm>
            <a:off x="449820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7" name="PlaceHolder 4"/>
          <p:cNvSpPr>
            <a:spLocks noGrp="1"/>
          </p:cNvSpPr>
          <p:nvPr>
            <p:ph/>
          </p:nvPr>
        </p:nvSpPr>
        <p:spPr>
          <a:xfrm>
            <a:off x="7899120" y="184572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8" name="PlaceHolder 5"/>
          <p:cNvSpPr>
            <a:spLocks noGrp="1"/>
          </p:cNvSpPr>
          <p:nvPr>
            <p:ph/>
          </p:nvPr>
        </p:nvSpPr>
        <p:spPr>
          <a:xfrm>
            <a:off x="109728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89" name="PlaceHolder 6"/>
          <p:cNvSpPr>
            <a:spLocks noGrp="1"/>
          </p:cNvSpPr>
          <p:nvPr>
            <p:ph/>
          </p:nvPr>
        </p:nvSpPr>
        <p:spPr>
          <a:xfrm>
            <a:off x="449820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90" name="PlaceHolder 7"/>
          <p:cNvSpPr>
            <a:spLocks noGrp="1"/>
          </p:cNvSpPr>
          <p:nvPr>
            <p:ph/>
          </p:nvPr>
        </p:nvSpPr>
        <p:spPr>
          <a:xfrm>
            <a:off x="7899120" y="3947040"/>
            <a:ext cx="3238560" cy="1918800"/>
          </a:xfrm>
          <a:prstGeom prst="rect">
            <a:avLst/>
          </a:prstGeom>
          <a:noFill/>
          <a:ln w="0">
            <a:noFill/>
          </a:ln>
        </p:spPr>
        <p:txBody>
          <a:bodyPr lIns="0" rIns="0" tIns="0" bIns="0" anchor="t">
            <a:normAutofit/>
          </a:bodyPr>
          <a:p>
            <a:pPr>
              <a:lnSpc>
                <a:spcPct val="90000"/>
              </a:lnSpc>
              <a:spcBef>
                <a:spcPts val="1417"/>
              </a:spcBef>
              <a:buNone/>
            </a:pPr>
            <a:endParaRPr b="0" lang="en-US" sz="2000" spc="-1" strike="noStrike">
              <a:solidFill>
                <a:srgbClr val="404040"/>
              </a:solidFill>
              <a:latin typeface="Bahnschrift Light SemiCondensed"/>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72110BA7-0092-492A-AA55-BE771C1E9C3C}"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alphaModFix amt="16000"/>
          </a:blip>
          <a:stretch/>
        </a:blipFill>
      </p:bgPr>
    </p:bg>
    <p:spTree>
      <p:nvGrpSpPr>
        <p:cNvPr id="1" name=""/>
        <p:cNvGrpSpPr/>
        <p:nvPr/>
      </p:nvGrpSpPr>
      <p:grpSpPr>
        <a:xfrm>
          <a:off x="0" y="0"/>
          <a:ext cx="0" cy="0"/>
          <a:chOff x="0" y="0"/>
          <a:chExt cx="0" cy="0"/>
        </a:xfrm>
      </p:grpSpPr>
      <p:sp>
        <p:nvSpPr>
          <p:cNvPr id="0"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Straight Connector 9"/>
          <p:cNvSpPr/>
          <p:nvPr/>
        </p:nvSpPr>
        <p:spPr>
          <a:xfrm>
            <a:off x="1193400" y="1737720"/>
            <a:ext cx="9966960" cy="360"/>
          </a:xfrm>
          <a:prstGeom prst="line">
            <a:avLst/>
          </a:prstGeom>
          <a:ln w="6350">
            <a:solidFill>
              <a:srgbClr val="000000">
                <a:lumMod val="50000"/>
                <a:lumOff val="50000"/>
              </a:srgbClr>
            </a:solidFill>
            <a:round/>
          </a:ln>
        </p:spPr>
        <p:style>
          <a:lnRef idx="1">
            <a:schemeClr val="accent1"/>
          </a:lnRef>
          <a:fillRef idx="0">
            <a:schemeClr val="accent1"/>
          </a:fillRef>
          <a:effectRef idx="0">
            <a:schemeClr val="accent1"/>
          </a:effectRef>
          <a:fontRef idx="minor"/>
        </p:style>
      </p:sp>
      <p:sp>
        <p:nvSpPr>
          <p:cNvPr id="3"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5"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85000"/>
              </a:lnSpc>
              <a:buNone/>
            </a:pPr>
            <a:r>
              <a:rPr b="0" lang="en-US" sz="8000" spc="-52" strike="noStrike">
                <a:solidFill>
                  <a:srgbClr val="262626"/>
                </a:solidFill>
                <a:latin typeface="Bahnschrift"/>
              </a:rPr>
              <a:t>Click to edit Master </a:t>
            </a:r>
            <a:r>
              <a:rPr b="0" lang="en-US" sz="8000" spc="-52" strike="noStrike">
                <a:solidFill>
                  <a:srgbClr val="262626"/>
                </a:solidFill>
                <a:latin typeface="Bahnschrift"/>
              </a:rPr>
              <a:t>title style</a:t>
            </a:r>
            <a:endParaRPr b="0" lang="en-US" sz="8000" spc="-1" strike="noStrike">
              <a:solidFill>
                <a:srgbClr val="000000"/>
              </a:solidFill>
              <a:latin typeface="Bahnschrift Light SemiCondensed"/>
            </a:endParaRPr>
          </a:p>
        </p:txBody>
      </p:sp>
      <p:sp>
        <p:nvSpPr>
          <p:cNvPr id="6" name="PlaceHolder 2"/>
          <p:cNvSpPr>
            <a:spLocks noGrp="1"/>
          </p:cNvSpPr>
          <p:nvPr>
            <p:ph type="dt" idx="1"/>
          </p:nvPr>
        </p:nvSpPr>
        <p:spPr>
          <a:xfrm>
            <a:off x="1097280" y="6459840"/>
            <a:ext cx="2471760" cy="364680"/>
          </a:xfrm>
          <a:prstGeom prst="rect">
            <a:avLst/>
          </a:prstGeom>
          <a:noFill/>
          <a:ln w="0">
            <a:noFill/>
          </a:ln>
        </p:spPr>
        <p:txBody>
          <a:bodyPr anchor="ctr">
            <a:noAutofit/>
          </a:bodyPr>
          <a:lstStyle>
            <a:lvl1pPr>
              <a:lnSpc>
                <a:spcPct val="100000"/>
              </a:lnSpc>
              <a:buNone/>
              <a:defRPr b="0" lang="en-IN" sz="900" spc="-1" strike="noStrike">
                <a:solidFill>
                  <a:srgbClr val="ffffff"/>
                </a:solidFill>
                <a:latin typeface="Bahnschrift Light SemiCondensed"/>
              </a:defRPr>
            </a:lvl1pPr>
          </a:lstStyle>
          <a:p>
            <a:pPr>
              <a:lnSpc>
                <a:spcPct val="100000"/>
              </a:lnSpc>
              <a:buNone/>
            </a:pPr>
            <a:r>
              <a:rPr b="0" lang="en-IN" sz="900" spc="-1" strike="noStrike">
                <a:solidFill>
                  <a:srgbClr val="ffffff"/>
                </a:solidFill>
                <a:latin typeface="Bahnschrift Light SemiCondensed"/>
              </a:rPr>
              <a:t>&lt;date/time&gt;</a:t>
            </a:r>
            <a:endParaRPr b="0" lang="en-IN" sz="900" spc="-1" strike="noStrike">
              <a:latin typeface="Times New Roman"/>
            </a:endParaRPr>
          </a:p>
        </p:txBody>
      </p:sp>
      <p:sp>
        <p:nvSpPr>
          <p:cNvPr id="7" name="PlaceHolder 3"/>
          <p:cNvSpPr>
            <a:spLocks noGrp="1"/>
          </p:cNvSpPr>
          <p:nvPr>
            <p:ph type="ftr" idx="2"/>
          </p:nvPr>
        </p:nvSpPr>
        <p:spPr>
          <a:xfrm>
            <a:off x="3686040" y="6459840"/>
            <a:ext cx="482256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8" name="PlaceHolder 4"/>
          <p:cNvSpPr>
            <a:spLocks noGrp="1"/>
          </p:cNvSpPr>
          <p:nvPr>
            <p:ph type="sldNum" idx="3"/>
          </p:nvPr>
        </p:nvSpPr>
        <p:spPr>
          <a:xfrm>
            <a:off x="9900360" y="6459840"/>
            <a:ext cx="1311840" cy="364680"/>
          </a:xfrm>
          <a:prstGeom prst="rect">
            <a:avLst/>
          </a:prstGeom>
          <a:noFill/>
          <a:ln w="0">
            <a:noFill/>
          </a:ln>
        </p:spPr>
        <p:txBody>
          <a:bodyPr anchor="ctr">
            <a:noAutofit/>
          </a:bodyPr>
          <a:lstStyle>
            <a:lvl1pPr algn="r">
              <a:lnSpc>
                <a:spcPct val="100000"/>
              </a:lnSpc>
              <a:buNone/>
              <a:defRPr b="0" lang="en-IN" sz="1050" spc="-1" strike="noStrike">
                <a:solidFill>
                  <a:srgbClr val="ffffff"/>
                </a:solidFill>
                <a:latin typeface="Bahnschrift Light SemiCondensed"/>
              </a:defRPr>
            </a:lvl1pPr>
          </a:lstStyle>
          <a:p>
            <a:pPr algn="r">
              <a:lnSpc>
                <a:spcPct val="100000"/>
              </a:lnSpc>
              <a:buNone/>
            </a:pPr>
            <a:fld id="{A54C5667-6766-4743-A54D-BAF8100D4422}" type="slidenum">
              <a:rPr b="0" lang="en-IN" sz="1050" spc="-1" strike="noStrike">
                <a:solidFill>
                  <a:srgbClr val="ffffff"/>
                </a:solidFill>
                <a:latin typeface="Bahnschrift Light SemiCondensed"/>
              </a:rPr>
              <a:t>&lt;number&gt;</a:t>
            </a:fld>
            <a:endParaRPr b="0" lang="en-IN" sz="1050" spc="-1" strike="noStrike">
              <a:latin typeface="Times New Roman"/>
            </a:endParaRPr>
          </a:p>
        </p:txBody>
      </p:sp>
      <p:sp>
        <p:nvSpPr>
          <p:cNvPr id="9" name="Straight Connector 8"/>
          <p:cNvSpPr/>
          <p:nvPr/>
        </p:nvSpPr>
        <p:spPr>
          <a:xfrm>
            <a:off x="1207440" y="4343400"/>
            <a:ext cx="9875520" cy="360"/>
          </a:xfrm>
          <a:prstGeom prst="line">
            <a:avLst/>
          </a:prstGeom>
          <a:ln w="6350">
            <a:solidFill>
              <a:srgbClr val="000000">
                <a:lumMod val="50000"/>
                <a:lumOff val="50000"/>
              </a:srgbClr>
            </a:solidFill>
            <a:round/>
          </a:ln>
        </p:spPr>
        <p:style>
          <a:lnRef idx="1">
            <a:schemeClr val="accent1"/>
          </a:lnRef>
          <a:fillRef idx="0">
            <a:schemeClr val="accent1"/>
          </a:fillRef>
          <a:effectRef idx="0">
            <a:schemeClr val="accent1"/>
          </a:effectRef>
          <a:fontRef idx="minor"/>
        </p:style>
      </p:sp>
      <p:sp>
        <p:nvSpPr>
          <p:cNvPr id="10"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000" spc="-1" strike="noStrike">
                <a:solidFill>
                  <a:srgbClr val="404040"/>
                </a:solidFill>
                <a:latin typeface="Bahnschrift Light SemiCondensed"/>
              </a:rPr>
              <a:t>Click to edit the outline text format</a:t>
            </a:r>
            <a:endParaRPr b="0" lang="en-US" sz="2000" spc="-1" strike="noStrike">
              <a:solidFill>
                <a:srgbClr val="404040"/>
              </a:solidFill>
              <a:latin typeface="Bahnschrift Light SemiCondensed"/>
            </a:endParaRPr>
          </a:p>
          <a:p>
            <a:pPr lvl="1" marL="864000" indent="-324000">
              <a:lnSpc>
                <a:spcPct val="90000"/>
              </a:lnSpc>
              <a:spcBef>
                <a:spcPts val="1134"/>
              </a:spcBef>
              <a:buClr>
                <a:srgbClr val="000000"/>
              </a:buClr>
              <a:buSzPct val="75000"/>
              <a:buFont typeface="Symbol" charset="2"/>
              <a:buChar char=""/>
            </a:pPr>
            <a:r>
              <a:rPr b="0" lang="en-US" sz="1400" spc="-1" strike="noStrike">
                <a:solidFill>
                  <a:srgbClr val="404040"/>
                </a:solidFill>
                <a:latin typeface="Bahnschrift Light SemiCondensed"/>
              </a:rPr>
              <a:t>Second Outline Level</a:t>
            </a:r>
            <a:endParaRPr b="0" lang="en-US" sz="1400" spc="-1" strike="noStrike">
              <a:solidFill>
                <a:srgbClr val="404040"/>
              </a:solidFill>
              <a:latin typeface="Bahnschrift Light SemiCondensed"/>
            </a:endParaRPr>
          </a:p>
          <a:p>
            <a:pPr lvl="2" marL="1296000" indent="-288000">
              <a:lnSpc>
                <a:spcPct val="90000"/>
              </a:lnSpc>
              <a:spcBef>
                <a:spcPts val="850"/>
              </a:spcBef>
              <a:buClr>
                <a:srgbClr val="000000"/>
              </a:buClr>
              <a:buSzPct val="45000"/>
              <a:buFont typeface="Wingdings" charset="2"/>
              <a:buChar char=""/>
            </a:pPr>
            <a:r>
              <a:rPr b="0" lang="en-US" sz="1400" spc="-1" strike="noStrike">
                <a:solidFill>
                  <a:srgbClr val="404040"/>
                </a:solidFill>
                <a:latin typeface="Bahnschrift Light SemiCondensed"/>
              </a:rPr>
              <a:t>Third Outline Level</a:t>
            </a:r>
            <a:endParaRPr b="0" lang="en-US" sz="1400" spc="-1" strike="noStrike">
              <a:solidFill>
                <a:srgbClr val="404040"/>
              </a:solidFill>
              <a:latin typeface="Bahnschrift Light SemiCondensed"/>
            </a:endParaRPr>
          </a:p>
          <a:p>
            <a:pPr lvl="3" marL="1728000" indent="-216000">
              <a:lnSpc>
                <a:spcPct val="90000"/>
              </a:lnSpc>
              <a:spcBef>
                <a:spcPts val="567"/>
              </a:spcBef>
              <a:buClr>
                <a:srgbClr val="000000"/>
              </a:buClr>
              <a:buSzPct val="75000"/>
              <a:buFont typeface="Symbol" charset="2"/>
              <a:buChar char=""/>
            </a:pPr>
            <a:r>
              <a:rPr b="0" lang="en-US" sz="1400" spc="-1" strike="noStrike">
                <a:solidFill>
                  <a:srgbClr val="404040"/>
                </a:solidFill>
                <a:latin typeface="Bahnschrift Light SemiCondensed"/>
              </a:rPr>
              <a:t>Fourth Outline Level</a:t>
            </a:r>
            <a:endParaRPr b="0" lang="en-US" sz="1400" spc="-1" strike="noStrike">
              <a:solidFill>
                <a:srgbClr val="404040"/>
              </a:solidFill>
              <a:latin typeface="Bahnschrift Light SemiCondensed"/>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404040"/>
                </a:solidFill>
                <a:latin typeface="Bahnschrift Light SemiCondensed"/>
              </a:rPr>
              <a:t>Fifth Outline Level</a:t>
            </a:r>
            <a:endParaRPr b="0" lang="en-US" sz="2000" spc="-1" strike="noStrike">
              <a:solidFill>
                <a:srgbClr val="404040"/>
              </a:solidFill>
              <a:latin typeface="Bahnschrift Light SemiCondensed"/>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404040"/>
                </a:solidFill>
                <a:latin typeface="Bahnschrift Light SemiCondensed"/>
              </a:rPr>
              <a:t>Sixth Outline Level</a:t>
            </a:r>
            <a:endParaRPr b="0" lang="en-US" sz="2000" spc="-1" strike="noStrike">
              <a:solidFill>
                <a:srgbClr val="404040"/>
              </a:solidFill>
              <a:latin typeface="Bahnschrift Light SemiCondensed"/>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404040"/>
                </a:solidFill>
                <a:latin typeface="Bahnschrift Light SemiCondensed"/>
              </a:rPr>
              <a:t>Seventh Outline Level</a:t>
            </a:r>
            <a:endParaRPr b="0" lang="en-US" sz="2000" spc="-1" strike="noStrike">
              <a:solidFill>
                <a:srgbClr val="404040"/>
              </a:solidFill>
              <a:latin typeface="Bahnschrift Light SemiCondensed"/>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alphaModFix amt="16000"/>
          </a:blip>
          <a:stretch/>
        </a:blipFill>
      </p:bgPr>
    </p:bg>
    <p:spTree>
      <p:nvGrpSpPr>
        <p:cNvPr id="1" name=""/>
        <p:cNvGrpSpPr/>
        <p:nvPr/>
      </p:nvGrpSpPr>
      <p:grpSpPr>
        <a:xfrm>
          <a:off x="0" y="0"/>
          <a:ext cx="0" cy="0"/>
          <a:chOff x="0" y="0"/>
          <a:chExt cx="0" cy="0"/>
        </a:xfrm>
      </p:grpSpPr>
      <p:sp>
        <p:nvSpPr>
          <p:cNvPr id="47"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8"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9" name="Straight Connector 9"/>
          <p:cNvSpPr/>
          <p:nvPr/>
        </p:nvSpPr>
        <p:spPr>
          <a:xfrm>
            <a:off x="1193400" y="1737720"/>
            <a:ext cx="9966960" cy="360"/>
          </a:xfrm>
          <a:prstGeom prst="line">
            <a:avLst/>
          </a:prstGeom>
          <a:ln w="6350">
            <a:solidFill>
              <a:srgbClr val="000000">
                <a:lumMod val="50000"/>
                <a:lumOff val="50000"/>
              </a:srgbClr>
            </a:solidFill>
            <a:round/>
          </a:ln>
        </p:spPr>
        <p:style>
          <a:lnRef idx="1">
            <a:schemeClr val="accent1"/>
          </a:lnRef>
          <a:fillRef idx="0">
            <a:schemeClr val="accent1"/>
          </a:fillRef>
          <a:effectRef idx="0">
            <a:schemeClr val="accent1"/>
          </a:effectRef>
          <a:fontRef idx="minor"/>
        </p:style>
      </p:sp>
      <p:sp>
        <p:nvSpPr>
          <p:cNvPr id="50"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Click to edit Master title style</a:t>
            </a:r>
            <a:endParaRPr b="0" lang="en-US" sz="4800" spc="-1" strike="noStrike">
              <a:solidFill>
                <a:srgbClr val="000000"/>
              </a:solidFill>
              <a:latin typeface="Bahnschrift Light SemiCondensed"/>
            </a:endParaRPr>
          </a:p>
        </p:txBody>
      </p:sp>
      <p:sp>
        <p:nvSpPr>
          <p:cNvPr id="51" name="PlaceHolder 2"/>
          <p:cNvSpPr>
            <a:spLocks noGrp="1"/>
          </p:cNvSpPr>
          <p:nvPr>
            <p:ph type="body"/>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Click to edit Master text styles</a:t>
            </a:r>
            <a:endParaRPr b="0" lang="en-US" sz="2000" spc="-1" strike="noStrike">
              <a:solidFill>
                <a:srgbClr val="404040"/>
              </a:solidFill>
              <a:latin typeface="Bahnschrift Light SemiCondensed"/>
            </a:endParaRPr>
          </a:p>
          <a:p>
            <a:pPr lvl="1" marL="384120" indent="-182880">
              <a:lnSpc>
                <a:spcPct val="90000"/>
              </a:lnSpc>
              <a:spcBef>
                <a:spcPts val="201"/>
              </a:spcBef>
              <a:spcAft>
                <a:spcPts val="400"/>
              </a:spcAft>
              <a:buClr>
                <a:srgbClr val="e48312"/>
              </a:buClr>
              <a:buFont typeface="Calibri"/>
              <a:buChar char="◦"/>
            </a:pPr>
            <a:r>
              <a:rPr b="0" lang="en-US" sz="1800" spc="-1" strike="noStrike">
                <a:solidFill>
                  <a:srgbClr val="404040"/>
                </a:solidFill>
                <a:latin typeface="Bahnschrift Light SemiCondensed"/>
              </a:rPr>
              <a:t>Second level</a:t>
            </a:r>
            <a:endParaRPr b="0" lang="en-US" sz="1800" spc="-1" strike="noStrike">
              <a:solidFill>
                <a:srgbClr val="404040"/>
              </a:solidFill>
              <a:latin typeface="Bahnschrift Light SemiCondensed"/>
            </a:endParaRPr>
          </a:p>
          <a:p>
            <a:pPr lvl="2" marL="56700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Bahnschrift Light SemiCondensed"/>
              </a:rPr>
              <a:t>Third level</a:t>
            </a:r>
            <a:endParaRPr b="0" lang="en-US" sz="1400" spc="-1" strike="noStrike">
              <a:solidFill>
                <a:srgbClr val="404040"/>
              </a:solidFill>
              <a:latin typeface="Bahnschrift Light SemiCondensed"/>
            </a:endParaRPr>
          </a:p>
          <a:p>
            <a:pPr lvl="3" marL="74988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Bahnschrift Light SemiCondensed"/>
              </a:rPr>
              <a:t>Fourth level</a:t>
            </a:r>
            <a:endParaRPr b="0" lang="en-US" sz="1400" spc="-1" strike="noStrike">
              <a:solidFill>
                <a:srgbClr val="404040"/>
              </a:solidFill>
              <a:latin typeface="Bahnschrift Light SemiCondensed"/>
            </a:endParaRPr>
          </a:p>
          <a:p>
            <a:pPr lvl="4" marL="932760" indent="-182880">
              <a:lnSpc>
                <a:spcPct val="90000"/>
              </a:lnSpc>
              <a:spcBef>
                <a:spcPts val="201"/>
              </a:spcBef>
              <a:spcAft>
                <a:spcPts val="400"/>
              </a:spcAft>
              <a:buClr>
                <a:srgbClr val="e48312"/>
              </a:buClr>
              <a:buFont typeface="Calibri"/>
              <a:buChar char="◦"/>
            </a:pPr>
            <a:r>
              <a:rPr b="0" lang="en-US" sz="1400" spc="-1" strike="noStrike">
                <a:solidFill>
                  <a:srgbClr val="404040"/>
                </a:solidFill>
                <a:latin typeface="Bahnschrift Light SemiCondensed"/>
              </a:rPr>
              <a:t>Fifth level</a:t>
            </a:r>
            <a:endParaRPr b="0" lang="en-US" sz="1400" spc="-1" strike="noStrike">
              <a:solidFill>
                <a:srgbClr val="404040"/>
              </a:solidFill>
              <a:latin typeface="Bahnschrift Light SemiCondensed"/>
            </a:endParaRPr>
          </a:p>
        </p:txBody>
      </p:sp>
      <p:sp>
        <p:nvSpPr>
          <p:cNvPr id="52" name="PlaceHolder 3"/>
          <p:cNvSpPr>
            <a:spLocks noGrp="1"/>
          </p:cNvSpPr>
          <p:nvPr>
            <p:ph type="dt" idx="4"/>
          </p:nvPr>
        </p:nvSpPr>
        <p:spPr>
          <a:xfrm>
            <a:off x="1097280" y="6459840"/>
            <a:ext cx="2471760" cy="364680"/>
          </a:xfrm>
          <a:prstGeom prst="rect">
            <a:avLst/>
          </a:prstGeom>
          <a:noFill/>
          <a:ln w="0">
            <a:noFill/>
          </a:ln>
        </p:spPr>
        <p:txBody>
          <a:bodyPr anchor="ctr">
            <a:noAutofit/>
          </a:bodyPr>
          <a:lstStyle>
            <a:lvl1pPr>
              <a:lnSpc>
                <a:spcPct val="100000"/>
              </a:lnSpc>
              <a:buNone/>
              <a:defRPr b="0" lang="en-IN" sz="900" spc="-1" strike="noStrike">
                <a:solidFill>
                  <a:srgbClr val="ffffff"/>
                </a:solidFill>
                <a:latin typeface="Bahnschrift Light SemiCondensed"/>
              </a:defRPr>
            </a:lvl1pPr>
          </a:lstStyle>
          <a:p>
            <a:pPr>
              <a:lnSpc>
                <a:spcPct val="100000"/>
              </a:lnSpc>
              <a:buNone/>
            </a:pPr>
            <a:r>
              <a:rPr b="0" lang="en-IN" sz="900" spc="-1" strike="noStrike">
                <a:solidFill>
                  <a:srgbClr val="ffffff"/>
                </a:solidFill>
                <a:latin typeface="Bahnschrift Light SemiCondensed"/>
              </a:rPr>
              <a:t>&lt;date/time&gt;</a:t>
            </a:r>
            <a:endParaRPr b="0" lang="en-IN" sz="900" spc="-1" strike="noStrike">
              <a:latin typeface="Times New Roman"/>
            </a:endParaRPr>
          </a:p>
        </p:txBody>
      </p:sp>
      <p:sp>
        <p:nvSpPr>
          <p:cNvPr id="53" name="PlaceHolder 4"/>
          <p:cNvSpPr>
            <a:spLocks noGrp="1"/>
          </p:cNvSpPr>
          <p:nvPr>
            <p:ph type="ftr" idx="5"/>
          </p:nvPr>
        </p:nvSpPr>
        <p:spPr>
          <a:xfrm>
            <a:off x="3686040" y="6459840"/>
            <a:ext cx="482256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54" name="PlaceHolder 5"/>
          <p:cNvSpPr>
            <a:spLocks noGrp="1"/>
          </p:cNvSpPr>
          <p:nvPr>
            <p:ph type="sldNum" idx="6"/>
          </p:nvPr>
        </p:nvSpPr>
        <p:spPr>
          <a:xfrm>
            <a:off x="9900360" y="6459840"/>
            <a:ext cx="1311840" cy="364680"/>
          </a:xfrm>
          <a:prstGeom prst="rect">
            <a:avLst/>
          </a:prstGeom>
          <a:noFill/>
          <a:ln w="0">
            <a:noFill/>
          </a:ln>
        </p:spPr>
        <p:txBody>
          <a:bodyPr anchor="ctr">
            <a:noAutofit/>
          </a:bodyPr>
          <a:lstStyle>
            <a:lvl1pPr algn="r">
              <a:lnSpc>
                <a:spcPct val="100000"/>
              </a:lnSpc>
              <a:buNone/>
              <a:defRPr b="0" lang="en-IN" sz="1050" spc="-1" strike="noStrike">
                <a:solidFill>
                  <a:srgbClr val="ffffff"/>
                </a:solidFill>
                <a:latin typeface="Bahnschrift Light SemiCondensed"/>
              </a:defRPr>
            </a:lvl1pPr>
          </a:lstStyle>
          <a:p>
            <a:pPr algn="r">
              <a:lnSpc>
                <a:spcPct val="100000"/>
              </a:lnSpc>
              <a:buNone/>
            </a:pPr>
            <a:fld id="{B5DEA97E-5FEE-424D-8D0F-7932917A9563}" type="slidenum">
              <a:rPr b="0" lang="en-IN" sz="1050" spc="-1" strike="noStrike">
                <a:solidFill>
                  <a:srgbClr val="ffffff"/>
                </a:solidFill>
                <a:latin typeface="Bahnschrift Light SemiCondensed"/>
              </a:rPr>
              <a:t>&lt;number&gt;</a:t>
            </a:fld>
            <a:endParaRPr b="0" lang="en-IN"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097280" y="2169360"/>
            <a:ext cx="10058040" cy="1259280"/>
          </a:xfrm>
          <a:prstGeom prst="rect">
            <a:avLst/>
          </a:prstGeom>
          <a:noFill/>
          <a:ln w="0">
            <a:noFill/>
          </a:ln>
        </p:spPr>
        <p:txBody>
          <a:bodyPr anchor="b">
            <a:normAutofit fontScale="43000"/>
          </a:bodyPr>
          <a:p>
            <a:pPr algn="ctr">
              <a:lnSpc>
                <a:spcPct val="85000"/>
              </a:lnSpc>
              <a:buNone/>
            </a:pPr>
            <a:r>
              <a:rPr b="1" lang="en-US" sz="4900" spc="-52" strike="noStrike">
                <a:solidFill>
                  <a:srgbClr val="262626"/>
                </a:solidFill>
                <a:latin typeface="Bahnschrift"/>
              </a:rPr>
              <a:t>E-commerce and retail analytics using machine learning techniques</a:t>
            </a:r>
            <a:br>
              <a:rPr sz="8000"/>
            </a:br>
            <a:br>
              <a:rPr sz="5400"/>
            </a:br>
            <a:r>
              <a:rPr b="0" lang="en-IN" sz="5400" spc="-52" strike="noStrike">
                <a:solidFill>
                  <a:srgbClr val="c00000"/>
                </a:solidFill>
                <a:latin typeface="Bahnschrift"/>
              </a:rPr>
              <a:t>A8</a:t>
            </a:r>
            <a:endParaRPr b="0" lang="en-US" sz="5400" spc="-1" strike="noStrike">
              <a:solidFill>
                <a:srgbClr val="000000"/>
              </a:solidFill>
              <a:latin typeface="Bahnschrift Light SemiCondensed"/>
            </a:endParaRPr>
          </a:p>
        </p:txBody>
      </p:sp>
      <p:sp>
        <p:nvSpPr>
          <p:cNvPr id="92" name="PlaceHolder 2"/>
          <p:cNvSpPr>
            <a:spLocks noGrp="1"/>
          </p:cNvSpPr>
          <p:nvPr>
            <p:ph type="subTitle"/>
          </p:nvPr>
        </p:nvSpPr>
        <p:spPr>
          <a:xfrm>
            <a:off x="1100160" y="4455720"/>
            <a:ext cx="10582200" cy="1776240"/>
          </a:xfrm>
          <a:prstGeom prst="rect">
            <a:avLst/>
          </a:prstGeom>
          <a:noFill/>
          <a:ln w="0">
            <a:noFill/>
          </a:ln>
        </p:spPr>
        <p:txBody>
          <a:bodyPr anchor="t">
            <a:normAutofit fontScale="91000"/>
          </a:bodyPr>
          <a:p>
            <a:pPr algn="r">
              <a:lnSpc>
                <a:spcPct val="90000"/>
              </a:lnSpc>
              <a:spcBef>
                <a:spcPts val="1199"/>
              </a:spcBef>
              <a:spcAft>
                <a:spcPts val="201"/>
              </a:spcAft>
              <a:buNone/>
              <a:tabLst>
                <a:tab algn="l" pos="0"/>
              </a:tabLst>
            </a:pPr>
            <a:r>
              <a:rPr b="1" lang="en-IN" sz="2400" spc="199" strike="noStrike" cap="all">
                <a:solidFill>
                  <a:srgbClr val="637052"/>
                </a:solidFill>
                <a:latin typeface="Bahnschrift"/>
              </a:rPr>
              <a:t> </a:t>
            </a:r>
            <a:r>
              <a:rPr b="1" lang="en-IN" sz="2400" spc="199" strike="noStrike" cap="all">
                <a:solidFill>
                  <a:srgbClr val="637052"/>
                </a:solidFill>
                <a:latin typeface="Bahnschrift"/>
              </a:rPr>
              <a:t>Akshay s - AM.SC.U4CSE23009</a:t>
            </a:r>
            <a:endParaRPr b="0" lang="en-IN" sz="2400" spc="-1" strike="noStrike">
              <a:latin typeface="Arial"/>
            </a:endParaRPr>
          </a:p>
          <a:p>
            <a:pPr algn="r">
              <a:lnSpc>
                <a:spcPct val="90000"/>
              </a:lnSpc>
              <a:spcBef>
                <a:spcPts val="1199"/>
              </a:spcBef>
              <a:spcAft>
                <a:spcPts val="201"/>
              </a:spcAft>
              <a:buNone/>
              <a:tabLst>
                <a:tab algn="l" pos="0"/>
              </a:tabLst>
            </a:pPr>
            <a:r>
              <a:rPr b="1" lang="en-IN" sz="2400" spc="199" strike="noStrike" cap="all">
                <a:solidFill>
                  <a:srgbClr val="637052"/>
                </a:solidFill>
                <a:latin typeface="Bahnschrift"/>
              </a:rPr>
              <a:t> </a:t>
            </a:r>
            <a:r>
              <a:rPr b="1" lang="en-IN" sz="2400" spc="199" strike="noStrike" cap="all">
                <a:solidFill>
                  <a:srgbClr val="637052"/>
                </a:solidFill>
                <a:latin typeface="Bahnschrift"/>
              </a:rPr>
              <a:t>Goutham Krishna - Am.sc.u4cse23031</a:t>
            </a:r>
            <a:endParaRPr b="0" lang="en-IN" sz="2400" spc="-1" strike="noStrike">
              <a:latin typeface="Arial"/>
            </a:endParaRPr>
          </a:p>
          <a:p>
            <a:pPr algn="r">
              <a:lnSpc>
                <a:spcPct val="90000"/>
              </a:lnSpc>
              <a:spcBef>
                <a:spcPts val="1199"/>
              </a:spcBef>
              <a:spcAft>
                <a:spcPts val="201"/>
              </a:spcAft>
              <a:buNone/>
              <a:tabLst>
                <a:tab algn="l" pos="0"/>
              </a:tabLst>
            </a:pPr>
            <a:r>
              <a:rPr b="1" lang="en-IN" sz="2400" spc="199" strike="noStrike" cap="all">
                <a:solidFill>
                  <a:srgbClr val="637052"/>
                </a:solidFill>
                <a:latin typeface="Bahnschrift"/>
              </a:rPr>
              <a:t>Pranav s - Am.sc.u4cse23067</a:t>
            </a:r>
            <a:endParaRPr b="0" lang="en-IN" sz="2400" spc="-1" strike="noStrike">
              <a:latin typeface="Arial"/>
            </a:endParaRPr>
          </a:p>
          <a:p>
            <a:pPr algn="r">
              <a:lnSpc>
                <a:spcPct val="90000"/>
              </a:lnSpc>
              <a:spcBef>
                <a:spcPts val="1199"/>
              </a:spcBef>
              <a:spcAft>
                <a:spcPts val="201"/>
              </a:spcAft>
              <a:buNone/>
              <a:tabLst>
                <a:tab algn="l" pos="0"/>
              </a:tabLst>
            </a:pPr>
            <a:r>
              <a:rPr b="1" lang="en-IN" sz="2400" spc="199" strike="noStrike" cap="all">
                <a:solidFill>
                  <a:srgbClr val="637052"/>
                </a:solidFill>
                <a:latin typeface="Bahnschrift"/>
              </a:rPr>
              <a:t> </a:t>
            </a:r>
            <a:r>
              <a:rPr b="1" lang="en-IN" sz="2400" spc="199" strike="noStrike" cap="all">
                <a:solidFill>
                  <a:srgbClr val="637052"/>
                </a:solidFill>
                <a:latin typeface="Bahnschrift"/>
              </a:rPr>
              <a:t>Rahul rajan Sebastian - Am.sc.u4cse23069</a:t>
            </a:r>
            <a:endParaRPr b="0" lang="en-IN" sz="2400" spc="-1" strike="noStrike">
              <a:latin typeface="Arial"/>
            </a:endParaRPr>
          </a:p>
          <a:p>
            <a:pPr algn="r">
              <a:lnSpc>
                <a:spcPct val="90000"/>
              </a:lnSpc>
              <a:spcBef>
                <a:spcPts val="1199"/>
              </a:spcBef>
              <a:spcAft>
                <a:spcPts val="201"/>
              </a:spcAft>
              <a:buNone/>
              <a:tabLst>
                <a:tab algn="l" pos="0"/>
              </a:tabLst>
            </a:pP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097280" y="387360"/>
            <a:ext cx="7384680" cy="748080"/>
          </a:xfrm>
          <a:prstGeom prst="rect">
            <a:avLst/>
          </a:prstGeom>
          <a:noFill/>
          <a:ln w="0">
            <a:noFill/>
          </a:ln>
        </p:spPr>
        <p:txBody>
          <a:bodyPr anchor="b">
            <a:normAutofit/>
          </a:bodyPr>
          <a:p>
            <a:pPr>
              <a:lnSpc>
                <a:spcPct val="85000"/>
              </a:lnSpc>
              <a:buNone/>
            </a:pPr>
            <a:r>
              <a:rPr b="0" lang="en-US" sz="4800" spc="-52" strike="noStrike">
                <a:solidFill>
                  <a:srgbClr val="404040"/>
                </a:solidFill>
                <a:latin typeface="Bahnschrift"/>
              </a:rPr>
              <a:t>1. Introduction</a:t>
            </a:r>
            <a:endParaRPr b="0" lang="en-US" sz="4800" spc="-1" strike="noStrike">
              <a:solidFill>
                <a:srgbClr val="000000"/>
              </a:solidFill>
              <a:latin typeface="Bahnschrift Light SemiCondensed"/>
            </a:endParaRPr>
          </a:p>
        </p:txBody>
      </p:sp>
      <p:sp>
        <p:nvSpPr>
          <p:cNvPr id="94" name="PlaceHolder 2"/>
          <p:cNvSpPr>
            <a:spLocks noGrp="1"/>
          </p:cNvSpPr>
          <p:nvPr>
            <p:ph/>
          </p:nvPr>
        </p:nvSpPr>
        <p:spPr>
          <a:xfrm>
            <a:off x="1097280" y="1840680"/>
            <a:ext cx="10199880" cy="4282920"/>
          </a:xfrm>
          <a:prstGeom prst="rect">
            <a:avLst/>
          </a:prstGeom>
          <a:noFill/>
          <a:ln w="0">
            <a:noFill/>
          </a:ln>
        </p:spPr>
        <p:txBody>
          <a:bodyPr lIns="0" rIns="0" anchor="t">
            <a:normAutofit fontScale="84000"/>
          </a:bodyPr>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Bahnschrift Light SemiCondensed"/>
              </a:rPr>
              <a:t>Problem Statement: Businesses struggle to utilize complex e-commerce data for decision-making; this project solves this by evaluating machine learning techniques. The challenge is to predict customer behavior (like churn and spending), segment customers effectively, and identify key drivers of engagement using diverse datasets.</a:t>
            </a: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Bahnschrift Light SemiCondensed"/>
              </a:rPr>
              <a:t>Motivation : In the competitive retail landscape, gaining a deep understanding of customer patterns through advanced analytics is crucial for enabling businesses to improve retention strategies and drive sustainable revenue growth.</a:t>
            </a: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Bahnschrift Light SemiCondensed"/>
              </a:rPr>
              <a:t>Objective : Our core objective is to implement and rigorously evaluate a range of machine learning algorithms across four different e-commerce datasets, to compare and contrast results.</a:t>
            </a: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Wingdings" charset="2"/>
              <a:buChar char=""/>
            </a:pPr>
            <a:r>
              <a:rPr b="0" lang="en-US" sz="2000" spc="-1" strike="noStrike">
                <a:solidFill>
                  <a:srgbClr val="404040"/>
                </a:solidFill>
                <a:latin typeface="Bahnschrift Light SemiCondensed"/>
              </a:rPr>
              <a:t>Type of ML task : Covers Classification, Regression, Clustering, and Dimensionality reduction.</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2. Dataset 1 – </a:t>
            </a:r>
            <a:r>
              <a:rPr b="0" lang="en-IN" sz="4800" spc="-52" strike="noStrike">
                <a:solidFill>
                  <a:srgbClr val="404040"/>
                </a:solidFill>
                <a:latin typeface="Bahnschrift"/>
              </a:rPr>
              <a:t>Description</a:t>
            </a:r>
            <a:endParaRPr b="0" lang="en-US" sz="4800" spc="-1" strike="noStrike">
              <a:solidFill>
                <a:srgbClr val="000000"/>
              </a:solidFill>
              <a:latin typeface="Bahnschrift Light SemiCondensed"/>
            </a:endParaRPr>
          </a:p>
        </p:txBody>
      </p:sp>
      <p:sp>
        <p:nvSpPr>
          <p:cNvPr id="96"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Source </a:t>
            </a:r>
            <a:r>
              <a:rPr b="0" lang="en-US" sz="2000" spc="-1" strike="noStrike">
                <a:solidFill>
                  <a:srgbClr val="404040"/>
                </a:solidFill>
                <a:latin typeface="Bahnschrift Light SemiCondensed"/>
              </a:rPr>
              <a:t>: Kaggle (https://www.kaggle.com/datasets/uom190346a/e-commerce-customer-behavior-dataset)</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Number of (samples : </a:t>
            </a:r>
            <a:r>
              <a:rPr b="0" lang="en-IN" sz="2000" spc="-1" strike="noStrike">
                <a:solidFill>
                  <a:srgbClr val="404040"/>
                </a:solidFill>
                <a:latin typeface="Bahnschrift Light SemiCondensed"/>
              </a:rPr>
              <a:t>3941, features : 11 )</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Feature descriptions</a:t>
            </a:r>
            <a:r>
              <a:rPr b="0" lang="en-US" sz="2000" spc="-1" strike="noStrike">
                <a:solidFill>
                  <a:srgbClr val="404040"/>
                </a:solidFill>
                <a:latin typeface="Bahnschrift Light SemiCondensed"/>
              </a:rPr>
              <a:t> : An individual customer profile, detailing their account history, satisfaction metrics, and whether they have discontinued the service.</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Preprocessing steps : numerical {imputation-median, standard scaler}; categorical {imputation-most frequent, one hot encoding}</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Train–test split details : 80:20 train test split, random state 42</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3. Models Used for Dataset 1</a:t>
            </a:r>
            <a:endParaRPr b="0" lang="en-US" sz="4800" spc="-1" strike="noStrike">
              <a:solidFill>
                <a:srgbClr val="000000"/>
              </a:solidFill>
              <a:latin typeface="Bahnschrift Light SemiCondensed"/>
            </a:endParaRPr>
          </a:p>
        </p:txBody>
      </p:sp>
      <p:sp>
        <p:nvSpPr>
          <p:cNvPr id="98" name="PlaceHolder 2"/>
          <p:cNvSpPr>
            <a:spLocks noGrp="1"/>
          </p:cNvSpPr>
          <p:nvPr>
            <p:ph/>
          </p:nvPr>
        </p:nvSpPr>
        <p:spPr>
          <a:xfrm>
            <a:off x="5404680" y="1985040"/>
            <a:ext cx="6145200" cy="2062440"/>
          </a:xfrm>
          <a:prstGeom prst="rect">
            <a:avLst/>
          </a:prstGeom>
          <a:noFill/>
          <a:ln w="0">
            <a:noFill/>
          </a:ln>
        </p:spPr>
        <p:txBody>
          <a:bodyPr lIns="0" rIns="0" anchor="t">
            <a:normAutofit fontScale="80000"/>
          </a:bodyPr>
          <a:p>
            <a:pPr marL="91440" indent="-91440">
              <a:lnSpc>
                <a:spcPct val="90000"/>
              </a:lnSpc>
              <a:spcBef>
                <a:spcPts val="1199"/>
              </a:spcBef>
              <a:spcAft>
                <a:spcPts val="201"/>
              </a:spcAft>
              <a:buClr>
                <a:srgbClr val="e48312"/>
              </a:buClr>
              <a:buFont typeface="Calibri"/>
              <a:buChar char=" "/>
            </a:pPr>
            <a:r>
              <a:rPr b="1" lang="en-US" sz="2000" spc="-1" strike="noStrike">
                <a:solidFill>
                  <a:srgbClr val="404040"/>
                </a:solidFill>
                <a:latin typeface="Bahnschrift Light SemiCondensed"/>
              </a:rPr>
              <a:t>Reason for Choosing Each Model</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KNN: Selected as a simple, non-parametric baseline model.</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Logistic Regression: Chosen as a robust linear baseline that offers interpretable coefficients.</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Naive Bayes: Used as a probabilistic baseline effectively assuming feature independence.</a:t>
            </a:r>
            <a:endParaRPr b="0" lang="en-US" sz="2000" spc="-1" strike="noStrike">
              <a:solidFill>
                <a:srgbClr val="404040"/>
              </a:solidFill>
              <a:latin typeface="Bahnschrift Light SemiCondensed"/>
            </a:endParaRPr>
          </a:p>
        </p:txBody>
      </p:sp>
      <p:sp>
        <p:nvSpPr>
          <p:cNvPr id="99" name="TextBox 4"/>
          <p:cNvSpPr/>
          <p:nvPr/>
        </p:nvSpPr>
        <p:spPr>
          <a:xfrm>
            <a:off x="939960" y="1985040"/>
            <a:ext cx="436536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List of Models Applied</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K-Nearest Neighbors (KNN)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Logistic Regression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Naive Bayes (GaussianNB)</a:t>
            </a:r>
            <a:endParaRPr b="0" lang="en-IN" sz="1800" spc="-1" strike="noStrike">
              <a:latin typeface="Arial"/>
            </a:endParaRPr>
          </a:p>
        </p:txBody>
      </p:sp>
      <p:sp>
        <p:nvSpPr>
          <p:cNvPr id="100" name="TextBox 6"/>
          <p:cNvSpPr/>
          <p:nvPr/>
        </p:nvSpPr>
        <p:spPr>
          <a:xfrm>
            <a:off x="939960" y="4469040"/>
            <a:ext cx="446400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Hyperparameters</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KNN: n_neighbors=5 (Default).</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Logistic Regression: max_iter=1000 (to ensure convergence), random_state=42.</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Naive Bayes: Default parameters.</a:t>
            </a:r>
            <a:endParaRPr b="0" lang="en-IN" sz="1800" spc="-1" strike="noStrike">
              <a:latin typeface="Arial"/>
            </a:endParaRPr>
          </a:p>
        </p:txBody>
      </p:sp>
      <p:sp>
        <p:nvSpPr>
          <p:cNvPr id="101" name="TextBox 8"/>
          <p:cNvSpPr/>
          <p:nvPr/>
        </p:nvSpPr>
        <p:spPr>
          <a:xfrm>
            <a:off x="5404680" y="4469040"/>
            <a:ext cx="609372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Frameworks Used</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Python, scikit-learn, pandas, numpy, matplotlib, seaborn</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4800" spc="-52" strike="noStrike">
                <a:solidFill>
                  <a:srgbClr val="404040"/>
                </a:solidFill>
                <a:latin typeface="Bahnschrift"/>
              </a:rPr>
              <a:t>4. Result Analysis – Dataset 1</a:t>
            </a:r>
            <a:r>
              <a:rPr b="0" lang="en-IN" sz="4800" spc="-52" strike="noStrike">
                <a:solidFill>
                  <a:srgbClr val="404040"/>
                </a:solidFill>
                <a:latin typeface="Bahnschrift"/>
              </a:rPr>
              <a:t> (if classification)</a:t>
            </a:r>
            <a:endParaRPr b="0" lang="en-US" sz="4800" spc="-1" strike="noStrike">
              <a:solidFill>
                <a:srgbClr val="000000"/>
              </a:solidFill>
              <a:latin typeface="Bahnschrift Light SemiCondensed"/>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Bahnschrift"/>
              </a:rPr>
              <a:t>5. Interpretation of Results</a:t>
            </a:r>
            <a:endParaRPr b="0" lang="en-US" sz="4800" spc="-1" strike="noStrike">
              <a:solidFill>
                <a:srgbClr val="000000"/>
              </a:solidFill>
              <a:latin typeface="Bahnschrift Light SemiCondensed"/>
            </a:endParaRPr>
          </a:p>
        </p:txBody>
      </p:sp>
      <p:pic>
        <p:nvPicPr>
          <p:cNvPr id="104" name="Content Placeholder 10" descr=""/>
          <p:cNvPicPr/>
          <p:nvPr/>
        </p:nvPicPr>
        <p:blipFill>
          <a:blip r:embed="rId1"/>
          <a:stretch/>
        </p:blipFill>
        <p:spPr>
          <a:xfrm>
            <a:off x="1190520" y="1816560"/>
            <a:ext cx="6721200" cy="1013040"/>
          </a:xfrm>
          <a:prstGeom prst="rect">
            <a:avLst/>
          </a:prstGeom>
          <a:ln w="0">
            <a:noFill/>
          </a:ln>
        </p:spPr>
      </p:pic>
      <p:pic>
        <p:nvPicPr>
          <p:cNvPr id="105" name="Picture 8" descr=""/>
          <p:cNvPicPr/>
          <p:nvPr/>
        </p:nvPicPr>
        <p:blipFill>
          <a:blip r:embed="rId2"/>
          <a:stretch/>
        </p:blipFill>
        <p:spPr>
          <a:xfrm>
            <a:off x="1190520" y="2830320"/>
            <a:ext cx="5551560" cy="30934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6. Dataset 2 – </a:t>
            </a:r>
            <a:r>
              <a:rPr b="0" lang="en-IN" sz="4800" spc="-52" strike="noStrike">
                <a:solidFill>
                  <a:srgbClr val="404040"/>
                </a:solidFill>
                <a:latin typeface="Bahnschrift"/>
              </a:rPr>
              <a:t>Description</a:t>
            </a:r>
            <a:endParaRPr b="0" lang="en-US" sz="4800" spc="-1" strike="noStrike">
              <a:solidFill>
                <a:srgbClr val="000000"/>
              </a:solidFill>
              <a:latin typeface="Bahnschrift Light SemiCondensed"/>
            </a:endParaRPr>
          </a:p>
        </p:txBody>
      </p:sp>
      <p:sp>
        <p:nvSpPr>
          <p:cNvPr id="107"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Source </a:t>
            </a:r>
            <a:r>
              <a:rPr b="0" lang="en-US" sz="2000" spc="-1" strike="noStrike">
                <a:solidFill>
                  <a:srgbClr val="404040"/>
                </a:solidFill>
                <a:latin typeface="Bahnschrift Light SemiCondensed"/>
              </a:rPr>
              <a:t>: Kaggle (https://www.kaggle.com/datasets/uom190346a/e-commerce-customer-behavior-dataset)</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Number of samples (350) ; features (11)</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Feature descriptions : A specific consumer, capturing their demographic details, membership status, and overall spending habits.</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Preprocessing steps : encoding (binary, ordinal), imputation (median), standard scaler</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Train–test split details : 80:20 train test split, random state 42</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7. Models Used for Dataset 2</a:t>
            </a:r>
            <a:endParaRPr b="0" lang="en-US" sz="4800" spc="-1" strike="noStrike">
              <a:solidFill>
                <a:srgbClr val="000000"/>
              </a:solidFill>
              <a:latin typeface="Bahnschrift Light SemiCondensed"/>
            </a:endParaRPr>
          </a:p>
        </p:txBody>
      </p:sp>
      <p:sp>
        <p:nvSpPr>
          <p:cNvPr id="109" name="PlaceHolder 2"/>
          <p:cNvSpPr>
            <a:spLocks noGrp="1"/>
          </p:cNvSpPr>
          <p:nvPr>
            <p:ph/>
          </p:nvPr>
        </p:nvSpPr>
        <p:spPr>
          <a:xfrm>
            <a:off x="5900760" y="4824720"/>
            <a:ext cx="3378240" cy="1081440"/>
          </a:xfrm>
          <a:prstGeom prst="rect">
            <a:avLst/>
          </a:prstGeom>
          <a:noFill/>
          <a:ln w="0">
            <a:noFill/>
          </a:ln>
        </p:spPr>
        <p:txBody>
          <a:bodyPr lIns="0" rIns="0" anchor="t">
            <a:normAutofit fontScale="77000"/>
          </a:bodyPr>
          <a:p>
            <a:pPr marL="91440" indent="-91440">
              <a:lnSpc>
                <a:spcPct val="90000"/>
              </a:lnSpc>
              <a:spcBef>
                <a:spcPts val="1199"/>
              </a:spcBef>
              <a:spcAft>
                <a:spcPts val="201"/>
              </a:spcAft>
              <a:buClr>
                <a:srgbClr val="e48312"/>
              </a:buClr>
              <a:buFont typeface="Calibri"/>
              <a:buChar char=" "/>
            </a:pPr>
            <a:r>
              <a:rPr b="1" lang="en-IN" sz="2000" spc="-1" strike="noStrike">
                <a:solidFill>
                  <a:srgbClr val="404040"/>
                </a:solidFill>
                <a:latin typeface="Bahnschrift Light SemiCondensed"/>
              </a:rPr>
              <a:t>Frameworks used</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Python, scikit-learn, pandas, numpy, matplotlib, seaborn, scipy</a:t>
            </a:r>
            <a:endParaRPr b="0" lang="en-US" sz="2000" spc="-1" strike="noStrike">
              <a:solidFill>
                <a:srgbClr val="404040"/>
              </a:solidFill>
              <a:latin typeface="Bahnschrift Light SemiCondensed"/>
            </a:endParaRPr>
          </a:p>
        </p:txBody>
      </p:sp>
      <p:sp>
        <p:nvSpPr>
          <p:cNvPr id="110" name="TextBox 4"/>
          <p:cNvSpPr/>
          <p:nvPr/>
        </p:nvSpPr>
        <p:spPr>
          <a:xfrm>
            <a:off x="532440" y="2212560"/>
            <a:ext cx="4833360" cy="146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List of models applied</a:t>
            </a:r>
            <a:r>
              <a:rPr b="0" lang="en-IN" sz="1800" spc="-1" strike="noStrike">
                <a:solidFill>
                  <a:srgbClr val="000000"/>
                </a:solidFill>
                <a:latin typeface="Bahnschrift Light SemiCondensed"/>
              </a:rPr>
              <a:t> </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Linear Regression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Ridge Regression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Lasso Regression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Decision Tree Regressor</a:t>
            </a:r>
            <a:endParaRPr b="0" lang="en-IN" sz="1800" spc="-1" strike="noStrike">
              <a:latin typeface="Arial"/>
            </a:endParaRPr>
          </a:p>
        </p:txBody>
      </p:sp>
      <p:sp>
        <p:nvSpPr>
          <p:cNvPr id="111" name="TextBox 6"/>
          <p:cNvSpPr/>
          <p:nvPr/>
        </p:nvSpPr>
        <p:spPr>
          <a:xfrm>
            <a:off x="5900760" y="2212560"/>
            <a:ext cx="5254560" cy="146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Reason for choosing each model</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 </a:t>
            </a:r>
            <a:r>
              <a:rPr b="0" lang="en-IN" sz="1800" spc="-1" strike="noStrike">
                <a:solidFill>
                  <a:srgbClr val="000000"/>
                </a:solidFill>
                <a:latin typeface="Bahnschrift Light SemiCondensed"/>
              </a:rPr>
              <a:t>Linear Regression as a baseline, Ridge to handle multicollinearity and overfitting, Lasso for feature selection, Decision Tree to capture non-linear relationships</a:t>
            </a:r>
            <a:endParaRPr b="0" lang="en-IN" sz="1800" spc="-1" strike="noStrike">
              <a:latin typeface="Arial"/>
            </a:endParaRPr>
          </a:p>
        </p:txBody>
      </p:sp>
      <p:sp>
        <p:nvSpPr>
          <p:cNvPr id="112" name="TextBox 8"/>
          <p:cNvSpPr/>
          <p:nvPr/>
        </p:nvSpPr>
        <p:spPr>
          <a:xfrm>
            <a:off x="532440" y="4705920"/>
            <a:ext cx="4833360" cy="146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Hyperparameters</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 </a:t>
            </a:r>
            <a:r>
              <a:rPr b="0" lang="en-IN" sz="1800" spc="-1" strike="noStrike">
                <a:solidFill>
                  <a:srgbClr val="000000"/>
                </a:solidFill>
                <a:latin typeface="Bahnschrift Light SemiCondensed"/>
              </a:rPr>
              <a:t>Ridge (alpha=1.0), Lasso (alpha=0.1), Decision Tree (max_depth=5, random_state=42), Train-Test Split (test_size=0.2, random_state=42)</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4800" spc="-52" strike="noStrike">
                <a:solidFill>
                  <a:srgbClr val="404040"/>
                </a:solidFill>
                <a:latin typeface="Bahnschrift"/>
              </a:rPr>
              <a:t>8. Result Analysis – Dataset 2</a:t>
            </a:r>
            <a:r>
              <a:rPr b="0" lang="en-IN" sz="4800" spc="-52" strike="noStrike">
                <a:solidFill>
                  <a:srgbClr val="404040"/>
                </a:solidFill>
                <a:latin typeface="Bahnschrift"/>
              </a:rPr>
              <a:t> (if classification)</a:t>
            </a:r>
            <a:endParaRPr b="0" lang="en-US" sz="4800" spc="-1" strike="noStrike">
              <a:solidFill>
                <a:srgbClr val="000000"/>
              </a:solidFill>
              <a:latin typeface="Bahnschrift Light SemiCondensed"/>
            </a:endParaRPr>
          </a:p>
        </p:txBody>
      </p:sp>
      <p:sp>
        <p:nvSpPr>
          <p:cNvPr id="114"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Confusion Matrix</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Accuracy, Precision, Recall, Specificity, F1</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ROC-AUC, PR-AUC</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ROC, PR Curves</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Bahnschrift"/>
              </a:rPr>
              <a:t>9. Interpretation of Results</a:t>
            </a:r>
            <a:endParaRPr b="0" lang="en-US" sz="4800" spc="-1" strike="noStrike">
              <a:solidFill>
                <a:srgbClr val="000000"/>
              </a:solidFill>
              <a:latin typeface="Bahnschrift Light SemiCondensed"/>
            </a:endParaRPr>
          </a:p>
        </p:txBody>
      </p:sp>
      <p:sp>
        <p:nvSpPr>
          <p:cNvPr id="116"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90000"/>
              </a:lnSpc>
              <a:spcBef>
                <a:spcPts val="1417"/>
              </a:spcBef>
              <a:buNone/>
            </a:pP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10. Dataset 3 – Description</a:t>
            </a:r>
            <a:endParaRPr b="0" lang="en-US" sz="4800" spc="-1" strike="noStrike">
              <a:solidFill>
                <a:srgbClr val="000000"/>
              </a:solidFill>
              <a:latin typeface="Bahnschrift Light SemiCondensed"/>
            </a:endParaRPr>
          </a:p>
        </p:txBody>
      </p:sp>
      <p:sp>
        <p:nvSpPr>
          <p:cNvPr id="118"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Source </a:t>
            </a:r>
            <a:r>
              <a:rPr b="0" lang="en-US" sz="2000" spc="-1" strike="noStrike">
                <a:solidFill>
                  <a:srgbClr val="404040"/>
                </a:solidFill>
                <a:latin typeface="Bahnschrift Light SemiCondensed"/>
              </a:rPr>
              <a:t>: UCI (https://archive.ics.uci.edu/dataset/292/wholesale+customers)</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Number of samples and features </a:t>
            </a: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Feature descriptions : A business client (such as a restaurant or retailer), characterized by their annual spending across different product categories like fresh food, milk, and grocery.</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Preprocessing steps : scaling (standard scaler)</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Train–test split details : None (not applicable)</a:t>
            </a:r>
            <a:endParaRPr b="0" lang="en-US" sz="2000" spc="-1" strike="noStrike">
              <a:solidFill>
                <a:srgbClr val="404040"/>
              </a:solidFill>
              <a:latin typeface="Bahnschrift Light SemiCondensed"/>
            </a:endParaRPr>
          </a:p>
        </p:txBody>
      </p:sp>
      <p:pic>
        <p:nvPicPr>
          <p:cNvPr id="119" name="Picture 4" descr=""/>
          <p:cNvPicPr/>
          <p:nvPr/>
        </p:nvPicPr>
        <p:blipFill>
          <a:blip r:embed="rId1"/>
          <a:stretch/>
        </p:blipFill>
        <p:spPr>
          <a:xfrm>
            <a:off x="4574880" y="2204640"/>
            <a:ext cx="3931920" cy="5713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11. Models Used for Dataset 3</a:t>
            </a:r>
            <a:endParaRPr b="0" lang="en-US" sz="4800" spc="-1" strike="noStrike">
              <a:solidFill>
                <a:srgbClr val="000000"/>
              </a:solidFill>
              <a:latin typeface="Bahnschrift Light SemiCondensed"/>
            </a:endParaRPr>
          </a:p>
        </p:txBody>
      </p:sp>
      <p:sp>
        <p:nvSpPr>
          <p:cNvPr id="121" name="PlaceHolder 2"/>
          <p:cNvSpPr>
            <a:spLocks noGrp="1"/>
          </p:cNvSpPr>
          <p:nvPr>
            <p:ph/>
          </p:nvPr>
        </p:nvSpPr>
        <p:spPr>
          <a:xfrm>
            <a:off x="5895360" y="4259160"/>
            <a:ext cx="4006440" cy="1612800"/>
          </a:xfrm>
          <a:prstGeom prst="rect">
            <a:avLst/>
          </a:prstGeom>
          <a:noFill/>
          <a:ln w="0">
            <a:noFill/>
          </a:ln>
        </p:spPr>
        <p:txBody>
          <a:bodyPr lIns="0" rIns="0" anchor="t">
            <a:normAutofit/>
          </a:bodyPr>
          <a:p>
            <a:pPr>
              <a:lnSpc>
                <a:spcPct val="90000"/>
              </a:lnSpc>
              <a:spcBef>
                <a:spcPts val="1199"/>
              </a:spcBef>
              <a:spcAft>
                <a:spcPts val="201"/>
              </a:spcAft>
              <a:buNone/>
              <a:tabLst>
                <a:tab algn="l" pos="0"/>
              </a:tabLst>
            </a:pPr>
            <a:r>
              <a:rPr b="1" lang="en-US" sz="2000" spc="-1" strike="noStrike">
                <a:solidFill>
                  <a:srgbClr val="404040"/>
                </a:solidFill>
                <a:latin typeface="Bahnschrift Light SemiCondensed"/>
              </a:rPr>
              <a:t>Frameworks used</a:t>
            </a:r>
            <a:endParaRPr b="0" lang="en-US" sz="2000" spc="-1" strike="noStrike">
              <a:solidFill>
                <a:srgbClr val="404040"/>
              </a:solidFill>
              <a:latin typeface="Bahnschrift Light SemiCondensed"/>
            </a:endParaRPr>
          </a:p>
          <a:p>
            <a:pPr>
              <a:lnSpc>
                <a:spcPct val="90000"/>
              </a:lnSpc>
              <a:spcBef>
                <a:spcPts val="1199"/>
              </a:spcBef>
              <a:spcAft>
                <a:spcPts val="201"/>
              </a:spcAft>
              <a:buNone/>
              <a:tabLst>
                <a:tab algn="l" pos="0"/>
              </a:tabLst>
            </a:pPr>
            <a:r>
              <a:rPr b="0" lang="en-IN" sz="2000" spc="-1" strike="noStrike">
                <a:solidFill>
                  <a:srgbClr val="404040"/>
                </a:solidFill>
                <a:latin typeface="Bahnschrift Light SemiCondensed"/>
              </a:rPr>
              <a:t>Python, scikit-learn, pandas, numpy, matplotlib, seaborn, scipy</a:t>
            </a:r>
            <a:endParaRPr b="0" lang="en-US" sz="2000" spc="-1" strike="noStrike">
              <a:solidFill>
                <a:srgbClr val="404040"/>
              </a:solidFill>
              <a:latin typeface="Bahnschrift Light SemiCondensed"/>
            </a:endParaRPr>
          </a:p>
        </p:txBody>
      </p:sp>
      <p:sp>
        <p:nvSpPr>
          <p:cNvPr id="122" name="TextBox 4"/>
          <p:cNvSpPr/>
          <p:nvPr/>
        </p:nvSpPr>
        <p:spPr>
          <a:xfrm>
            <a:off x="5790240" y="1951560"/>
            <a:ext cx="6093720" cy="2009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Bahnschrift Light SemiCondensed"/>
              </a:rPr>
              <a:t>Reason for choosing each model</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K-Means: Good for creating spherical, distinct clusters.</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Hierarchical: For visualizing relationships, helps determine optimal cluster count.</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DBSCAN: Good for arbitrary shapes and outlier detection.</a:t>
            </a:r>
            <a:endParaRPr b="0" lang="en-IN" sz="1800" spc="-1" strike="noStrike">
              <a:latin typeface="Arial"/>
            </a:endParaRPr>
          </a:p>
        </p:txBody>
      </p:sp>
      <p:sp>
        <p:nvSpPr>
          <p:cNvPr id="123" name="TextBox 6"/>
          <p:cNvSpPr/>
          <p:nvPr/>
        </p:nvSpPr>
        <p:spPr>
          <a:xfrm>
            <a:off x="396720" y="2069280"/>
            <a:ext cx="514944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Bahnschrift Light SemiCondensed"/>
              </a:rPr>
              <a:t>List of models applied</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K-Means</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Agglomerate</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DBSCAN </a:t>
            </a:r>
            <a:endParaRPr b="0" lang="en-IN" sz="1800" spc="-1" strike="noStrike">
              <a:latin typeface="Arial"/>
            </a:endParaRPr>
          </a:p>
        </p:txBody>
      </p:sp>
      <p:sp>
        <p:nvSpPr>
          <p:cNvPr id="124" name="TextBox 8"/>
          <p:cNvSpPr/>
          <p:nvPr/>
        </p:nvSpPr>
        <p:spPr>
          <a:xfrm>
            <a:off x="396720" y="4188600"/>
            <a:ext cx="539316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Bahnschrift Light SemiCondensed"/>
              </a:rPr>
              <a:t>Hyperparameters</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K-Means: n_clusters=3, init='k-means++', n_init=10, random_state=42</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Hierarchical: Default</a:t>
            </a:r>
            <a:endParaRPr b="0" lang="en-IN" sz="1800" spc="-1" strike="noStrike">
              <a:latin typeface="Arial"/>
            </a:endParaRPr>
          </a:p>
          <a:p>
            <a:pPr>
              <a:lnSpc>
                <a:spcPct val="100000"/>
              </a:lnSpc>
              <a:buNone/>
            </a:pPr>
            <a:r>
              <a:rPr b="0" lang="en-US" sz="1800" spc="-1" strike="noStrike">
                <a:solidFill>
                  <a:srgbClr val="000000"/>
                </a:solidFill>
                <a:latin typeface="Bahnschrift Light SemiCondensed"/>
              </a:rPr>
              <a:t>DBSCAN: Default</a:t>
            </a:r>
            <a:endParaRPr b="0" lang="en-IN" sz="1800" spc="-1" strike="noStrike">
              <a:latin typeface="Arial"/>
            </a:endParaRPr>
          </a:p>
          <a:p>
            <a:pPr>
              <a:lnSpc>
                <a:spcPct val="100000"/>
              </a:lnSpc>
              <a:buNone/>
            </a:pP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4800" spc="-52" strike="noStrike">
                <a:solidFill>
                  <a:srgbClr val="404040"/>
                </a:solidFill>
                <a:latin typeface="Bahnschrift"/>
              </a:rPr>
              <a:t>12. Result Analysis – Dataset 3</a:t>
            </a:r>
            <a:r>
              <a:rPr b="0" lang="en-IN" sz="4800" spc="-52" strike="noStrike">
                <a:solidFill>
                  <a:srgbClr val="404040"/>
                </a:solidFill>
                <a:latin typeface="Bahnschrift"/>
              </a:rPr>
              <a:t> (if classification)</a:t>
            </a:r>
            <a:endParaRPr b="0" lang="en-US" sz="4800" spc="-1" strike="noStrike">
              <a:solidFill>
                <a:srgbClr val="000000"/>
              </a:solidFill>
              <a:latin typeface="Bahnschrift Light SemiCondensed"/>
            </a:endParaRPr>
          </a:p>
        </p:txBody>
      </p:sp>
      <p:sp>
        <p:nvSpPr>
          <p:cNvPr id="126" name="PlaceHolder 2"/>
          <p:cNvSpPr>
            <a:spLocks noGrp="1"/>
          </p:cNvSpPr>
          <p:nvPr>
            <p:ph/>
          </p:nvPr>
        </p:nvSpPr>
        <p:spPr>
          <a:xfrm>
            <a:off x="1097280" y="1809720"/>
            <a:ext cx="6642720" cy="4023000"/>
          </a:xfrm>
          <a:prstGeom prst="rect">
            <a:avLst/>
          </a:prstGeom>
          <a:noFill/>
          <a:ln w="0">
            <a:noFill/>
          </a:ln>
        </p:spPr>
        <p:txBody>
          <a:bodyPr lIns="0" rIns="0" anchor="t">
            <a:noAutofit/>
          </a:bodyPr>
          <a:p>
            <a:pPr>
              <a:lnSpc>
                <a:spcPct val="90000"/>
              </a:lnSpc>
              <a:spcBef>
                <a:spcPts val="1417"/>
              </a:spcBef>
              <a:buNone/>
            </a:pPr>
            <a:endParaRPr b="0" lang="en-US" sz="2000" spc="-1" strike="noStrike">
              <a:solidFill>
                <a:srgbClr val="404040"/>
              </a:solidFill>
              <a:latin typeface="Bahnschrift Light SemiCondensed"/>
            </a:endParaRPr>
          </a:p>
        </p:txBody>
      </p:sp>
      <p:pic>
        <p:nvPicPr>
          <p:cNvPr id="127" name="" descr=""/>
          <p:cNvPicPr/>
          <p:nvPr/>
        </p:nvPicPr>
        <p:blipFill>
          <a:blip r:embed="rId1"/>
          <a:stretch/>
        </p:blipFill>
        <p:spPr>
          <a:xfrm>
            <a:off x="540000" y="1737000"/>
            <a:ext cx="7200000" cy="4500000"/>
          </a:xfrm>
          <a:prstGeom prst="rect">
            <a:avLst/>
          </a:prstGeom>
          <a:ln w="0">
            <a:noFill/>
          </a:ln>
        </p:spPr>
      </p:pic>
      <p:sp>
        <p:nvSpPr>
          <p:cNvPr id="128" name=""/>
          <p:cNvSpPr txBox="1"/>
          <p:nvPr/>
        </p:nvSpPr>
        <p:spPr>
          <a:xfrm>
            <a:off x="7760880" y="1816200"/>
            <a:ext cx="4801680" cy="2138040"/>
          </a:xfrm>
          <a:prstGeom prst="rect">
            <a:avLst/>
          </a:prstGeom>
          <a:noFill/>
          <a:ln w="0">
            <a:noFill/>
          </a:ln>
        </p:spPr>
        <p:txBody>
          <a:bodyPr lIns="90000" rIns="90000" tIns="45000" bIns="45000" anchor="t">
            <a:noAutofit/>
          </a:bodyPr>
          <a:p>
            <a:r>
              <a:rPr b="0" lang="en-IN" sz="1800" spc="-1" strike="noStrike">
                <a:latin typeface="Arial"/>
              </a:rPr>
              <a:t>Internal clustering metric</a:t>
            </a:r>
            <a:br>
              <a:rPr sz="1800"/>
            </a:br>
            <a:endParaRPr b="0" lang="en-IN" sz="1800" spc="-1" strike="noStrike">
              <a:latin typeface="Arial"/>
            </a:endParaRPr>
          </a:p>
          <a:p>
            <a:endParaRPr b="0" lang="en-IN" sz="1800" spc="-1" strike="noStrike">
              <a:latin typeface="Arial"/>
            </a:endParaRPr>
          </a:p>
          <a:p>
            <a:r>
              <a:rPr b="0" lang="en-IN" sz="1800" spc="-1" strike="noStrike">
                <a:latin typeface="Arial"/>
              </a:rPr>
              <a:t>Silhouette Score (range −1 to 1): higher is better.</a:t>
            </a:r>
            <a:endParaRPr b="0" lang="en-IN" sz="1800" spc="-1" strike="noStrike">
              <a:latin typeface="Arial"/>
            </a:endParaRPr>
          </a:p>
          <a:p>
            <a:r>
              <a:rPr b="0" lang="en-IN" sz="1800" spc="-1" strike="noStrike">
                <a:latin typeface="Arial"/>
              </a:rPr>
              <a:t>– </a:t>
            </a:r>
            <a:r>
              <a:rPr b="0" lang="en-IN" sz="1800" spc="-1" strike="noStrike">
                <a:latin typeface="Arial"/>
              </a:rPr>
              <a:t>K-Means (3 clusters): 0.548</a:t>
            </a:r>
            <a:endParaRPr b="0" lang="en-IN" sz="1800" spc="-1" strike="noStrike">
              <a:latin typeface="Arial"/>
            </a:endParaRPr>
          </a:p>
          <a:p>
            <a:r>
              <a:rPr b="0" lang="en-IN" sz="1800" spc="-1" strike="noStrike">
                <a:latin typeface="Arial"/>
              </a:rPr>
              <a:t>– </a:t>
            </a:r>
            <a:r>
              <a:rPr b="0" lang="en-IN" sz="1800" spc="-1" strike="noStrike">
                <a:latin typeface="Arial"/>
              </a:rPr>
              <a:t>Hierarchical (3 clusters): 0.265</a:t>
            </a:r>
            <a:endParaRPr b="0" lang="en-IN" sz="1800" spc="-1" strike="noStrike">
              <a:latin typeface="Arial"/>
            </a:endParaRPr>
          </a:p>
          <a:p>
            <a:r>
              <a:rPr b="0" lang="en-IN" sz="1800" spc="-1" strike="noStrike">
                <a:latin typeface="Arial"/>
              </a:rPr>
              <a:t>– </a:t>
            </a:r>
            <a:r>
              <a:rPr b="0" lang="en-IN" sz="1800" spc="-1" strike="noStrike">
                <a:latin typeface="Arial"/>
              </a:rPr>
              <a:t>DBSCAN: 0.196</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248120" y="21240"/>
            <a:ext cx="8988120" cy="1238760"/>
          </a:xfrm>
          <a:prstGeom prst="rect">
            <a:avLst/>
          </a:prstGeom>
          <a:noFill/>
          <a:ln w="0">
            <a:noFill/>
          </a:ln>
        </p:spPr>
        <p:txBody>
          <a:bodyPr anchor="b">
            <a:noAutofit/>
          </a:bodyPr>
          <a:p>
            <a:pPr>
              <a:lnSpc>
                <a:spcPct val="85000"/>
              </a:lnSpc>
              <a:buNone/>
            </a:pPr>
            <a:r>
              <a:rPr b="0" lang="en-IN" sz="4800" spc="-52" strike="noStrike">
                <a:solidFill>
                  <a:srgbClr val="404040"/>
                </a:solidFill>
                <a:latin typeface="Bahnschrift"/>
              </a:rPr>
              <a:t>13. Interpretation of Results</a:t>
            </a:r>
            <a:endParaRPr b="0" lang="en-US" sz="4800" spc="-1" strike="noStrike">
              <a:solidFill>
                <a:srgbClr val="000000"/>
              </a:solidFill>
              <a:latin typeface="Bahnschrift Light SemiCondensed"/>
            </a:endParaRPr>
          </a:p>
        </p:txBody>
      </p:sp>
      <p:pic>
        <p:nvPicPr>
          <p:cNvPr id="130" name="" descr=""/>
          <p:cNvPicPr/>
          <p:nvPr/>
        </p:nvPicPr>
        <p:blipFill>
          <a:blip r:embed="rId1"/>
          <a:stretch/>
        </p:blipFill>
        <p:spPr>
          <a:xfrm>
            <a:off x="180000" y="1737000"/>
            <a:ext cx="5966280" cy="4581000"/>
          </a:xfrm>
          <a:prstGeom prst="rect">
            <a:avLst/>
          </a:prstGeom>
          <a:ln w="0">
            <a:noFill/>
          </a:ln>
        </p:spPr>
      </p:pic>
      <p:sp>
        <p:nvSpPr>
          <p:cNvPr id="131" name=""/>
          <p:cNvSpPr txBox="1"/>
          <p:nvPr/>
        </p:nvSpPr>
        <p:spPr>
          <a:xfrm>
            <a:off x="6300000" y="900000"/>
            <a:ext cx="5760000" cy="5849280"/>
          </a:xfrm>
          <a:prstGeom prst="rect">
            <a:avLst/>
          </a:prstGeom>
          <a:noFill/>
          <a:ln w="0">
            <a:noFill/>
          </a:ln>
        </p:spPr>
        <p:txBody>
          <a:bodyPr lIns="90000" rIns="90000" tIns="45000" bIns="45000" anchor="t">
            <a:noAutofit/>
          </a:bodyPr>
          <a:p>
            <a:pPr>
              <a:lnSpc>
                <a:spcPct val="150000"/>
              </a:lnSpc>
              <a:buNone/>
            </a:pPr>
            <a:r>
              <a:rPr b="0" lang="en-IN" sz="1800" spc="-1" strike="noStrike">
                <a:latin typeface="Arial"/>
              </a:rPr>
              <a:t>Each small line at the bottom is one customer.</a:t>
            </a:r>
            <a:endParaRPr b="0" lang="en-IN" sz="1800" spc="-1" strike="noStrike">
              <a:latin typeface="Arial"/>
              <a:ea typeface="Noto Sans CJK SC"/>
            </a:endParaRPr>
          </a:p>
          <a:p>
            <a:endParaRPr b="0" lang="en-IN" sz="1800" spc="-1" strike="noStrike">
              <a:latin typeface="Arial"/>
            </a:endParaRPr>
          </a:p>
          <a:p>
            <a:r>
              <a:rPr b="0" lang="en-IN" sz="1800" spc="-1" strike="noStrike">
                <a:latin typeface="Arial"/>
              </a:rPr>
              <a:t>As we go upwards, similar customers join together to form bigger clusters.</a:t>
            </a:r>
            <a:endParaRPr b="0" lang="en-IN" sz="1800" spc="-1" strike="noStrike">
              <a:latin typeface="Arial"/>
            </a:endParaRPr>
          </a:p>
          <a:p>
            <a:endParaRPr b="0" lang="en-IN" sz="1800" spc="-1" strike="noStrike">
              <a:latin typeface="Arial"/>
            </a:endParaRPr>
          </a:p>
          <a:p>
            <a:r>
              <a:rPr b="0" lang="en-IN" sz="1800" spc="-1" strike="noStrike">
                <a:latin typeface="Arial"/>
              </a:rPr>
              <a:t>The height of the vertical line shows how different the two groups are</a:t>
            </a:r>
            <a:endParaRPr b="0" lang="en-IN" sz="1800" spc="-1" strike="noStrike">
              <a:latin typeface="Arial"/>
            </a:endParaRPr>
          </a:p>
          <a:p>
            <a:r>
              <a:rPr b="0" lang="en-IN" sz="1800" spc="-1" strike="noStrike">
                <a:latin typeface="Arial"/>
              </a:rPr>
              <a:t>(higher line = more dissimilar groups).</a:t>
            </a:r>
            <a:endParaRPr b="0" lang="en-IN" sz="1800" spc="-1" strike="noStrike">
              <a:latin typeface="Arial"/>
            </a:endParaRPr>
          </a:p>
          <a:p>
            <a:endParaRPr b="0" lang="en-IN" sz="1800" spc="-1" strike="noStrike">
              <a:latin typeface="Arial"/>
            </a:endParaRPr>
          </a:p>
          <a:p>
            <a:r>
              <a:rPr b="0" lang="en-IN" sz="1800" spc="-1" strike="noStrike">
                <a:latin typeface="Arial"/>
              </a:rPr>
              <a:t>I draw a red dashed horizontal line at height ≈ 20.</a:t>
            </a:r>
            <a:endParaRPr b="0" lang="en-IN" sz="1800" spc="-1" strike="noStrike">
              <a:latin typeface="Arial"/>
            </a:endParaRPr>
          </a:p>
          <a:p>
            <a:endParaRPr b="0" lang="en-IN" sz="1800" spc="-1" strike="noStrike">
              <a:latin typeface="Arial"/>
            </a:endParaRPr>
          </a:p>
          <a:p>
            <a:r>
              <a:rPr b="0" lang="en-IN" sz="1800" spc="-1" strike="noStrike">
                <a:latin typeface="Arial"/>
              </a:rPr>
              <a:t>When we cut the tree at this level, the dendrogram splits into 3 big branches.</a:t>
            </a:r>
            <a:endParaRPr b="0" lang="en-IN" sz="1800" spc="-1" strike="noStrike">
              <a:latin typeface="Arial"/>
            </a:endParaRPr>
          </a:p>
          <a:p>
            <a:endParaRPr b="0" lang="en-IN" sz="1800" spc="-1" strike="noStrike">
              <a:latin typeface="Arial"/>
            </a:endParaRPr>
          </a:p>
          <a:p>
            <a:r>
              <a:rPr b="0" lang="en-IN" sz="1800" spc="-1" strike="noStrike">
                <a:latin typeface="Arial"/>
              </a:rPr>
              <a:t>So, the dendrogram suggests that 3 natural clusters exist in this dataset.</a:t>
            </a:r>
            <a:endParaRPr b="0" lang="en-IN" sz="1800" spc="-1" strike="noStrike">
              <a:latin typeface="Arial"/>
            </a:endParaRPr>
          </a:p>
          <a:p>
            <a:endParaRPr b="0" lang="en-IN" sz="1800" spc="-1" strike="noStrike">
              <a:latin typeface="Arial"/>
            </a:endParaRPr>
          </a:p>
          <a:p>
            <a:r>
              <a:rPr b="0" lang="en-IN" sz="1800" spc="-1" strike="noStrike">
                <a:latin typeface="Arial"/>
              </a:rPr>
              <a:t>This matches my K-Means result with 3 clusters,</a:t>
            </a:r>
            <a:endParaRPr b="0" lang="en-IN" sz="1800" spc="-1" strike="noStrike">
              <a:latin typeface="Arial"/>
            </a:endParaRPr>
          </a:p>
          <a:p>
            <a:r>
              <a:rPr b="0" lang="en-IN" sz="1800" spc="-1" strike="noStrike">
                <a:latin typeface="Arial"/>
              </a:rPr>
              <a:t>which also had the best Silhouette Score (~0.55).</a:t>
            </a:r>
            <a:endParaRPr b="0" lang="en-IN" sz="1800" spc="-1" strike="noStrike">
              <a:latin typeface="Arial"/>
            </a:endParaRPr>
          </a:p>
          <a:p>
            <a:endParaRPr b="0" lang="en-IN" sz="1800" spc="-1" strike="noStrike">
              <a:latin typeface="Arial"/>
            </a:endParaRPr>
          </a:p>
          <a:p>
            <a:r>
              <a:rPr b="0" lang="en-IN" sz="1800" spc="-1" strike="noStrike">
                <a:latin typeface="Arial"/>
              </a:rPr>
              <a:t>Therefore, 3 clusters is a good choice, and the groups are meaningful customer segments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14. Dataset 4 – Description</a:t>
            </a:r>
            <a:endParaRPr b="0" lang="en-US" sz="4800" spc="-1" strike="noStrike">
              <a:solidFill>
                <a:srgbClr val="000000"/>
              </a:solidFill>
              <a:latin typeface="Bahnschrift Light SemiCondensed"/>
            </a:endParaRPr>
          </a:p>
        </p:txBody>
      </p:sp>
      <p:sp>
        <p:nvSpPr>
          <p:cNvPr id="133" name="PlaceHolder 2"/>
          <p:cNvSpPr>
            <a:spLocks noGrp="1"/>
          </p:cNvSpPr>
          <p:nvPr>
            <p:ph/>
          </p:nvPr>
        </p:nvSpPr>
        <p:spPr>
          <a:xfrm>
            <a:off x="1097280" y="1845720"/>
            <a:ext cx="10058040" cy="4023000"/>
          </a:xfrm>
          <a:prstGeom prst="rect">
            <a:avLst/>
          </a:prstGeom>
          <a:noFill/>
          <a:ln w="0">
            <a:noFill/>
          </a:ln>
        </p:spPr>
        <p:txBody>
          <a:bodyPr lIns="0" rIns="0" anchor="t">
            <a:normAutofit fontScale="95000"/>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Source </a:t>
            </a:r>
            <a:r>
              <a:rPr b="0" lang="en-US" sz="2000" spc="-1" strike="noStrike">
                <a:solidFill>
                  <a:srgbClr val="404040"/>
                </a:solidFill>
                <a:latin typeface="Bahnschrift Light SemiCondensed"/>
              </a:rPr>
              <a:t>: UCI (https://archive.ics.uci.edu/dataset/468/online+shoppers+purchasing+intention+dataset)</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Number of samples and features ; Feature descriptions </a:t>
            </a: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a:lnSpc>
                <a:spcPct val="90000"/>
              </a:lnSpc>
              <a:spcBef>
                <a:spcPts val="1199"/>
              </a:spcBef>
              <a:spcAft>
                <a:spcPts val="201"/>
              </a:spcAft>
              <a:buNone/>
            </a:pP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Feature descriptions : </a:t>
            </a:r>
            <a:r>
              <a:rPr b="0" lang="en-US" sz="2000" spc="-1" strike="noStrike">
                <a:solidFill>
                  <a:srgbClr val="404040"/>
                </a:solidFill>
                <a:latin typeface="Bahnschrift Light SemiCondensed"/>
              </a:rPr>
              <a:t>A single user session on the website, tracking navigation patterns, page views, and whether the visit resulted in a transaction.</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Preprocessing steps : data cleaning{removed duplicates}, encoding {label encoder}, normalization {standard scaler}</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Train–test split details : </a:t>
            </a:r>
            <a:r>
              <a:rPr b="0" lang="en-IN" sz="2000" spc="-1" strike="noStrike">
                <a:solidFill>
                  <a:srgbClr val="404040"/>
                </a:solidFill>
                <a:latin typeface="Bahnschrift Light SemiCondensed"/>
              </a:rPr>
              <a:t>70:30 train test split, random state 42</a:t>
            </a:r>
            <a:endParaRPr b="0" lang="en-US" sz="2000" spc="-1" strike="noStrike">
              <a:solidFill>
                <a:srgbClr val="404040"/>
              </a:solidFill>
              <a:latin typeface="Bahnschrift Light SemiCondensed"/>
            </a:endParaRPr>
          </a:p>
        </p:txBody>
      </p:sp>
      <p:pic>
        <p:nvPicPr>
          <p:cNvPr id="134" name="Picture 4" descr=""/>
          <p:cNvPicPr/>
          <p:nvPr/>
        </p:nvPicPr>
        <p:blipFill>
          <a:blip r:embed="rId1"/>
          <a:stretch/>
        </p:blipFill>
        <p:spPr>
          <a:xfrm>
            <a:off x="1097280" y="2811600"/>
            <a:ext cx="6957360" cy="6170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US" sz="4800" spc="-52" strike="noStrike">
                <a:solidFill>
                  <a:srgbClr val="404040"/>
                </a:solidFill>
                <a:latin typeface="Bahnschrift"/>
              </a:rPr>
              <a:t>15. Models Used for Dataset 4</a:t>
            </a:r>
            <a:endParaRPr b="0" lang="en-US" sz="4800" spc="-1" strike="noStrike">
              <a:solidFill>
                <a:srgbClr val="000000"/>
              </a:solidFill>
              <a:latin typeface="Bahnschrift Light SemiCondensed"/>
            </a:endParaRPr>
          </a:p>
        </p:txBody>
      </p:sp>
      <p:sp>
        <p:nvSpPr>
          <p:cNvPr id="136" name="PlaceHolder 2"/>
          <p:cNvSpPr>
            <a:spLocks noGrp="1"/>
          </p:cNvSpPr>
          <p:nvPr>
            <p:ph/>
          </p:nvPr>
        </p:nvSpPr>
        <p:spPr>
          <a:xfrm>
            <a:off x="451440" y="2067120"/>
            <a:ext cx="5218200" cy="1753920"/>
          </a:xfrm>
          <a:prstGeom prst="rect">
            <a:avLst/>
          </a:prstGeom>
          <a:noFill/>
          <a:ln w="0">
            <a:noFill/>
          </a:ln>
        </p:spPr>
        <p:txBody>
          <a:bodyPr lIns="0" rIns="0" anchor="t">
            <a:normAutofit fontScale="87000"/>
          </a:bodyPr>
          <a:p>
            <a:pPr marL="91440" indent="-91440">
              <a:lnSpc>
                <a:spcPct val="90000"/>
              </a:lnSpc>
              <a:spcBef>
                <a:spcPts val="1199"/>
              </a:spcBef>
              <a:spcAft>
                <a:spcPts val="201"/>
              </a:spcAft>
              <a:buClr>
                <a:srgbClr val="e48312"/>
              </a:buClr>
              <a:buFont typeface="Calibri"/>
              <a:buChar char=" "/>
            </a:pPr>
            <a:r>
              <a:rPr b="1" lang="en-US" sz="2000" spc="-1" strike="noStrike">
                <a:solidFill>
                  <a:srgbClr val="404040"/>
                </a:solidFill>
                <a:latin typeface="Bahnschrift Light SemiCondensed"/>
              </a:rPr>
              <a:t>List of Models Applied:</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Principal Component Analysis (PCA)</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Linear Discriminant Analysis (LDA)</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Logistic Regression (wrapped in Sequential Feature Selection)</a:t>
            </a:r>
            <a:endParaRPr b="0" lang="en-US" sz="2000" spc="-1" strike="noStrike">
              <a:solidFill>
                <a:srgbClr val="404040"/>
              </a:solidFill>
              <a:latin typeface="Bahnschrift Light SemiCondensed"/>
            </a:endParaRPr>
          </a:p>
        </p:txBody>
      </p:sp>
      <p:sp>
        <p:nvSpPr>
          <p:cNvPr id="137" name="TextBox 4"/>
          <p:cNvSpPr/>
          <p:nvPr/>
        </p:nvSpPr>
        <p:spPr>
          <a:xfrm>
            <a:off x="339840" y="4150800"/>
            <a:ext cx="53301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Hyperparameters:</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PCA: n_components=2 (for 2D visualization).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LDA: n_components=1 (optimal for binary classification).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Logistic Regression: max_iter=1000, random_state=42.</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Feature Selection: n_features_to_select=5, direction='forward'.</a:t>
            </a:r>
            <a:endParaRPr b="0" lang="en-IN" sz="1800" spc="-1" strike="noStrike">
              <a:latin typeface="Arial"/>
            </a:endParaRPr>
          </a:p>
        </p:txBody>
      </p:sp>
      <p:sp>
        <p:nvSpPr>
          <p:cNvPr id="138" name="TextBox 5"/>
          <p:cNvSpPr/>
          <p:nvPr/>
        </p:nvSpPr>
        <p:spPr>
          <a:xfrm>
            <a:off x="5877000" y="4150800"/>
            <a:ext cx="585612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Frameworks used:</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Python, scikit-learn, pandas, matplotlib</a:t>
            </a:r>
            <a:endParaRPr b="0" lang="en-IN" sz="1800" spc="-1" strike="noStrike">
              <a:latin typeface="Arial"/>
            </a:endParaRPr>
          </a:p>
        </p:txBody>
      </p:sp>
      <p:sp>
        <p:nvSpPr>
          <p:cNvPr id="139" name="TextBox 7"/>
          <p:cNvSpPr/>
          <p:nvPr/>
        </p:nvSpPr>
        <p:spPr>
          <a:xfrm>
            <a:off x="5877000" y="2067120"/>
            <a:ext cx="6093720" cy="2558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IN" sz="1800" spc="-1" strike="noStrike">
                <a:solidFill>
                  <a:srgbClr val="000000"/>
                </a:solidFill>
                <a:latin typeface="Bahnschrift Light SemiCondensed"/>
              </a:rPr>
              <a:t>Reason for Choosing Each Model:</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PCA: Unsupervised reduction to minimize features while retaining 95% of data variance.</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LDA: Supervised reduction to project data onto a lower-dimensional space that maximizes class separation.</a:t>
            </a:r>
            <a:endParaRPr b="0" lang="en-IN" sz="1800" spc="-1" strike="noStrike">
              <a:latin typeface="Arial"/>
            </a:endParaRPr>
          </a:p>
          <a:p>
            <a:pPr>
              <a:lnSpc>
                <a:spcPct val="100000"/>
              </a:lnSpc>
              <a:buNone/>
            </a:pPr>
            <a:r>
              <a:rPr b="0" lang="en-IN" sz="1800" spc="-1" strike="noStrike">
                <a:solidFill>
                  <a:srgbClr val="000000"/>
                </a:solidFill>
                <a:latin typeface="Bahnschrift Light SemiCondensed"/>
              </a:rPr>
              <a:t>Logistic Regression: Robust baseline classifier used to evaluate and select the most significant features.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1097280" y="286560"/>
            <a:ext cx="10058040" cy="1450440"/>
          </a:xfrm>
          <a:prstGeom prst="rect">
            <a:avLst/>
          </a:prstGeom>
          <a:noFill/>
          <a:ln w="0">
            <a:noFill/>
          </a:ln>
        </p:spPr>
        <p:txBody>
          <a:bodyPr anchor="b">
            <a:normAutofit/>
          </a:bodyPr>
          <a:p>
            <a:pPr>
              <a:lnSpc>
                <a:spcPct val="85000"/>
              </a:lnSpc>
              <a:buNone/>
            </a:pPr>
            <a:r>
              <a:rPr b="0" lang="en-US" sz="4800" spc="-52" strike="noStrike">
                <a:solidFill>
                  <a:srgbClr val="404040"/>
                </a:solidFill>
                <a:latin typeface="Bahnschrift"/>
              </a:rPr>
              <a:t>16. Result Analysis – Dataset 4</a:t>
            </a:r>
            <a:r>
              <a:rPr b="0" lang="en-IN" sz="4800" spc="-52" strike="noStrike">
                <a:solidFill>
                  <a:srgbClr val="404040"/>
                </a:solidFill>
                <a:latin typeface="Bahnschrift"/>
              </a:rPr>
              <a:t> (if classification)</a:t>
            </a:r>
            <a:endParaRPr b="0" lang="en-US" sz="4800" spc="-1" strike="noStrike">
              <a:solidFill>
                <a:srgbClr val="000000"/>
              </a:solidFill>
              <a:latin typeface="Bahnschrift Light SemiCondensed"/>
            </a:endParaRPr>
          </a:p>
        </p:txBody>
      </p:sp>
      <p:sp>
        <p:nvSpPr>
          <p:cNvPr id="141"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Confusion Matrix</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Accuracy, Precision, Recall, Specificity, F1</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ROC-AUC, PR-AUC</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IN" sz="2000" spc="-1" strike="noStrike">
                <a:solidFill>
                  <a:srgbClr val="404040"/>
                </a:solidFill>
                <a:latin typeface="Bahnschrift Light SemiCondensed"/>
              </a:rPr>
              <a:t>ROC, PR Curves</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Bahnschrift"/>
              </a:rPr>
              <a:t>17. Interpretation of Results</a:t>
            </a:r>
            <a:endParaRPr b="0" lang="en-US" sz="4800" spc="-1" strike="noStrike">
              <a:solidFill>
                <a:srgbClr val="000000"/>
              </a:solidFill>
              <a:latin typeface="Bahnschrift Light SemiCondensed"/>
            </a:endParaRPr>
          </a:p>
        </p:txBody>
      </p:sp>
      <p:sp>
        <p:nvSpPr>
          <p:cNvPr id="143" name="PlaceHolder 2"/>
          <p:cNvSpPr>
            <a:spLocks noGrp="1"/>
          </p:cNvSpPr>
          <p:nvPr>
            <p:ph/>
          </p:nvPr>
        </p:nvSpPr>
        <p:spPr>
          <a:xfrm>
            <a:off x="1097280" y="1845720"/>
            <a:ext cx="10058040" cy="4023000"/>
          </a:xfrm>
          <a:prstGeom prst="rect">
            <a:avLst/>
          </a:prstGeom>
          <a:noFill/>
          <a:ln w="0">
            <a:noFill/>
          </a:ln>
        </p:spPr>
        <p:txBody>
          <a:bodyPr lIns="0" rIns="0" anchor="t">
            <a:noAutofit/>
          </a:bodyPr>
          <a:p>
            <a:pPr>
              <a:lnSpc>
                <a:spcPct val="90000"/>
              </a:lnSpc>
              <a:spcBef>
                <a:spcPts val="1417"/>
              </a:spcBef>
              <a:buNone/>
            </a:pP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85000"/>
              </a:lnSpc>
              <a:buNone/>
            </a:pPr>
            <a:r>
              <a:rPr b="0" lang="en-IN" sz="4800" spc="-52" strike="noStrike">
                <a:solidFill>
                  <a:srgbClr val="404040"/>
                </a:solidFill>
                <a:latin typeface="Bahnschrift"/>
              </a:rPr>
              <a:t>18. Final Comparative Summary</a:t>
            </a:r>
            <a:endParaRPr b="0" lang="en-US" sz="4800" spc="-1" strike="noStrike">
              <a:solidFill>
                <a:srgbClr val="000000"/>
              </a:solidFill>
              <a:latin typeface="Bahnschrift Light SemiCondensed"/>
            </a:endParaRPr>
          </a:p>
        </p:txBody>
      </p:sp>
      <p:sp>
        <p:nvSpPr>
          <p:cNvPr id="145" name="PlaceHolder 2"/>
          <p:cNvSpPr>
            <a:spLocks noGrp="1"/>
          </p:cNvSpPr>
          <p:nvPr>
            <p:ph/>
          </p:nvPr>
        </p:nvSpPr>
        <p:spPr>
          <a:xfrm>
            <a:off x="1097280" y="1845720"/>
            <a:ext cx="10058040" cy="4023000"/>
          </a:xfrm>
          <a:prstGeom prst="rect">
            <a:avLst/>
          </a:prstGeom>
          <a:noFill/>
          <a:ln w="0">
            <a:noFill/>
          </a:ln>
        </p:spPr>
        <p:txBody>
          <a:bodyPr lIns="0" rIns="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Comparison of models</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Best-performing model</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Insights gained</a:t>
            </a:r>
            <a:endParaRPr b="0" lang="en-US" sz="2000" spc="-1" strike="noStrike">
              <a:solidFill>
                <a:srgbClr val="404040"/>
              </a:solidFill>
              <a:latin typeface="Bahnschrift Light SemiCondensed"/>
            </a:endParaRPr>
          </a:p>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Bahnschrift Light SemiCondensed"/>
              </a:rPr>
              <a:t>Future improvements</a:t>
            </a:r>
            <a:endParaRPr b="0" lang="en-US" sz="2000" spc="-1" strike="noStrike">
              <a:solidFill>
                <a:srgbClr val="404040"/>
              </a:solidFill>
              <a:latin typeface="Bahnschrift Light SemiCondensed"/>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1456</TotalTime>
  <Application>LibreOffice/7.3.7.2$Linux_X86_64 LibreOffice_project/30$Build-2</Application>
  <AppVersion>15.0000</AppVersion>
  <Words>1147</Words>
  <Paragraphs>123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2020-08-24T06:49:48Z</dcterms:created>
  <dc:creator>vinitha Panicker</dc:creator>
  <dc:description/>
  <dc:language>en-IN</dc:language>
  <cp:lastModifiedBy/>
  <dcterms:modified xsi:type="dcterms:W3CDTF">2025-11-27T22:46:16Z</dcterms:modified>
  <cp:revision>48</cp:revision>
  <dc:subject/>
  <dc:title>Research Paper Presentation on “DeepPap: deep convolutional networks for cervical cell classification”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19</vt:i4>
  </property>
</Properties>
</file>